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f6e2532746d430b" /><Relationship Type="http://schemas.openxmlformats.org/officeDocument/2006/relationships/extended-properties" Target="/docProps/app.xml" Id="Rda66d11f8b53445e" /><Relationship Type="http://schemas.openxmlformats.org/officeDocument/2006/relationships/officeDocument" Target="/ppt/presentation.xml" Id="R2846b93298354f66" /></Relationships>
</file>

<file path=ppt/presentation.xml><?xml version="1.0" encoding="utf-8"?>
<p:presentation xmlns:p="http://schemas.openxmlformats.org/presentationml/2006/main">
  <p:sldMasterIdLst>
    <p:sldMasterId xmlns:r="http://schemas.openxmlformats.org/officeDocument/2006/relationships" id="2147483648" r:id="R56ced9a720294e8b"/>
  </p:sldMasterIdLst>
  <p:notesMasterIdLst>
    <p:notesMasterId xmlns:r="http://schemas.openxmlformats.org/officeDocument/2006/relationships" r:id="Ref70a356ef0b4302"/>
  </p:notesMasterIdLst>
  <p:sldIdLst>
    <p:sldId xmlns:r="http://schemas.openxmlformats.org/officeDocument/2006/relationships" id="256" r:id="R06065cf14f5d4bc7"/>
    <p:sldId xmlns:r="http://schemas.openxmlformats.org/officeDocument/2006/relationships" id="257" r:id="R912b14e7b7b24e5c"/>
    <p:sldId xmlns:r="http://schemas.openxmlformats.org/officeDocument/2006/relationships" id="258" r:id="R41907a2dc4e04f13"/>
    <p:sldId xmlns:r="http://schemas.openxmlformats.org/officeDocument/2006/relationships" id="259" r:id="Rdacfb3e93cd449e7"/>
    <p:sldId xmlns:r="http://schemas.openxmlformats.org/officeDocument/2006/relationships" id="260" r:id="R9cc4cd004ce141aa"/>
    <p:sldId xmlns:r="http://schemas.openxmlformats.org/officeDocument/2006/relationships" id="261" r:id="R954ea23031404172"/>
    <p:sldId xmlns:r="http://schemas.openxmlformats.org/officeDocument/2006/relationships" id="262" r:id="R263adb5c32b044d9"/>
    <p:sldId xmlns:r="http://schemas.openxmlformats.org/officeDocument/2006/relationships" id="263" r:id="R884f19bc161d4bc6"/>
    <p:sldId xmlns:r="http://schemas.openxmlformats.org/officeDocument/2006/relationships" id="264" r:id="Rfa5cda14fc414c07"/>
    <p:sldId xmlns:r="http://schemas.openxmlformats.org/officeDocument/2006/relationships" id="265" r:id="Rd2ac1f7cbbac4ffe"/>
    <p:sldId xmlns:r="http://schemas.openxmlformats.org/officeDocument/2006/relationships" id="266" r:id="R0554d35634b848d8"/>
    <p:sldId xmlns:r="http://schemas.openxmlformats.org/officeDocument/2006/relationships" id="267" r:id="Rbbeebb493710491a"/>
    <p:sldId xmlns:r="http://schemas.openxmlformats.org/officeDocument/2006/relationships" id="268" r:id="R6298aaeb61594098"/>
    <p:sldId xmlns:r="http://schemas.openxmlformats.org/officeDocument/2006/relationships" id="269" r:id="R9e09db4cf2ea44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f1f380c2044e1f" /><Relationship Type="http://schemas.openxmlformats.org/officeDocument/2006/relationships/slideMaster" Target="/ppt/slideMasters/slideMaster1.xml" Id="R56ced9a720294e8b" /><Relationship Type="http://schemas.openxmlformats.org/officeDocument/2006/relationships/notesMaster" Target="/ppt/notesMasters/notesMaster1.xml" Id="Ref70a356ef0b4302" /><Relationship Type="http://schemas.openxmlformats.org/officeDocument/2006/relationships/presProps" Target="/ppt/presProps.xml" Id="R12985b91e4854f2d" /><Relationship Type="http://schemas.openxmlformats.org/officeDocument/2006/relationships/tableStyles" Target="/ppt/tableStyles.xml" Id="Rdacb6b85102141cb" /><Relationship Type="http://schemas.openxmlformats.org/officeDocument/2006/relationships/slide" Target="/ppt/slides/slide1.xml" Id="R06065cf14f5d4bc7" /><Relationship Type="http://schemas.openxmlformats.org/officeDocument/2006/relationships/slide" Target="/ppt/slides/slide2.xml" Id="R912b14e7b7b24e5c" /><Relationship Type="http://schemas.openxmlformats.org/officeDocument/2006/relationships/slide" Target="/ppt/slides/slide3.xml" Id="R41907a2dc4e04f13" /><Relationship Type="http://schemas.openxmlformats.org/officeDocument/2006/relationships/slide" Target="/ppt/slides/slide4.xml" Id="Rdacfb3e93cd449e7" /><Relationship Type="http://schemas.openxmlformats.org/officeDocument/2006/relationships/slide" Target="/ppt/slides/slide5.xml" Id="R9cc4cd004ce141aa" /><Relationship Type="http://schemas.openxmlformats.org/officeDocument/2006/relationships/slide" Target="/ppt/slides/slide6.xml" Id="R954ea23031404172" /><Relationship Type="http://schemas.openxmlformats.org/officeDocument/2006/relationships/slide" Target="/ppt/slides/slide7.xml" Id="R263adb5c32b044d9" /><Relationship Type="http://schemas.openxmlformats.org/officeDocument/2006/relationships/slide" Target="/ppt/slides/slide8.xml" Id="R884f19bc161d4bc6" /><Relationship Type="http://schemas.openxmlformats.org/officeDocument/2006/relationships/slide" Target="/ppt/slides/slide9.xml" Id="Rfa5cda14fc414c07" /><Relationship Type="http://schemas.openxmlformats.org/officeDocument/2006/relationships/slide" Target="/ppt/slides/slide10.xml" Id="Rd2ac1f7cbbac4ffe" /><Relationship Type="http://schemas.openxmlformats.org/officeDocument/2006/relationships/slide" Target="/ppt/slides/slide11.xml" Id="R0554d35634b848d8" /><Relationship Type="http://schemas.openxmlformats.org/officeDocument/2006/relationships/slide" Target="/ppt/slides/slide12.xml" Id="Rbbeebb493710491a" /><Relationship Type="http://schemas.openxmlformats.org/officeDocument/2006/relationships/slide" Target="/ppt/slides/slide13.xml" Id="R6298aaeb61594098" /><Relationship Type="http://schemas.openxmlformats.org/officeDocument/2006/relationships/slide" Target="/ppt/slides/slide14.xml" Id="R9e09db4cf2ea44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832ea44ed047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jarmak.ai paper and orange">
      <a:dk1>
        <a:srgbClr val="241B13"/>
      </a:dk1>
      <a:lt1>
        <a:srgbClr val="F7F3EB"/>
      </a:lt1>
      <a:dk2>
        <a:srgbClr val="4A4039"/>
      </a:dk2>
      <a:lt2>
        <a:srgbClr val="FDFAF4"/>
      </a:lt2>
      <a:accent1>
        <a:srgbClr val="C75E00"/>
      </a:accent1>
      <a:accent2>
        <a:srgbClr val="4A4039"/>
      </a:accent2>
      <a:accent3>
        <a:srgbClr val="657B67"/>
      </a:accent3>
      <a:accent4>
        <a:srgbClr val="766D62"/>
      </a:accent4>
      <a:accent5>
        <a:srgbClr val="EBE6DC"/>
      </a:accent5>
      <a:accent6>
        <a:srgbClr val="DDD7CC"/>
      </a:accent6>
      <a:hlink>
        <a:srgbClr val="C75E00"/>
      </a:hlink>
      <a:folHlink>
        <a:srgbClr val="C75E00"/>
      </a:folHlink>
    </a:clrScheme>
    <a:fontScheme name="">
      <a:majorFont>
        <a:latin typeface="Hanken Grotesk"/>
        <a:ea typeface=""/>
        <a:cs typeface=""/>
      </a:majorFont>
      <a:minorFont>
        <a:latin typeface="Hanken Grotesk"/>
        <a:ea typeface=""/>
        <a:cs typeface=""/>
      </a:minorFont>
    </a:fontScheme>
    <a:fmtScheme name="sjarmak.ai paper and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a3b5e997d443f1" /><Relationship Type="http://schemas.openxmlformats.org/officeDocument/2006/relationships/notesMaster" Target="/ppt/notesMasters/notesMaster1.xml" Id="R55d50381ebe44d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95e3ea7ace4637" /><Relationship Type="http://schemas.openxmlformats.org/officeDocument/2006/relationships/notesMaster" Target="/ppt/notesMasters/notesMaster1.xml" Id="Rf26e3088fa734c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8e509243d14c5a" /><Relationship Type="http://schemas.openxmlformats.org/officeDocument/2006/relationships/notesMaster" Target="/ppt/notesMasters/notesMaster1.xml" Id="R38fdaa9ddcb042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82692eae824bb6" /><Relationship Type="http://schemas.openxmlformats.org/officeDocument/2006/relationships/notesMaster" Target="/ppt/notesMasters/notesMaster1.xml" Id="Ref1d5dfe61d84f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3f01fd08fd4c71" /><Relationship Type="http://schemas.openxmlformats.org/officeDocument/2006/relationships/notesMaster" Target="/ppt/notesMasters/notesMaster1.xml" Id="R49cb7954ec424d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22c7fd4ba94bfe" /><Relationship Type="http://schemas.openxmlformats.org/officeDocument/2006/relationships/notesMaster" Target="/ppt/notesMasters/notesMaster1.xml" Id="Rb1ddaf2c03634d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ab71f80df745cb" /><Relationship Type="http://schemas.openxmlformats.org/officeDocument/2006/relationships/notesMaster" Target="/ppt/notesMasters/notesMaster1.xml" Id="R01328befe88443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cd3fd105b040d5" /><Relationship Type="http://schemas.openxmlformats.org/officeDocument/2006/relationships/notesMaster" Target="/ppt/notesMasters/notesMaster1.xml" Id="R813eba7107d84e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bbd43ba196475e" /><Relationship Type="http://schemas.openxmlformats.org/officeDocument/2006/relationships/notesMaster" Target="/ppt/notesMasters/notesMaster1.xml" Id="R909608cb423644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f6d2a6169b4518" /><Relationship Type="http://schemas.openxmlformats.org/officeDocument/2006/relationships/notesMaster" Target="/ppt/notesMasters/notesMaster1.xml" Id="R87435faee7ef49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c1288ddbbd4767" /><Relationship Type="http://schemas.openxmlformats.org/officeDocument/2006/relationships/notesMaster" Target="/ppt/notesMasters/notesMaster1.xml" Id="R11062417db9842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caaa0c8ac14ea1" /><Relationship Type="http://schemas.openxmlformats.org/officeDocument/2006/relationships/notesMaster" Target="/ppt/notesMasters/notesMaster1.xml" Id="R200b255ae46546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746585d32e41a8" /><Relationship Type="http://schemas.openxmlformats.org/officeDocument/2006/relationships/notesMaster" Target="/ppt/notesMasters/notesMaster1.xml" Id="Rcb3c71c4cc2c4f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d4572747c34f3d" /><Relationship Type="http://schemas.openxmlformats.org/officeDocument/2006/relationships/notesMaster" Target="/ppt/notesMasters/notesMaster1.xml" Id="Ree225d052be24c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Lies, Damned Lies, and Evals</a:t>
            </a:r>
          </a:p>
          <a:p xmlns:a="http://schemas.openxmlformats.org/drawingml/2006/main">
            <a:r>
              <a:t>Before 0:00 · title hold</a:t>
            </a:r>
          </a:p>
          <a:p xmlns:a="http://schemas.openxmlformats.org/drawingml/2006/main">
            <a:r>
              <a:t/>
            </a:r>
          </a:p>
          <a:p xmlns:a="http://schemas.openxmlformats.org/drawingml/2006/main">
            <a:r>
              <a:t>SPOKEN SCRIPT</a:t>
            </a:r>
          </a:p>
          <a:p xmlns:a="http://schemas.openxmlformats.org/drawingml/2006/main">
            <a:r>
              <a:t/>
            </a:r>
          </a:p>
          <a:p xmlns:a="http://schemas.openxmlformats.org/drawingml/2006/main">
            <a:r>
              <a:t/>
            </a:r>
          </a:p>
          <a:p xmlns:a="http://schemas.openxmlformats.org/drawingml/2006/main">
            <a:r>
              <a:t>PRESENTER REFERENCE</a:t>
            </a:r>
          </a:p>
          <a:p xmlns:a="http://schemas.openxmlformats.org/drawingml/2006/main">
            <a:r>
              <a:t>Official title and speaker/event metadata supplied for this talk. Hold the title for the opening choice question from slide 2’s script, then advance at “That’s from my own work.” No separate spoken introduction is added.</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DELIVERY GUIDANCE</a:t>
            </a:r>
          </a:p>
          <a:p xmlns:a="http://schemas.openxmlformats.org/drawingml/2006/main">
            <a:r>
              <a:t>17:00 speaking target for the 12 body scripts, including diagram pauses; 18:00 hard cutoff with no Q&amp;A. Title slide 1 stays visible for the opening choice question from slide 2’s script; advance to slide 2 at “That’s from my own work.” Resources slide 14 is held after the final sentence. These holds add no words or speaking time. The revised slide windows are rehearsal budgets, not measured durations. Rehearse aloud at the speaker’s natural pace; use the slide 7 cut if rehearsal exceeds 17 minutes.</a:t>
            </a:r>
          </a:p>
          <a:p xmlns:a="http://schemas.openxmlformats.org/drawingml/2006/main">
            <a:r>
              <a:t>Start the clock at 0:00 and ask the opening choice question while title slide 1 remains visible; advance to slide 2 at “That’s from my own work.”</a:t>
            </a:r>
          </a:p>
          <a:p xmlns:a="http://schemas.openxmlformats.org/drawingml/2006/main">
            <a:r>
              <a:t>Begin the benchmark/internal-evaluation slide near 2:05.</a:t>
            </a:r>
          </a:p>
          <a:p xmlns:a="http://schemas.openxmlformats.org/drawingml/2006/main">
            <a:r>
              <a:t>Begin experimental design near 3:20; allow two minutes for decision thresholds, uncertainty and confirmation cases.</a:t>
            </a:r>
          </a:p>
          <a:p xmlns:a="http://schemas.openxmlformats.org/drawingml/2006/main">
            <a:r>
              <a:t>Begin trace diagnosis (slide 6) near 5:20.</a:t>
            </a:r>
          </a:p>
          <a:p xmlns:a="http://schemas.openxmlformats.org/drawingml/2006/main">
            <a:r>
              <a:t>Begin the CodeProbe scoring-rule build (slide 8) near 8:00.</a:t>
            </a:r>
          </a:p>
          <a:p xmlns:a="http://schemas.openxmlformats.org/drawingml/2006/main">
            <a:r>
              <a:t>Begin the own gate-audit section (slide 9) near 9:15.</a:t>
            </a:r>
          </a:p>
          <a:p xmlns:a="http://schemas.openxmlformats.org/drawingml/2006/main">
            <a:r>
              <a:t>Begin independent observers (slide 11) near 12:35.</a:t>
            </a:r>
          </a:p>
          <a:p xmlns:a="http://schemas.openxmlformats.org/drawingml/2006/main">
            <a:r>
              <a:t>Begin the retrieval-upgrade/review design (slide 12) near 14:05.</a:t>
            </a:r>
          </a:p>
          <a:p xmlns:a="http://schemas.openxmlformats.org/drawingml/2006/main">
            <a:r>
              <a:t>Reach the closing action-decision record near 15:50 and finish near 17:00.</a:t>
            </a:r>
          </a:p>
          <a:p xmlns:a="http://schemas.openxmlformats.org/drawingml/2006/main">
            <a:r>
              <a:t>After the final sentence on slide 13, advance to resource slide 14 and hold without adding speech.</a:t>
            </a:r>
          </a:p>
          <a:p xmlns:a="http://schemas.openxmlformats.org/drawingml/2006/main">
            <a:r>
              <a:t/>
            </a:r>
          </a:p>
          <a:p xmlns:a="http://schemas.openxmlformats.org/drawingml/2006/main">
            <a:r>
              <a:t>DELIVERY CUE</a:t>
            </a:r>
          </a:p>
          <a:p xmlns:a="http://schemas.openxmlformats.org/drawingml/2006/main">
            <a:r>
              <a:t>Hold the title during the introduction. At 0:00, start the clock and ask the opening choice question from the first paragraph of slide 2’s script while the title remains visible. Pause briefly, then advance to slide 2 at “That’s from my own work.” This uses the existing script; add no separate spoken preface.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Lower cost. The retrieval failure remained.</a:t>
            </a:r>
          </a:p>
          <a:p xmlns:a="http://schemas.openxmlformats.org/drawingml/2006/main">
            <a:r>
              <a:t>0:00–1:00</a:t>
            </a:r>
          </a:p>
          <a:p xmlns:a="http://schemas.openxmlformats.org/drawingml/2006/main">
            <a:r>
              <a:t/>
            </a:r>
          </a:p>
          <a:p xmlns:a="http://schemas.openxmlformats.org/drawingml/2006/main">
            <a:r>
              <a:t>SPOKEN SCRIPT</a:t>
            </a:r>
          </a:p>
          <a:p xmlns:a="http://schemas.openxmlformats.org/drawingml/2006/main">
            <a:r>
              <a:t>Suppose you’re choosing between the current agent and a version that costs twenty-eight percent less. Would you switch? What else would you need to know?</a:t>
            </a:r>
          </a:p>
          <a:p xmlns:a="http://schemas.openxmlformats.org/drawingml/2006/main">
            <a:r>
              <a:t/>
            </a:r>
          </a:p>
          <a:p xmlns:a="http://schemas.openxmlformats.org/drawingml/2006/main">
            <a:r>
              <a:t>That’s from my own work. I changed a coding agent’s opening instructions to fix a search failure. Cost fell on the affected task family. But the primary evaluation score showed no clear improvement, and it took about four percent longer. The search still missed relevant evidence; the agent trusted the empty result.</a:t>
            </a:r>
          </a:p>
          <a:p xmlns:a="http://schemas.openxmlformats.org/drawingml/2006/main">
            <a:r>
              <a:t/>
            </a:r>
          </a:p>
          <a:p xmlns:a="http://schemas.openxmlformats.org/drawingml/2006/main">
            <a:r>
              <a:t>My two questions: Is the lower cost worth keeping, if quality meets the requirement? And how would we find out what actually fixes the failure?</a:t>
            </a:r>
          </a:p>
          <a:p xmlns:a="http://schemas.openxmlformats.org/drawingml/2006/main">
            <a:r>
              <a:t/>
            </a:r>
          </a:p>
          <a:p xmlns:a="http://schemas.openxmlformats.org/drawingml/2006/main">
            <a:r>
              <a:t>PRESENTER REFERENCE</a:t>
            </a:r>
          </a:p>
          <a:p xmlns:a="http://schemas.openxmlformats.org/drawingml/2006/main">
            <a:r>
              <a:t>Author-reported preamble intervention intended to address a known retrieval failure. On the affected task family, observed cost reduction 28%; primary reward difference +0.0048, t = 0.27; elapsed-time change +3.9%. The predicted wall-time reduction was 40%, but that prediction is not narrated. The result provides little evidence of a primary-reward improvement; it does not establish equivalent quality or noninferiority. The agent continued to accept a false-negative retrieval result as authoritative. No repository, task identity, sample size, baseline reward or confidence interval is invented. The cost-saving and failure-repair questions are a proposed interpretation of these observations, not a claim that the change was deployed or its quality cleared a release bar.</a:t>
            </a:r>
          </a:p>
          <a:p xmlns:a="http://schemas.openxmlformats.org/drawingml/2006/main">
            <a:r>
              <a:t/>
            </a:r>
          </a:p>
          <a:p xmlns:a="http://schemas.openxmlformats.org/drawingml/2006/main">
            <a:r>
              <a:t>SOURCES</a:t>
            </a:r>
          </a:p>
          <a:p xmlns:a="http://schemas.openxmlformats.org/drawingml/2006/main">
            <a:r>
              <a:t>Engineering Reliable Coding Agents, chapter 18</a:t>
            </a:r>
          </a:p>
          <a:p xmlns:a="http://schemas.openxmlformats.org/drawingml/2006/main">
            <a:r>
              <a:t>https://www.sjarmak.ai/books/engineering-reliable-coding-agents/agent-topology-dynamic-task-allocation</a:t>
            </a:r>
          </a:p>
          <a:p xmlns:a="http://schemas.openxmlformats.org/drawingml/2006/main">
            <a:r>
              <a:t/>
            </a:r>
          </a:p>
          <a:p xmlns:a="http://schemas.openxmlformats.org/drawingml/2006/main">
            <a:r>
              <a:t>DELIVERY CUE</a:t>
            </a:r>
          </a:p>
          <a:p xmlns:a="http://schemas.openxmlformats.org/drawingml/2006/main">
            <a:r>
              <a:t>Speak this page’s first paragraph while title slide 1 remains visible. Pause for the audience’s provisional choice, then advance here at “That’s from my own work.” Reveal the unresolved quality, latency and search evidence. Keep the cost reduction scoped to the affected task family; acceptable quality has not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The ranking changes with the harness</a:t>
            </a:r>
          </a:p>
          <a:p xmlns:a="http://schemas.openxmlformats.org/drawingml/2006/main">
            <a:r>
              <a:t>1:00–2:05</a:t>
            </a:r>
          </a:p>
          <a:p xmlns:a="http://schemas.openxmlformats.org/drawingml/2006/main">
            <a:r>
              <a:t/>
            </a:r>
          </a:p>
          <a:p xmlns:a="http://schemas.openxmlformats.org/drawingml/2006/main">
            <a:r>
              <a:t>SPOKEN SCRIPT</a:t>
            </a:r>
          </a:p>
          <a:p xmlns:a="http://schemas.openxmlformats.org/drawingml/2006/main">
            <a:r>
              <a:t>Say you’re choosing a model. Here are two models on the same sixty-three terminal tasks, using two agent harnesses: OpenHands and PI. A harness is the software around the model that manages context, tools, recovery and budget.</a:t>
            </a:r>
          </a:p>
          <a:p xmlns:a="http://schemas.openxmlformats.org/drawingml/2006/main">
            <a:r>
              <a:t/>
            </a:r>
          </a:p>
          <a:p xmlns:a="http://schemas.openxmlformats.org/drawingml/2006/main">
            <a:r>
              <a:t>With OpenHands, Claude Opus 5 solved thirty-six and GPT-6 Astra solved thirty-one. With PI, Claude solved nineteen and GPT solved thirty-eight. That’s one scored run per task for each configuration.</a:t>
            </a:r>
          </a:p>
          <a:p xmlns:a="http://schemas.openxmlformats.org/drawingml/2006/main">
            <a:r>
              <a:t/>
            </a:r>
          </a:p>
          <a:p xmlns:a="http://schemas.openxmlformats.org/drawingml/2006/main">
            <a:r>
              <a:t>The ranking flipped. The observed gap between models differed by thirty-eight percentage points across harnesses.</a:t>
            </a:r>
          </a:p>
          <a:p xmlns:a="http://schemas.openxmlformats.org/drawingml/2006/main">
            <a:r>
              <a:t/>
            </a:r>
          </a:p>
          <a:p xmlns:a="http://schemas.openxmlformats.org/drawingml/2006/main">
            <a:r>
              <a:t>For a deployment decision, the pairing matters. For a claim about which model is generally better, it adds uncertainty.</a:t>
            </a:r>
          </a:p>
          <a:p xmlns:a="http://schemas.openxmlformats.org/drawingml/2006/main">
            <a:r>
              <a:t/>
            </a:r>
          </a:p>
          <a:p xmlns:a="http://schemas.openxmlformats.org/drawingml/2006/main">
            <a:r>
              <a:t>So test the combinations you might actually deploy. These results describe the tested configurations. They don’t give us a ranking that carries over to every harness.</a:t>
            </a:r>
          </a:p>
          <a:p xmlns:a="http://schemas.openxmlformats.org/drawingml/2006/main">
            <a:r>
              <a:t/>
            </a:r>
          </a:p>
          <a:p xmlns:a="http://schemas.openxmlformats.org/drawingml/2006/main">
            <a:r>
              <a:t>PRESENTER REFERENCE</a:t>
            </a:r>
          </a:p>
          <a:p xmlns:a="http://schemas.openxmlformats.org/drawingml/2006/main">
            <a:r>
              <a:t>Finding the Right Fit evaluated 66 configurations overall. These four Terminal-Bench 4 cells share a 63-task non-H100 subset and task IDs. One last scored run per task after infrastructure retries, not repeated trials estimating stability. Model gap: OpenHands 36/63−31/63 = +7.9365 pp; PI 19/63−38/63 = −30.1587 pp; difference in observed gaps = 38.0952 pp. This is an interaction in observed outcomes, not a randomized component ablation or established universal ranking. The mechanism discussion identifies what harnesses control; trace evidence alone does not establish which mechanism caused the crossover. Agent Evaluation Reliability uses Bayesian latent-logit variance decomposition; fixed-system versus scaffold-averaged-model estimands assign interaction variance differently. Its numerical reliability ranges refer to nine HAL benchmarks, not all 22 combined benchmarks; no range is narrated here. Reliable ranking is distinct from construct validity and absolute deployment-threshold reliability.</a:t>
            </a:r>
          </a:p>
          <a:p xmlns:a="http://schemas.openxmlformats.org/drawingml/2006/main">
            <a:r>
              <a:t/>
            </a:r>
          </a:p>
          <a:p xmlns:a="http://schemas.openxmlformats.org/drawingml/2006/main">
            <a:r>
              <a:t>SOURCES</a:t>
            </a:r>
          </a:p>
          <a:p xmlns:a="http://schemas.openxmlformats.org/drawingml/2006/main">
            <a:r>
              <a:t>Finding the Right Fit, §§3–4</a:t>
            </a:r>
          </a:p>
          <a:p xmlns:a="http://schemas.openxmlformats.org/drawingml/2006/main">
            <a:r>
              <a:t>https://arxiv.org/html/2610.00917</a:t>
            </a:r>
          </a:p>
          <a:p xmlns:a="http://schemas.openxmlformats.org/drawingml/2006/main">
            <a:r>
              <a:t/>
            </a:r>
          </a:p>
          <a:p xmlns:a="http://schemas.openxmlformats.org/drawingml/2006/main">
            <a:r>
              <a:t>Agent Evaluation Reliability, §§4–5</a:t>
            </a:r>
          </a:p>
          <a:p xmlns:a="http://schemas.openxmlformats.org/drawingml/2006/main">
            <a:r>
              <a:t>https://arxiv.org/html/2610.00651</a:t>
            </a:r>
          </a:p>
          <a:p xmlns:a="http://schemas.openxmlformats.org/drawingml/2006/main">
            <a:r>
              <a:t/>
            </a:r>
          </a:p>
          <a:p xmlns:a="http://schemas.openxmlformats.org/drawingml/2006/main">
            <a:r>
              <a:t>DELIVERY CUE</a:t>
            </a:r>
          </a:p>
          <a:p xmlns:a="http://schemas.openxmlformats.org/drawingml/2006/main">
            <a:r>
              <a:t>Give each harness result room to land. Describe the observed reversal without implying a universal ranking or a randomized estimate. One scored run per task is a real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Public benchmarks and internal evaluation</a:t>
            </a:r>
          </a:p>
          <a:p xmlns:a="http://schemas.openxmlformats.org/drawingml/2006/main">
            <a:r>
              <a:t>2:05–3:20</a:t>
            </a:r>
          </a:p>
          <a:p xmlns:a="http://schemas.openxmlformats.org/drawingml/2006/main">
            <a:r>
              <a:t/>
            </a:r>
          </a:p>
          <a:p xmlns:a="http://schemas.openxmlformats.org/drawingml/2006/main">
            <a:r>
              <a:t>SPOKEN SCRIPT</a:t>
            </a:r>
          </a:p>
          <a:p xmlns:a="http://schemas.openxmlformats.org/drawingml/2006/main">
            <a:r>
              <a:t>A benchmark gives us a standardized reference for comparison. Evaluation is the broader work of gathering evidence for a decision.</a:t>
            </a:r>
          </a:p>
          <a:p xmlns:a="http://schemas.openxmlformats.org/drawingml/2006/main">
            <a:r>
              <a:t/>
            </a:r>
          </a:p>
          <a:p xmlns:a="http://schemas.openxmlformats.org/drawingml/2006/main">
            <a:r>
              <a:t>Public benchmarks help us understand the landscape and make a shortlist. Keep the tested tasks and protocol in mind when you read the result.</a:t>
            </a:r>
          </a:p>
          <a:p xmlns:a="http://schemas.openxmlformats.org/drawingml/2006/main">
            <a:r>
              <a:t/>
            </a:r>
          </a:p>
          <a:p xmlns:a="http://schemas.openxmlformats.org/drawingml/2006/main">
            <a:r>
              <a:t>Internally, we’re asking: does this change improve our product or process? Compare it with what we run today, on representative work. Look at output quality, consistency across runs, and total cost. Track the time people spend checking, clarifying, intervening and fixing output, too. Show that separately so we can judge the workload. Use the failures to make a change, then test it against the baseline again.</a:t>
            </a:r>
          </a:p>
          <a:p xmlns:a="http://schemas.openxmlformats.org/drawingml/2006/main">
            <a:r>
              <a:t/>
            </a:r>
          </a:p>
          <a:p xmlns:a="http://schemas.openxmlformats.org/drawingml/2006/main">
            <a:r>
              <a:t>Explain the value: what got better, by how much, for whom, at what cost, and how sure are we?</a:t>
            </a:r>
          </a:p>
          <a:p xmlns:a="http://schemas.openxmlformats.org/drawingml/2006/main">
            <a:r>
              <a:t/>
            </a:r>
          </a:p>
          <a:p xmlns:a="http://schemas.openxmlformats.org/drawingml/2006/main">
            <a:r>
              <a:t>These categories overlap. You can have an internal benchmark, or use a public benchmark in an internal evaluation. The public result gives us a reason to try something. Internal evidence tells us whether it helps here.</a:t>
            </a:r>
          </a:p>
          <a:p xmlns:a="http://schemas.openxmlformats.org/drawingml/2006/main">
            <a:r>
              <a:t/>
            </a:r>
          </a:p>
          <a:p xmlns:a="http://schemas.openxmlformats.org/drawingml/2006/main">
            <a:r>
              <a:t>PRESENTER REFERENCE</a:t>
            </a:r>
          </a:p>
          <a:p xmlns:a="http://schemas.openxmlformats.org/drawingml/2006/main">
            <a:r>
              <a:t>Conceptual definitions and proposed enterprise framing, not an empirical taxonomy. A benchmark is a standardized comparison reference with a defined workload, protocol and scoring procedure; evaluation is the broader activity of collecting evidence for an improvement or decision. Public/private describes visibility and access, not mutually exclusive purposes: organizations can maintain internal benchmarks, and public benchmarks can be included in internal evaluations. Public results support landscape and shortlist decisions within their evaluated protocol and workload. Internal representative evaluation can support product/process improvement and communicate baseline-relative value, provided its observation, sampling and uncertainty are appropriate. Total cost includes human review/repair and failed attempts, not only successful model calls. Repeated adaptation to an internal benchmark can also overfit; the fresh-confirmation control on the next slide still applies. Human effort includes checking outputs, clarifying requirements, intervening during execution and repairing results. Report its time or workload separately to show capacity demands, even when monetized labor is also included in total cost; avoid double-counting that labor.</a:t>
            </a:r>
          </a:p>
          <a:p xmlns:a="http://schemas.openxmlformats.org/drawingml/2006/main">
            <a:r>
              <a:t/>
            </a:r>
          </a:p>
          <a:p xmlns:a="http://schemas.openxmlformats.org/drawingml/2006/main">
            <a:r>
              <a:t>SOURCES</a:t>
            </a:r>
          </a:p>
          <a:p xmlns:a="http://schemas.openxmlformats.org/drawingml/2006/main">
            <a:r>
              <a:t>Engineering Reliable Coding Agents, chapter 2</a:t>
            </a:r>
          </a:p>
          <a:p xmlns:a="http://schemas.openxmlformats.org/drawingml/2006/main">
            <a:r>
              <a:t>https://www.sjarmak.ai/books/engineering-reliable-coding-agents/baselines-ablations-cost-accuracy</a:t>
            </a:r>
          </a:p>
          <a:p xmlns:a="http://schemas.openxmlformats.org/drawingml/2006/main">
            <a:r>
              <a:t/>
            </a:r>
          </a:p>
          <a:p xmlns:a="http://schemas.openxmlformats.org/drawingml/2006/main">
            <a:r>
              <a:t>Engineering Reliable Coding Agents, chapter 3</a:t>
            </a:r>
          </a:p>
          <a:p xmlns:a="http://schemas.openxmlformats.org/drawingml/2006/main">
            <a:r>
              <a:t>https://www.sjarmak.ai/books/engineering-reliable-coding-agents/contamination-oracle-workload-validity</a:t>
            </a:r>
          </a:p>
          <a:p xmlns:a="http://schemas.openxmlformats.org/drawingml/2006/main">
            <a:r>
              <a:t/>
            </a:r>
          </a:p>
          <a:p xmlns:a="http://schemas.openxmlformats.org/drawingml/2006/main">
            <a:r>
              <a:t>Rethinking Coding Agent Benchmarks</a:t>
            </a:r>
          </a:p>
          <a:p xmlns:a="http://schemas.openxmlformats.org/drawingml/2006/main">
            <a:r>
              <a:t>https://medium.com/@steph.jarmak/rethinking-coding-agent-benchmarks-5cde3c696e4a</a:t>
            </a:r>
          </a:p>
          <a:p xmlns:a="http://schemas.openxmlformats.org/drawingml/2006/main">
            <a:r>
              <a:t/>
            </a:r>
          </a:p>
          <a:p xmlns:a="http://schemas.openxmlformats.org/drawingml/2006/main">
            <a:r>
              <a:t>DELIVERY CUE</a:t>
            </a:r>
          </a:p>
          <a:p xmlns:a="http://schemas.openxmlformats.org/drawingml/2006/main">
            <a:r>
              <a:t>Keep this practical: shortlist, test on your work, explain the value. Name checking, clarification, intervention and repair as people’s work, and report their time separately from total cost. Public and internal are not exclusive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Design the experiment around the decision</a:t>
            </a:r>
          </a:p>
          <a:p xmlns:a="http://schemas.openxmlformats.org/drawingml/2006/main">
            <a:r>
              <a:t>3:20–5:20</a:t>
            </a:r>
          </a:p>
          <a:p xmlns:a="http://schemas.openxmlformats.org/drawingml/2006/main">
            <a:r>
              <a:t/>
            </a:r>
          </a:p>
          <a:p xmlns:a="http://schemas.openxmlformats.org/drawingml/2006/main">
            <a:r>
              <a:t>SPOKEN SCRIPT</a:t>
            </a:r>
          </a:p>
          <a:p xmlns:a="http://schemas.openxmlformats.org/drawingml/2006/main">
            <a:r>
              <a:t>First, which uncertainty are we trying to reduce?</a:t>
            </a:r>
          </a:p>
          <a:p xmlns:a="http://schemas.openxmlformats.org/drawingml/2006/main">
            <a:r>
              <a:t/>
            </a:r>
          </a:p>
          <a:p xmlns:a="http://schemas.openxmlformats.org/drawingml/2006/main">
            <a:r>
              <a:t>More tasks cover more work. Repeating a task shows how much execution varies. More model and harness combinations test whether the pairing changes the result.</a:t>
            </a:r>
          </a:p>
          <a:p xmlns:a="http://schemas.openxmlformats.org/drawingml/2006/main">
            <a:r>
              <a:t/>
            </a:r>
          </a:p>
          <a:p xmlns:a="http://schemas.openxmlformats.org/drawingml/2006/main">
            <a:r>
              <a:t>Give both configurations the same task and runnable starting state. Keep the repository snapshot, tools, budgets and evaluator version fixed.</a:t>
            </a:r>
          </a:p>
          <a:p xmlns:a="http://schemas.openxmlformats.org/drawingml/2006/main">
            <a:r>
              <a:t/>
            </a:r>
          </a:p>
          <a:p xmlns:a="http://schemas.openxmlformats.org/drawingml/2006/main">
            <a:r>
              <a:t>Before seeing results, decide what benefit would justify switching, after running costs, people’s work and migration. Express it as a measurable requirement. Otherwise, it’s easy to lower the bar to fit the result.</a:t>
            </a:r>
          </a:p>
          <a:p xmlns:a="http://schemas.openxmlformats.org/drawingml/2006/main">
            <a:r>
              <a:t/>
            </a:r>
          </a:p>
          <a:p xmlns:a="http://schemas.openxmlformats.org/drawingml/2006/main">
            <a:r>
              <a:t>Keep task families visible: an average can hide a regression. Tasks sharing a repository can share build tools and conventions, so one change might help many for the same reason. Group related tasks when estimating uncertainty rather than treating every win as independent evidence.</a:t>
            </a:r>
          </a:p>
          <a:p xmlns:a="http://schemas.openxmlformats.org/drawingml/2006/main">
            <a:r>
              <a:t/>
            </a:r>
          </a:p>
          <a:p xmlns:a="http://schemas.openxmlformats.org/drawingml/2006/main">
            <a:r>
              <a:t>Report the difference with a confidence interval, accounting for those groups and repeated runs. If the range still allows outcomes that would change your decision, the question is unresolved. For a cheaper system, check whether it rules out an unacceptable quality loss. A narrow interval can still describe the wrong workload or a biased test.</a:t>
            </a:r>
          </a:p>
          <a:p xmlns:a="http://schemas.openxmlformats.org/drawingml/2006/main">
            <a:r>
              <a:t/>
            </a:r>
          </a:p>
          <a:p xmlns:a="http://schemas.openxmlformats.org/drawingml/2006/main">
            <a:r>
              <a:t>Keep cases you haven’t used during development for confirmation. Tuning on the same cases can improve those scores without improving new work. Rephrase a question without changing what a correct answer requires, and see whether performance changes. That doesn’t replace unused cases.</a:t>
            </a:r>
          </a:p>
          <a:p xmlns:a="http://schemas.openxmlformats.org/drawingml/2006/main">
            <a:r>
              <a:t/>
            </a:r>
          </a:p>
          <a:p xmlns:a="http://schemas.openxmlformats.org/drawingml/2006/main">
            <a:r>
              <a:t>Count failed attempts, retries, latency and people’s time. Cost per accepted result is useful only if you’ve validated what counts as accepted.</a:t>
            </a:r>
          </a:p>
          <a:p xmlns:a="http://schemas.openxmlformats.org/drawingml/2006/main">
            <a:r>
              <a:t/>
            </a:r>
          </a:p>
          <a:p xmlns:a="http://schemas.openxmlformats.org/drawingml/2006/main">
            <a:r>
              <a:t>Even a stable ranking doesn’t tell us whether either system is reliable enough.</a:t>
            </a:r>
          </a:p>
          <a:p xmlns:a="http://schemas.openxmlformats.org/drawingml/2006/main">
            <a:r>
              <a:t/>
            </a:r>
          </a:p>
          <a:p xmlns:a="http://schemas.openxmlformats.org/drawingml/2006/main">
            <a:r>
              <a:t>PRESENTER REFERENCE</a:t>
            </a:r>
          </a:p>
          <a:p xmlns:a="http://schemas.openxmlformats.org/drawingml/2006/main">
            <a:r>
              <a:t>Methodological synthesis, not a measured experiment or a universally sufficient protocol. Repeats must not be treated as independent task draws. Paired task labels are insufficient if one arm starts from transformed code. Cluster-aware uncertainty is needed when tasks share repositories/families; report the estimand and resampling unit. Threshold reliability can differ from relative-rank reliability. Author benchmark gates separate infrastructure-invalid measurements from capability evaluation; maintain a parallel operational denominator including user-experienced failures rather than deleting outages from reliability. Cost frontier should use comparable price/cache settings and include failures, retry policy, adjudication, queue latency and human effort where measurable. Primary paper cost/task values are intentionally not repurposed as production cost per accepted outcome. A non-significant quality difference does not establish equivalence or noninferiority. Adaptive benchmark selection is supported by the book’s exposure/iteration-holdout discussion and by REUSE. REUSE formalizes within-round selection, repeated tests and adaptive dependence. Its guarantee assumes an initially independent i.i.d. evaluation set and only promotion-decision feedback to the proposer; it does not cover arbitrary access to per-item traces or score feedback. Fresh confirmation and meaning-preserving challenge variants are proposed evaluation controls, not a claim that REUSE validates every deployment protocol. Diogo Almeida’s essay is critical commentary on public-score selection, not an experiment; its empirical allegations are not repeated here. For the confidence interval, prespecify the estimand, confidence level, interval method and practically relevant quality margin. Preserve baseline/candidate pairing and account for repeats and related task or repository groups using appropriate independent sampling units or a justified model. For a cost-saving choice, compare the appropriate quality-difference bound with the acceptable-loss margin; a nonsignificant difference is insufficient. An interval crossing the decision boundary leaves the specified evidential question unresolved. Interval precision does not remove workload mismatch, adaptive-selection bias, evaluator error or model misspecification.</a:t>
            </a:r>
          </a:p>
          <a:p xmlns:a="http://schemas.openxmlformats.org/drawingml/2006/main">
            <a:r>
              <a:t/>
            </a:r>
          </a:p>
          <a:p xmlns:a="http://schemas.openxmlformats.org/drawingml/2006/main">
            <a:r>
              <a:t>SOURCES</a:t>
            </a:r>
          </a:p>
          <a:p xmlns:a="http://schemas.openxmlformats.org/drawingml/2006/main">
            <a:r>
              <a:t>Engineering Reliable Coding Agents, chapter 1</a:t>
            </a:r>
          </a:p>
          <a:p xmlns:a="http://schemas.openxmlformats.org/drawingml/2006/main">
            <a:r>
              <a:t>https://www.sjarmak.ai/books/engineering-reliable-coding-agents/variance-power-paired-comparisons</a:t>
            </a:r>
          </a:p>
          <a:p xmlns:a="http://schemas.openxmlformats.org/drawingml/2006/main">
            <a:r>
              <a:t/>
            </a:r>
          </a:p>
          <a:p xmlns:a="http://schemas.openxmlformats.org/drawingml/2006/main">
            <a:r>
              <a:t>Engineering Reliable Coding Agents, chapter 2</a:t>
            </a:r>
          </a:p>
          <a:p xmlns:a="http://schemas.openxmlformats.org/drawingml/2006/main">
            <a:r>
              <a:t>https://www.sjarmak.ai/books/engineering-reliable-coding-agents/baselines-ablations-cost-accuracy</a:t>
            </a:r>
          </a:p>
          <a:p xmlns:a="http://schemas.openxmlformats.org/drawingml/2006/main">
            <a:r>
              <a:t/>
            </a:r>
          </a:p>
          <a:p xmlns:a="http://schemas.openxmlformats.org/drawingml/2006/main">
            <a:r>
              <a:t>Agent Evaluation Reliability</a:t>
            </a:r>
          </a:p>
          <a:p xmlns:a="http://schemas.openxmlformats.org/drawingml/2006/main">
            <a:r>
              <a:t>https://arxiv.org/html/2610.00651</a:t>
            </a:r>
          </a:p>
          <a:p xmlns:a="http://schemas.openxmlformats.org/drawingml/2006/main">
            <a:r>
              <a:t/>
            </a:r>
          </a:p>
          <a:p xmlns:a="http://schemas.openxmlformats.org/drawingml/2006/main">
            <a:r>
              <a:t>Benchmark engineering diary</a:t>
            </a:r>
          </a:p>
          <a:p xmlns:a="http://schemas.openxmlformats.org/drawingml/2006/main">
            <a:r>
              <a:t>https://medium.com/@steph.jarmak/i-couldnt-find-a-good-enough-benchmark-for-large-scale-software-development-so-i-built-one-d2cc5946e963</a:t>
            </a:r>
          </a:p>
          <a:p xmlns:a="http://schemas.openxmlformats.org/drawingml/2006/main">
            <a:r>
              <a:t/>
            </a:r>
          </a:p>
          <a:p xmlns:a="http://schemas.openxmlformats.org/drawingml/2006/main">
            <a:r>
              <a:t>Diogo Almeida, Lies, Damned Lies, and Benchmarks (11 September 2026)</a:t>
            </a:r>
          </a:p>
          <a:p xmlns:a="http://schemas.openxmlformats.org/drawingml/2006/main">
            <a:r>
              <a:t>https://www.completeskeptic.com/p/lies-damned-lies-and-benchmarks</a:t>
            </a:r>
          </a:p>
          <a:p xmlns:a="http://schemas.openxmlformats.org/drawingml/2006/main">
            <a:r>
              <a:t/>
            </a:r>
          </a:p>
          <a:p xmlns:a="http://schemas.openxmlformats.org/drawingml/2006/main">
            <a:r>
              <a:t>Sun et al., Which Self-Improvements Should We Trust? Reliable Self-Improvement When Agents Reuse Their Benchmarks, §2.1 (arXiv:2609.33180v2)</a:t>
            </a:r>
          </a:p>
          <a:p xmlns:a="http://schemas.openxmlformats.org/drawingml/2006/main">
            <a:r>
              <a:t>https://arxiv.org/html/2609.33180v2</a:t>
            </a:r>
          </a:p>
          <a:p xmlns:a="http://schemas.openxmlformats.org/drawingml/2006/main">
            <a:r>
              <a:t/>
            </a:r>
          </a:p>
          <a:p xmlns:a="http://schemas.openxmlformats.org/drawingml/2006/main">
            <a:r>
              <a:t>DELIVERY CUE</a:t>
            </a:r>
          </a:p>
          <a:p xmlns:a="http://schemas.openxmlformats.org/drawingml/2006/main">
            <a:r>
              <a:t>Use tasks, repeats and configurations as three different sources of uncertainty. Explain the predeclared decision requirement, then the confidence interval and its limits. Keep shared task groups, unused confirmation cases and acceptable-quality evidence distinct. This slide has a two-minute rehearsal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Trace where evidence becomes a conclusion</a:t>
            </a:r>
          </a:p>
          <a:p xmlns:a="http://schemas.openxmlformats.org/drawingml/2006/main">
            <a:r>
              <a:t>5:20–6:40</a:t>
            </a:r>
          </a:p>
          <a:p xmlns:a="http://schemas.openxmlformats.org/drawingml/2006/main">
            <a:r>
              <a:t/>
            </a:r>
          </a:p>
          <a:p xmlns:a="http://schemas.openxmlformats.org/drawingml/2006/main">
            <a:r>
              <a:t>SPOKEN SCRIPT</a:t>
            </a:r>
          </a:p>
          <a:p xmlns:a="http://schemas.openxmlformats.org/drawingml/2006/main">
            <a:r>
              <a:t>Let’s go back to the search failure. The search came back empty, and the agent treated that as proof that nothing relevant existed.</a:t>
            </a:r>
          </a:p>
          <a:p xmlns:a="http://schemas.openxmlformats.org/drawingml/2006/main">
            <a:r>
              <a:t/>
            </a:r>
          </a:p>
          <a:p xmlns:a="http://schemas.openxmlformats.org/drawingml/2006/main">
            <a:r>
              <a:t>I’d ask four questions: Could the agent search? Did it? What came back? What did it conclude?</a:t>
            </a:r>
          </a:p>
          <a:p xmlns:a="http://schemas.openxmlformats.org/drawingml/2006/main">
            <a:r>
              <a:t/>
            </a:r>
          </a:p>
          <a:p xmlns:a="http://schemas.openxmlformats.org/drawingml/2006/main">
            <a:r>
              <a:t>I’d also record where and how we searched, what we didn’t or couldn’t check, and whether the search stopped early or returned partial results. Even a completed search can miss evidence phrased differently.</a:t>
            </a:r>
          </a:p>
          <a:p xmlns:a="http://schemas.openxmlformats.org/drawingml/2006/main">
            <a:r>
              <a:t/>
            </a:r>
          </a:p>
          <a:p xmlns:a="http://schemas.openxmlformats.org/drawingml/2006/main">
            <a:r>
              <a:t>Then I’d try two separate tests. First, give the agent the same empty result, but make the search limits explicit. Does it still conclude nothing is there? Second, keep the agent and its settings the same, but supply a known relevant result. Can it use that evidence to complete the task?</a:t>
            </a:r>
          </a:p>
          <a:p xmlns:a="http://schemas.openxmlformats.org/drawingml/2006/main">
            <a:r>
              <a:t/>
            </a:r>
          </a:p>
          <a:p xmlns:a="http://schemas.openxmlformats.org/drawingml/2006/main">
            <a:r>
              <a:t>Those comparisons would help us tell a search problem from a problem using the result. They’re experiments I’d run. We still need the complete task outcomes to know whether a change helped.</a:t>
            </a:r>
          </a:p>
          <a:p xmlns:a="http://schemas.openxmlformats.org/drawingml/2006/main">
            <a:r>
              <a:t/>
            </a:r>
          </a:p>
          <a:p xmlns:a="http://schemas.openxmlformats.org/drawingml/2006/main">
            <a:r>
              <a:t>PRESENTER REFERENCE</a:t>
            </a:r>
          </a:p>
          <a:p xmlns:a="http://schemas.openxmlformats.org/drawingml/2006/main">
            <a:r>
              <a:t>This slide develops the mechanism from the opening preamble experiment without repeating its numerical outcomes. The observed fact is that a false-negative retrieval result continued to be treated as authoritative. Tool availability, invocation, returned evidence and subsequent use are separate observation points. Search-scope/status fields and controlled changes to the consumer’s status information or retrieved evidence are proposed diagnostic interventions, not reported completed repairs. A trace can motivate an intervention; it does not by itself establish which change will causally improve outcomes. “Adequate coverage” must be defined relative to the task and available sources, rather than claimed as an unrestricted guarantee that no relevant evidence exists.</a:t>
            </a:r>
          </a:p>
          <a:p xmlns:a="http://schemas.openxmlformats.org/drawingml/2006/main">
            <a:r>
              <a:t/>
            </a:r>
          </a:p>
          <a:p xmlns:a="http://schemas.openxmlformats.org/drawingml/2006/main">
            <a:r>
              <a:t>SOURCES</a:t>
            </a:r>
          </a:p>
          <a:p xmlns:a="http://schemas.openxmlformats.org/drawingml/2006/main">
            <a:r>
              <a:t>Engineering Reliable Coding Agents, chapter 18</a:t>
            </a:r>
          </a:p>
          <a:p xmlns:a="http://schemas.openxmlformats.org/drawingml/2006/main">
            <a:r>
              <a:t>https://www.sjarmak.ai/books/engineering-reliable-coding-agents/agent-topology-dynamic-task-allocation</a:t>
            </a:r>
          </a:p>
          <a:p xmlns:a="http://schemas.openxmlformats.org/drawingml/2006/main">
            <a:r>
              <a:t/>
            </a:r>
          </a:p>
          <a:p xmlns:a="http://schemas.openxmlformats.org/drawingml/2006/main">
            <a:r>
              <a:t>Engineering Reliable Coding Agents, chapter 2</a:t>
            </a:r>
          </a:p>
          <a:p xmlns:a="http://schemas.openxmlformats.org/drawingml/2006/main">
            <a:r>
              <a:t>https://www.sjarmak.ai/books/engineering-reliable-coding-agents/baselines-ablations-cost-accuracy</a:t>
            </a:r>
          </a:p>
          <a:p xmlns:a="http://schemas.openxmlformats.org/drawingml/2006/main">
            <a:r>
              <a:t/>
            </a:r>
          </a:p>
          <a:p xmlns:a="http://schemas.openxmlformats.org/drawingml/2006/main">
            <a:r>
              <a:t>DELIVERY CUE</a:t>
            </a:r>
          </a:p>
          <a:p xmlns:a="http://schemas.openxmlformats.org/drawingml/2006/main">
            <a:r>
              <a:t>Return to the opening failure. Make the two tests concrete: the same empty result with explicit search limits, then a known relevant result with the agent and settings unchanged. Both are proposed experiments; check complete task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Better evidence can still go unused</a:t>
            </a:r>
          </a:p>
          <a:p xmlns:a="http://schemas.openxmlformats.org/drawingml/2006/main">
            <a:r>
              <a:t>6:40–8:00</a:t>
            </a:r>
          </a:p>
          <a:p xmlns:a="http://schemas.openxmlformats.org/drawingml/2006/main">
            <a:r>
              <a:t/>
            </a:r>
          </a:p>
          <a:p xmlns:a="http://schemas.openxmlformats.org/drawingml/2006/main">
            <a:r>
              <a:t>SPOKEN SCRIPT</a:t>
            </a:r>
          </a:p>
          <a:p xmlns:a="http://schemas.openxmlformats.org/drawingml/2006/main">
            <a:r>
              <a:t>Now suppose we hand the agent the information it needs, and its answer still doesn’t improve. That doesn’t tell us the information was useless. The agent may not know how to use it.</a:t>
            </a:r>
          </a:p>
          <a:p xmlns:a="http://schemas.openxmlformats.org/drawingml/2006/main">
            <a:r>
              <a:t/>
            </a:r>
          </a:p>
          <a:p xmlns:a="http://schemas.openxmlformats.org/drawingml/2006/main">
            <a:r>
              <a:t>A controlled simulation showed this. Giving the system the true market conditions produced no clear gain. Bypassing its scenario generator, which turns those conditions into possible market outcomes, exposed value the earlier change hadn’t revealed. That finding is specific to this simulation.</a:t>
            </a:r>
          </a:p>
          <a:p xmlns:a="http://schemas.openxmlformats.org/drawingml/2006/main">
            <a:r>
              <a:t/>
            </a:r>
          </a:p>
          <a:p xmlns:a="http://schemas.openxmlformats.org/drawingml/2006/main">
            <a:r>
              <a:t>So I’d test the evidence and the agent’s use of it separately.</a:t>
            </a:r>
          </a:p>
          <a:p xmlns:a="http://schemas.openxmlformats.org/drawingml/2006/main">
            <a:r>
              <a:t/>
            </a:r>
          </a:p>
          <a:p xmlns:a="http://schemas.openxmlformats.org/drawingml/2006/main">
            <a:r>
              <a:t>There’s a related trap. In another evaluation, one candidate task ran for forty-one turns without calling the tool being tested. Keep that non-use in the deployment result.</a:t>
            </a:r>
          </a:p>
          <a:p xmlns:a="http://schemas.openxmlformats.org/drawingml/2006/main">
            <a:r>
              <a:t/>
            </a:r>
          </a:p>
          <a:p xmlns:a="http://schemas.openxmlformats.org/drawingml/2006/main">
            <a:r>
              <a:t>But don’t compare only runs that chose to use the tool with runs that didn’t. Those runs may differ for other reasons. To test whether the information helps, use matched runs of the same task. Keep the setup fixed, and control which information the agent receives. Then compare the complete task outcomes.</a:t>
            </a:r>
          </a:p>
          <a:p xmlns:a="http://schemas.openxmlformats.org/drawingml/2006/main">
            <a:r>
              <a:t/>
            </a:r>
          </a:p>
          <a:p xmlns:a="http://schemas.openxmlformats.org/drawingml/2006/main">
            <a:r>
              <a:t>PRESENTER REFERENCE</a:t>
            </a:r>
          </a:p>
          <a:p xmlns:a="http://schemas.openxmlformats.org/drawingml/2006/main">
            <a:r>
              <a:t>Verify Claims is a simulated financial setting, explicitly not evidence about financial-market performance. Pipeline includes regime detector, generator, gate and allocator. True-regime replacement gives +0.041 ±0.153 Sharpe over 16 paired seeds; no clear gain. Full generator bypass recovers value. Do not narrate simulated returns as real business efficacy. Six-seed interaction estimate includes zero; trusted-path compromise not tested. The diagram is a methodological synthesis. A perfect-information substitution is diagnostic, not a deployable method. Availability estimand versus efficacy mechanism: conditioning on invocation is post-treatment selection, even if usage criteria were predeclared. A null result constrains the tested path, not the isolated usefulness of an upstream component under all consumers. The brief 41-turn supporting example comes from chapter 2: a candidate enterprise-benchmark task passed static checks and ran without invoking the evaluated tool. Its identity, final task score and reason for non-use are not disclosed. Non-use belongs in the tool-availability deployment comparison; selecting only tool-using runs does not establish a causal effect of the information.</a:t>
            </a:r>
          </a:p>
          <a:p xmlns:a="http://schemas.openxmlformats.org/drawingml/2006/main">
            <a:r>
              <a:t/>
            </a:r>
          </a:p>
          <a:p xmlns:a="http://schemas.openxmlformats.org/drawingml/2006/main">
            <a:r>
              <a:t>SOURCES</a:t>
            </a:r>
          </a:p>
          <a:p xmlns:a="http://schemas.openxmlformats.org/drawingml/2006/main">
            <a:r>
              <a:t>Verify Claims, Not Scores, §§3–6</a:t>
            </a:r>
          </a:p>
          <a:p xmlns:a="http://schemas.openxmlformats.org/drawingml/2006/main">
            <a:r>
              <a:t>https://arxiv.org/html/2610.01348v1</a:t>
            </a:r>
          </a:p>
          <a:p xmlns:a="http://schemas.openxmlformats.org/drawingml/2006/main">
            <a:r>
              <a:t/>
            </a:r>
          </a:p>
          <a:p xmlns:a="http://schemas.openxmlformats.org/drawingml/2006/main">
            <a:r>
              <a:t>Engineering Reliable Coding Agents, chapter 2</a:t>
            </a:r>
          </a:p>
          <a:p xmlns:a="http://schemas.openxmlformats.org/drawingml/2006/main">
            <a:r>
              <a:t>https://www.sjarmak.ai/books/engineering-reliable-coding-agents/baselines-ablations-cost-accuracy</a:t>
            </a:r>
          </a:p>
          <a:p xmlns:a="http://schemas.openxmlformats.org/drawingml/2006/main">
            <a:r>
              <a:t/>
            </a:r>
          </a:p>
          <a:p xmlns:a="http://schemas.openxmlformats.org/drawingml/2006/main">
            <a:r>
              <a:t>SHORT-ON-TIME CUT</a:t>
            </a:r>
          </a:p>
          <a:p xmlns:a="http://schemas.openxmlformats.org/drawingml/2006/main">
            <a:r>
              <a:t>If a full rehearsal exceeds 17:00, or slide 7 begins later than 6:55 on stage, use this complete replacement script.</a:t>
            </a:r>
          </a:p>
          <a:p xmlns:a="http://schemas.openxmlformats.org/drawingml/2006/main">
            <a:r>
              <a:t/>
            </a:r>
          </a:p>
          <a:p xmlns:a="http://schemas.openxmlformats.org/drawingml/2006/main">
            <a:r>
              <a:t>Even the right information may not improve the answer if the agent can’t use it. Test the evidence and the agent’s use of it separately.</a:t>
            </a:r>
          </a:p>
          <a:p xmlns:a="http://schemas.openxmlformats.org/drawingml/2006/main">
            <a:r>
              <a:t/>
            </a:r>
          </a:p>
          <a:p xmlns:a="http://schemas.openxmlformats.org/drawingml/2006/main">
            <a:r>
              <a:t>In another evaluation, one candidate task ran for forty-one turns without calling the tool being tested. Keep that non-use in the deployment result.</a:t>
            </a:r>
          </a:p>
          <a:p xmlns:a="http://schemas.openxmlformats.org/drawingml/2006/main">
            <a:r>
              <a:t/>
            </a:r>
          </a:p>
          <a:p xmlns:a="http://schemas.openxmlformats.org/drawingml/2006/main">
            <a:r>
              <a:t>To test whether the information helps, use matched runs of the same task. Keep the setup fixed and control what information the agent receives. Comparing runs that chose to use the tool with runs that didn’t can mix in other differences.</a:t>
            </a:r>
          </a:p>
          <a:p xmlns:a="http://schemas.openxmlformats.org/drawingml/2006/main">
            <a:r>
              <a:t/>
            </a:r>
          </a:p>
          <a:p xmlns:a="http://schemas.openxmlformats.org/drawingml/2006/main">
            <a:r>
              <a:t>Approximate saving; confirm at the speaker’s actual pace.</a:t>
            </a:r>
          </a:p>
          <a:p xmlns:a="http://schemas.openxmlformats.org/drawingml/2006/main">
            <a:r>
              <a:t/>
            </a:r>
          </a:p>
          <a:p xmlns:a="http://schemas.openxmlformats.org/drawingml/2006/main">
            <a:r>
              <a:t>DELIVERY CUE</a:t>
            </a:r>
          </a:p>
          <a:p xmlns:a="http://schemas.openxmlformats.org/drawingml/2006/main">
            <a:r>
              <a:t>Start with useful information the agent may fail to use. Keep the simulation result bounded to its tested system. Explain why self-selected tool use is an unfair causal comparison; control what information matched runs receive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Audit the scoring rule and the answer key</a:t>
            </a:r>
          </a:p>
          <a:p xmlns:a="http://schemas.openxmlformats.org/drawingml/2006/main">
            <a:r>
              <a:t>8:00–9:15</a:t>
            </a:r>
          </a:p>
          <a:p xmlns:a="http://schemas.openxmlformats.org/drawingml/2006/main">
            <a:r>
              <a:t/>
            </a:r>
          </a:p>
          <a:p xmlns:a="http://schemas.openxmlformats.org/drawingml/2006/main">
            <a:r>
              <a:t>SPOKEN SCRIPT</a:t>
            </a:r>
          </a:p>
          <a:p xmlns:a="http://schemas.openxmlformats.org/drawingml/2006/main">
            <a:r>
              <a:t>In one of my CodeProbe trials, the agent returned two hundred and ninety-five files. The expected set had six. It found all six.</a:t>
            </a:r>
          </a:p>
          <a:p xmlns:a="http://schemas.openxmlformats.org/drawingml/2006/main">
            <a:r>
              <a:t/>
            </a:r>
          </a:p>
          <a:p xmlns:a="http://schemas.openxmlformats.org/drawingml/2006/main">
            <a:r>
              <a:t>That’s full recall. But only about two percent of the returned files were in the reference set: that’s precision. The actual score, which was sensitive to precision, was about zero point zero two five.</a:t>
            </a:r>
          </a:p>
          <a:p xmlns:a="http://schemas.openxmlformats.org/drawingml/2006/main">
            <a:r>
              <a:t/>
            </a:r>
          </a:p>
          <a:p xmlns:a="http://schemas.openxmlformats.org/drawingml/2006/main">
            <a:r>
              <a:t>Same output, same reference set. A different headline score gives a very different impression.</a:t>
            </a:r>
          </a:p>
          <a:p xmlns:a="http://schemas.openxmlformats.org/drawingml/2006/main">
            <a:r>
              <a:t/>
            </a:r>
          </a:p>
          <a:p xmlns:a="http://schemas.openxmlformats.org/drawingml/2006/main">
            <a:r>
              <a:t>That’s why I want the scoring rule in the result record. Before relying on an evaluator, give it a known-good answer, an empty answer, and an answer that returns everything. Can it tell useful selection from exhaustive coverage?</a:t>
            </a:r>
          </a:p>
          <a:p xmlns:a="http://schemas.openxmlformats.org/drawingml/2006/main">
            <a:r>
              <a:t/>
            </a:r>
          </a:p>
          <a:p xmlns:a="http://schemas.openxmlformats.org/drawingml/2006/main">
            <a:r>
              <a:t>Then check the answer key. If it leaves out a valid alternative, the precision penalty may count good work as wrong.</a:t>
            </a:r>
          </a:p>
          <a:p xmlns:a="http://schemas.openxmlformats.org/drawingml/2006/main">
            <a:r>
              <a:t/>
            </a:r>
          </a:p>
          <a:p xmlns:a="http://schemas.openxmlformats.org/drawingml/2006/main">
            <a:r>
              <a:t>We need to test both the scoring rule and the reference set before using the score to choose a system or let it do more.</a:t>
            </a:r>
          </a:p>
          <a:p xmlns:a="http://schemas.openxmlformats.org/drawingml/2006/main">
            <a:r>
              <a:t/>
            </a:r>
          </a:p>
          <a:p xmlns:a="http://schemas.openxmlformats.org/drawingml/2006/main">
            <a:r>
              <a:t>PRESENTER REFERENCE</a:t>
            </a:r>
          </a:p>
          <a:p xmlns:a="http://schemas.openxmlformats.org/drawingml/2006/main">
            <a:r>
              <a:t>Firsthand recorded CodeProbe trial, task e5d7a4e7 in investigation codeprobe-x7p3, at commit 2495927394414509f707601f1b3f22b29b158f62. Baseline output returned 295 files and matched all 6 expected files: recall 1.0, precision 0.020339, F1 0.039867. The declared scoring family was F-beta with beta 0.5; actual reward was 0.025295. The actual run was not awarded recall as its reward. This is one observed over-returning trial, not evidence of intentional gaming, a prevalence estimate, or a comparative causal tool effect. The investigation contains five tasks, two configurations and one repeat; no cross-run ranking claim is used. All set-based interpretations are relative to the task’s declared reference key; key completeness and acceptable alternatives still require validation. The counterexample suite and result-record recommendation are methodological synthesis. The current scoring-model document describes task-declared families; the immutable per-trial record establishes the reward used for this observation. The book’s separate recall-only design loophole and later overlap-F1 default are not conflated with this F-beta-scored trial. UTBoost remains supporting evidence rather than the main stage case: its Seaborn missing-data example, test-log parser defects and bounded audit results illustrate oracle incompleteness. No UTBoost statistic is spoken in this revision.</a:t>
            </a:r>
          </a:p>
          <a:p xmlns:a="http://schemas.openxmlformats.org/drawingml/2006/main">
            <a:r>
              <a:t/>
            </a:r>
          </a:p>
          <a:p xmlns:a="http://schemas.openxmlformats.org/drawingml/2006/main">
            <a:r>
              <a:t>SOURCES</a:t>
            </a:r>
          </a:p>
          <a:p xmlns:a="http://schemas.openxmlformats.org/drawingml/2006/main">
            <a:r>
              <a:t>CodeProbe per-trial record, task e5d7a4e7, immutable commit 2495927</a:t>
            </a:r>
          </a:p>
          <a:p xmlns:a="http://schemas.openxmlformats.org/drawingml/2006/main">
            <a:r>
              <a:t>https://github.com/sjarmak/codeprobe/blob/2495927394414509f707601f1b3f22b29b158f62/docs/investigations/codeprobe-x7p3/per_trial.json</a:t>
            </a:r>
          </a:p>
          <a:p xmlns:a="http://schemas.openxmlformats.org/drawingml/2006/main">
            <a:r>
              <a:t/>
            </a:r>
          </a:p>
          <a:p xmlns:a="http://schemas.openxmlformats.org/drawingml/2006/main">
            <a:r>
              <a:t>CodeProbe task-declared scoring model</a:t>
            </a:r>
          </a:p>
          <a:p xmlns:a="http://schemas.openxmlformats.org/drawingml/2006/main">
            <a:r>
              <a:t>https://github.com/sjarmak/codeprobe/blob/main/docs/scoring_model.md</a:t>
            </a:r>
          </a:p>
          <a:p xmlns:a="http://schemas.openxmlformats.org/drawingml/2006/main">
            <a:r>
              <a:t/>
            </a:r>
          </a:p>
          <a:p xmlns:a="http://schemas.openxmlformats.org/drawingml/2006/main">
            <a:r>
              <a:t>Engineering Reliable Coding Agents, chapter 6</a:t>
            </a:r>
          </a:p>
          <a:p xmlns:a="http://schemas.openxmlformats.org/drawingml/2006/main">
            <a:r>
              <a:t>https://www.sjarmak.ai/books/engineering-reliable-coding-agents/proxy-gaming-layered-signals</a:t>
            </a:r>
          </a:p>
          <a:p xmlns:a="http://schemas.openxmlformats.org/drawingml/2006/main">
            <a:r>
              <a:t/>
            </a:r>
          </a:p>
          <a:p xmlns:a="http://schemas.openxmlformats.org/drawingml/2006/main">
            <a:r>
              <a:t>DELIVERY CUE</a:t>
            </a:r>
          </a:p>
          <a:p xmlns:a="http://schemas.openxmlformats.org/drawingml/2006/main">
            <a:r>
              <a:t>Reveal the returned-file count, then the expected set, then the measurements. Pause at the different impression of the same run. Preserve the actual reward and the answer-key caveat; no gaming-intent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Test whether the gate changes execution</a:t>
            </a:r>
          </a:p>
          <a:p xmlns:a="http://schemas.openxmlformats.org/drawingml/2006/main">
            <a:r>
              <a:t>9:15–10:55</a:t>
            </a:r>
          </a:p>
          <a:p xmlns:a="http://schemas.openxmlformats.org/drawingml/2006/main">
            <a:r>
              <a:t/>
            </a:r>
          </a:p>
          <a:p xmlns:a="http://schemas.openxmlformats.org/drawingml/2006/main">
            <a:r>
              <a:t>SPOKEN SCRIPT</a:t>
            </a:r>
          </a:p>
          <a:p xmlns:a="http://schemas.openxmlformats.org/drawingml/2006/main">
            <a:r>
              <a:t>Eval platforms can help decide whether to release a system. In this example, I’m checking what the running agent can actually execute after a request is rejected or changed.</a:t>
            </a:r>
          </a:p>
          <a:p xmlns:a="http://schemas.openxmlformats.org/drawingml/2006/main">
            <a:r>
              <a:t/>
            </a:r>
          </a:p>
          <a:p xmlns:a="http://schemas.openxmlformats.org/drawingml/2006/main">
            <a:r>
              <a:t>When I audited my approval queue, I found paths that allowed execution when required components were missing, and commands built without the intended checks. A separate check required reproducing a bug before changing code. When a required program was missing, it stopped enforcing that rule.</a:t>
            </a:r>
          </a:p>
          <a:p xmlns:a="http://schemas.openxmlformats.org/drawingml/2006/main">
            <a:r>
              <a:t/>
            </a:r>
          </a:p>
          <a:p xmlns:a="http://schemas.openxmlformats.org/drawingml/2006/main">
            <a:r>
              <a:t>Test in isolation: reject a request, cancel it, remove a required component, change the proposal after approval. Use the agent’s ordinary identity and check what actually executes. Then follow the fallback. Does it finish the authorized task, stop safely, or leave someone with repair work?</a:t>
            </a:r>
          </a:p>
          <a:p xmlns:a="http://schemas.openxmlformats.org/drawingml/2006/main">
            <a:r>
              <a:t/>
            </a:r>
          </a:p>
          <a:p xmlns:a="http://schemas.openxmlformats.org/drawingml/2006/main">
            <a:r>
              <a:t>A gate is a check that permits or blocks execution. Record whether the evaluator recognized the problem and whether the gate prevented the action. We need both. Include legitimate work too, so we see false blocks.</a:t>
            </a:r>
          </a:p>
          <a:p xmlns:a="http://schemas.openxmlformats.org/drawingml/2006/main">
            <a:r>
              <a:t/>
            </a:r>
          </a:p>
          <a:p xmlns:a="http://schemas.openxmlformats.org/drawingml/2006/main">
            <a:r>
              <a:t>Keep the exact tested version and evidence that the checks ran. If you change the evaluator, rerun the stored baseline and candidate under that same version on matched cases. Otherwise, you may be calling a change in the evaluator an improvement in the agent.</a:t>
            </a:r>
          </a:p>
          <a:p xmlns:a="http://schemas.openxmlformats.org/drawingml/2006/main">
            <a:r>
              <a:t/>
            </a:r>
          </a:p>
          <a:p xmlns:a="http://schemas.openxmlformats.org/drawingml/2006/main">
            <a:r>
              <a:t>PRESENTER REFERENCE</a:t>
            </a:r>
          </a:p>
          <a:p xmlns:a="http://schemas.openxmlformats.org/drawingml/2006/main">
            <a:r>
              <a:t>The approval-queue findings and separate reproduction-before-mutation hook are firsthand author audit/reproduction examples in chapter 17. They establish fail-open paths with missing required components and unvalidated command construction; they do not establish a production unauthorized-write incident, a frequency or a quantified reduction from later fixes. The isolated rejection/cancellation/missing-dependency/changed-proposal tests are proposed methods, not reported completed experiments. Observe actual destination effects under the ordinary agent identity, including possible alternate execution paths. Record authorized completion, safe stop, unresolved failure and human repair separately, and test valid work to detect false blocks. Code QA remains part of end-to-end evaluation rather than a competing category. Rerunning a stored baseline and current candidate with the same evaluator on matched executable states is a comparison control from chapter 4, not a demonstrated efficacy percentage. SWE-CC moves to supporting notes: its 150-check audit reported 94% rater agreement versus 87.2% weighted checker acceptance (95% CI 82.1–92.3), different quantities; 50.3% of violations among functionally resolved runs occurred in trajectories. These remain corroboration for process QA and evaluator validity, not firsthand author findings. Repository policy compliance is not legal compliance.</a:t>
            </a:r>
          </a:p>
          <a:p xmlns:a="http://schemas.openxmlformats.org/drawingml/2006/main">
            <a:r>
              <a:t/>
            </a:r>
          </a:p>
          <a:p xmlns:a="http://schemas.openxmlformats.org/drawingml/2006/main">
            <a:r>
              <a:t>SOURCES</a:t>
            </a:r>
          </a:p>
          <a:p xmlns:a="http://schemas.openxmlformats.org/drawingml/2006/main">
            <a:r>
              <a:t>Engineering Reliable Coding Agents, chapter 17: gate audits and failure experiments</a:t>
            </a:r>
          </a:p>
          <a:p xmlns:a="http://schemas.openxmlformats.org/drawingml/2006/main">
            <a:r>
              <a:t>https://www.sjarmak.ai/books/engineering-reliable-coding-agents/autonomy-provenance-gates-accountability</a:t>
            </a:r>
          </a:p>
          <a:p xmlns:a="http://schemas.openxmlformats.org/drawingml/2006/main">
            <a:r>
              <a:t/>
            </a:r>
          </a:p>
          <a:p xmlns:a="http://schemas.openxmlformats.org/drawingml/2006/main">
            <a:r>
              <a:t>Engineering Reliable Coding Agents, chapter 4: repeated trials as release tests</a:t>
            </a:r>
          </a:p>
          <a:p xmlns:a="http://schemas.openxmlformats.org/drawingml/2006/main">
            <a:r>
              <a:t>https://www.sjarmak.ai/books/engineering-reliable-coding-agents/execution-correction-gates-release-tests</a:t>
            </a:r>
          </a:p>
          <a:p xmlns:a="http://schemas.openxmlformats.org/drawingml/2006/main">
            <a:r>
              <a:t/>
            </a:r>
          </a:p>
          <a:p xmlns:a="http://schemas.openxmlformats.org/drawingml/2006/main">
            <a:r>
              <a:t>Engineering Reliable Coding Agents, companion</a:t>
            </a:r>
          </a:p>
          <a:p xmlns:a="http://schemas.openxmlformats.org/drawingml/2006/main">
            <a:r>
              <a:t>https://www.sjarmak.ai/books/engineering-reliable-coding-agents/companion</a:t>
            </a:r>
          </a:p>
          <a:p xmlns:a="http://schemas.openxmlformats.org/drawingml/2006/main">
            <a:r>
              <a:t/>
            </a:r>
          </a:p>
          <a:p xmlns:a="http://schemas.openxmlformats.org/drawingml/2006/main">
            <a:r>
              <a:t>DELIVERY CUE</a:t>
            </a:r>
          </a:p>
          <a:p xmlns:a="http://schemas.openxmlformats.org/drawingml/2006/main">
            <a:r>
              <a:t>Separate the audit findings from the tests you would run. Follow the action all the way to execution and fallback. Include legitimate work and false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Choose what runs automatically, then measure it</a:t>
            </a:r>
          </a:p>
          <a:p xmlns:a="http://schemas.openxmlformats.org/drawingml/2006/main">
            <a:r>
              <a:t>10:55–12:35</a:t>
            </a:r>
          </a:p>
          <a:p xmlns:a="http://schemas.openxmlformats.org/drawingml/2006/main">
            <a:r>
              <a:t/>
            </a:r>
          </a:p>
          <a:p xmlns:a="http://schemas.openxmlformats.org/drawingml/2006/main">
            <a:r>
              <a:t>SPOKEN SCRIPT</a:t>
            </a:r>
          </a:p>
          <a:p xmlns:a="http://schemas.openxmlformats.org/drawingml/2006/main">
            <a:r>
              <a:t>A model judge can agree with human reviewers on a sample and still miss important errors.</a:t>
            </a:r>
          </a:p>
          <a:p xmlns:a="http://schemas.openxmlformats.org/drawingml/2006/main">
            <a:r>
              <a:t/>
            </a:r>
          </a:p>
          <a:p xmlns:a="http://schemas.openxmlformats.org/drawingml/2006/main">
            <a:r>
              <a:t>To test what it misses, include consequential defects. A random sample from mostly successful work might contain almost none. But the error rate in a sample chosen for difficult cases won’t be the production error rate.</a:t>
            </a:r>
          </a:p>
          <a:p xmlns:a="http://schemas.openxmlformats.org/drawingml/2006/main">
            <a:r>
              <a:t/>
            </a:r>
          </a:p>
          <a:p xmlns:a="http://schemas.openxmlformats.org/drawingml/2006/main">
            <a:r>
              <a:t>In a production text-to-SQL audit, agreement with human labels was much lower on cases drawn mainly from the judge’s flagged outputs than on a random sample. The sample changed the measurement.</a:t>
            </a:r>
          </a:p>
          <a:p xmlns:a="http://schemas.openxmlformats.org/drawingml/2006/main">
            <a:r>
              <a:t/>
            </a:r>
          </a:p>
          <a:p xmlns:a="http://schemas.openxmlformats.org/drawingml/2006/main">
            <a:r>
              <a:t>The researchers also tried three model judges. When the models disagreed with each other, the case went to a person. Agreement with human labels was higher on the cases handled automatically. But fewer cases were automated, and people had more review work.</a:t>
            </a:r>
          </a:p>
          <a:p xmlns:a="http://schemas.openxmlformats.org/drawingml/2006/main">
            <a:r>
              <a:t/>
            </a:r>
          </a:p>
          <a:p xmlns:a="http://schemas.openxmlformats.org/drawingml/2006/main">
            <a:r>
              <a:t>For example, at one million legitimate actions, a one-percent false-alarm rate creates ten thousand reviews.</a:t>
            </a:r>
          </a:p>
          <a:p xmlns:a="http://schemas.openxmlformats.org/drawingml/2006/main">
            <a:r>
              <a:t/>
            </a:r>
          </a:p>
          <a:p xmlns:a="http://schemas.openxmlformats.org/drawingml/2006/main">
            <a:r>
              <a:t>SQL can also run successfully while using the wrong metric, fiscal period or currency convention. Did the agent miss an existing rule, or is the requirement unresolved? Retrieve the rule or clarify it with its owner. If authority is uncertain, escalate. Encode resolved requirements in fixed checks where possible.</a:t>
            </a:r>
          </a:p>
          <a:p xmlns:a="http://schemas.openxmlformats.org/drawingml/2006/main">
            <a:r>
              <a:t/>
            </a:r>
          </a:p>
          <a:p xmlns:a="http://schemas.openxmlformats.org/drawingml/2006/main">
            <a:r>
              <a:t>Which costly errors does the evaluator catch? Which good work does it block? Can we sustain the review load?</a:t>
            </a:r>
          </a:p>
          <a:p xmlns:a="http://schemas.openxmlformats.org/drawingml/2006/main">
            <a:r>
              <a:t/>
            </a:r>
          </a:p>
          <a:p xmlns:a="http://schemas.openxmlformats.org/drawingml/2006/main">
            <a:r>
              <a:t>PRESENTER REFERENCE</a:t>
            </a:r>
          </a:p>
          <a:p xmlns:a="http://schemas.openxmlformats.org/drawingml/2006/main">
            <a:r>
              <a:t>Judge audit: enriched n 234, κ=.04 [−.02,.09]; uniform n 200, κ=.42 [.24,.58]. Enriched set 192 faithful/42 unfaithful, 148 false flags among faithful (77.1%), not population-wide false-positive rate. Grade hallucination from result previews: removing preview recovered 93/98 mechanism-labeled cases but shifted to underflagging, so repairing one failure mode did not calibrate whole judge. Three-strong-judge unanimity κ=.788 at 89.7% automatic coverage; full-coverage majority κ=.731. Selective coverage, not free judge improvement. Proposed protocol: separate threshold-tuning and heldout validation, define defect as positive, measure class-specific TPR/FPR with uncertainty, report coverage and weighted production estimates. The million-action arithmetic is a worked illustration, not measured traffic. FLINT triangulates domain validity: all compared methods ≥ 99% SQL execution but no academic baseline &gt;50% semantic accuracy on 359 production-derived questions (221 financials, 138 transactions); opaque IDs and conventions can yield executable wrong answers. FLINT judge validation only 50 sampled decisions/47 human agreements, not a statistical guarantee. Do not conflate its judge with the separate judge-audit paper. The semantic/authority paragraph is operational synthesis, not an experimental claim that every business requirement can be captured in a deterministic rule. Missing domain meaning and missing authorization are distinct; both can require additional context or an accountable human decision before execution. Clarified requirements should be encoded and tested where feasible. A successful execution check alone need not test those semantics, although a properly specified deterministic check can. A missing requirement in the agent’s view is not automatically genuine business ambiguity. First distinguish retrieval failure for an existing rule from a requirement that its accountable owner has not yet resolved. Permission uncertainty is a separate escalation condition. Human reference labels evaluate the policy in the audit; they are not required to choose whether a live case goes to review. The routing trigger is disagreement among the three model judges. As an operational recommendation, independently audit a sample of the cases they all accept because shared mistakes can survive unanimity. This recommendation is not a measured result of this audit.</a:t>
            </a:r>
          </a:p>
          <a:p xmlns:a="http://schemas.openxmlformats.org/drawingml/2006/main">
            <a:r>
              <a:t/>
            </a:r>
          </a:p>
          <a:p xmlns:a="http://schemas.openxmlformats.org/drawingml/2006/main">
            <a:r>
              <a:t>SOURCES</a:t>
            </a:r>
          </a:p>
          <a:p xmlns:a="http://schemas.openxmlformats.org/drawingml/2006/main">
            <a:r>
              <a:t>Production text-to-SQL judge audit, §§4–6</a:t>
            </a:r>
          </a:p>
          <a:p xmlns:a="http://schemas.openxmlformats.org/drawingml/2006/main">
            <a:r>
              <a:t>https://arxiv.org/html/2609.30290</a:t>
            </a:r>
          </a:p>
          <a:p xmlns:a="http://schemas.openxmlformats.org/drawingml/2006/main">
            <a:r>
              <a:t/>
            </a:r>
          </a:p>
          <a:p xmlns:a="http://schemas.openxmlformats.org/drawingml/2006/main">
            <a:r>
              <a:t>Engineering Reliable Coding Agents, chapter 5</a:t>
            </a:r>
          </a:p>
          <a:p xmlns:a="http://schemas.openxmlformats.org/drawingml/2006/main">
            <a:r>
              <a:t>https://www.sjarmak.ai/books/engineering-reliable-coding-agents/calibrating-model-graders-agreement-correctness</a:t>
            </a:r>
          </a:p>
          <a:p xmlns:a="http://schemas.openxmlformats.org/drawingml/2006/main">
            <a:r>
              <a:t/>
            </a:r>
          </a:p>
          <a:p xmlns:a="http://schemas.openxmlformats.org/drawingml/2006/main">
            <a:r>
              <a:t>Engineering Reliable Coding Agents, chapter 16</a:t>
            </a:r>
          </a:p>
          <a:p xmlns:a="http://schemas.openxmlformats.org/drawingml/2006/main">
            <a:r>
              <a:t>https://www.sjarmak.ai/books/engineering-reliable-coding-agents/verification-interfaces-risk-based-escalation</a:t>
            </a:r>
          </a:p>
          <a:p xmlns:a="http://schemas.openxmlformats.org/drawingml/2006/main">
            <a:r>
              <a:t/>
            </a:r>
          </a:p>
          <a:p xmlns:a="http://schemas.openxmlformats.org/drawingml/2006/main">
            <a:r>
              <a:t>FLINT, §4 and Appendices C/D</a:t>
            </a:r>
          </a:p>
          <a:p xmlns:a="http://schemas.openxmlformats.org/drawingml/2006/main">
            <a:r>
              <a:t>https://arxiv.org/html/2610.03524v1</a:t>
            </a:r>
          </a:p>
          <a:p xmlns:a="http://schemas.openxmlformats.org/drawingml/2006/main">
            <a:r>
              <a:t/>
            </a:r>
          </a:p>
          <a:p xmlns:a="http://schemas.openxmlformats.org/drawingml/2006/main">
            <a:r>
              <a:t>DELIVERY CUE</a:t>
            </a:r>
          </a:p>
          <a:p xmlns:a="http://schemas.openxmlformats.org/drawingml/2006/main">
            <a:r>
              <a:t>Distinguish human labels used for the audit from disagreement among model judges used to send cases to people. Higher agreement applies to the smaller automatic subset. Pause after the illustrative ten thousand reviews. Keep missing rules, unresolved requirements and missing authority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Some evidence needs another observer</a:t>
            </a:r>
          </a:p>
          <a:p xmlns:a="http://schemas.openxmlformats.org/drawingml/2006/main">
            <a:r>
              <a:t>12:35–14:05</a:t>
            </a:r>
          </a:p>
          <a:p xmlns:a="http://schemas.openxmlformats.org/drawingml/2006/main">
            <a:r>
              <a:t/>
            </a:r>
          </a:p>
          <a:p xmlns:a="http://schemas.openxmlformats.org/drawingml/2006/main">
            <a:r>
              <a:t>SPOKEN SCRIPT</a:t>
            </a:r>
          </a:p>
          <a:p xmlns:a="http://schemas.openxmlformats.org/drawingml/2006/main">
            <a:r>
              <a:t>An evaluator can only judge what it can observe.</a:t>
            </a:r>
          </a:p>
          <a:p xmlns:a="http://schemas.openxmlformats.org/drawingml/2006/main">
            <a:r>
              <a:t/>
            </a:r>
          </a:p>
          <a:p xmlns:a="http://schemas.openxmlformats.org/drawingml/2006/main">
            <a:r>
              <a:t>In a narrow, controlled Hearsay experiment, researchers inserted omissions and fabrications while a harness wrote its record. A hash chain checked whether entries changed afterward. It still passed all twenty-eight intervention runs. Comparing an independent record of model traffic with the harness record detected all twenty-eight.</a:t>
            </a:r>
          </a:p>
          <a:p xmlns:a="http://schemas.openxmlformats.org/drawingml/2006/main">
            <a:r>
              <a:t/>
            </a:r>
          </a:p>
          <a:p xmlns:a="http://schemas.openxmlformats.org/drawingml/2006/main">
            <a:r>
              <a:t>The hash chain couldn’t tell us what the writer left out.</a:t>
            </a:r>
          </a:p>
          <a:p xmlns:a="http://schemas.openxmlformats.org/drawingml/2006/main">
            <a:r>
              <a:t/>
            </a:r>
          </a:p>
          <a:p xmlns:a="http://schemas.openxmlformats.org/drawingml/2006/main">
            <a:r>
              <a:t>Catching every fault we inserted tells us about those faults under those conditions. We still need to check how well they represent failures we’ll encounter in use. Seeing model traffic doesn’t prove a tool executed correctly or a database changed as intended.</a:t>
            </a:r>
          </a:p>
          <a:p xmlns:a="http://schemas.openxmlformats.org/drawingml/2006/main">
            <a:r>
              <a:t/>
            </a:r>
          </a:p>
          <a:p xmlns:a="http://schemas.openxmlformats.org/drawingml/2006/main">
            <a:r>
              <a:t>Keep evidence of what reached the model, what tools did, and what state exists at the destination. Tie it to the exact run and artifact.</a:t>
            </a:r>
          </a:p>
          <a:p xmlns:a="http://schemas.openxmlformats.org/drawingml/2006/main">
            <a:r>
              <a:t/>
            </a:r>
          </a:p>
          <a:p xmlns:a="http://schemas.openxmlformats.org/drawingml/2006/main">
            <a:r>
              <a:t>For a security claim, I’d inject failures such as an omitted action, missing permission check or interrupted operation. Measure missed detections and false alarms.</a:t>
            </a:r>
          </a:p>
          <a:p xmlns:a="http://schemas.openxmlformats.org/drawingml/2006/main">
            <a:r>
              <a:t/>
            </a:r>
          </a:p>
          <a:p xmlns:a="http://schemas.openxmlformats.org/drawingml/2006/main">
            <a:r>
              <a:t>If we can’t observe whether the control worked, mark the result unverified. Decide what evidence would resolve it and whether work can safely continue during that check. For consequential actions, missing evidence may mean stopping or limiting the agent.</a:t>
            </a:r>
          </a:p>
          <a:p xmlns:a="http://schemas.openxmlformats.org/drawingml/2006/main">
            <a:r>
              <a:t/>
            </a:r>
          </a:p>
          <a:p xmlns:a="http://schemas.openxmlformats.org/drawingml/2006/main">
            <a:r>
              <a:t>PRESENTER REFERENCE</a:t>
            </a:r>
          </a:p>
          <a:p xmlns:a="http://schemas.openxmlformats.org/drawingml/2006/main">
            <a:r>
              <a:t>Hearsay main grid 5 harnesses × 14 tasks × 2 runs=140, one Sonnet 5 backing model. Decisive separate intervention only 28 aider runs: 14 omitted model replies, 14 fabricated test-run claims contemporaneously. Own hash chain verified 28/28; independent model-boundary log plus forward/reverse reconciliation reported 28/28. Not universal detection or a production-ready anomaly detector. Other edited-copy detector had severe false positives without clean twins (52/95 clean copies flagged); model-boundary witness does not establish physical tool execution, state truth, or resistance to operator compromise/bypass. Engineering synthesis requires distinct execution/state receipts. Author software-factory article describes completed fix 3 commits ahead of main, illustrating outcome/publication gap; no incident rate claimed. HarnessTester observed nested-list redaction bypass in saved history and upstream recursive-redaction fix; traces are also a software/security surface, not automatically safe evidence storage. Pinterest quality reporting represents validation gaps explicitly and gives definitions ownership/versioning/freshness/recertification; adoption or governance is not controlled proof of agent accuracy. Keep sensitive trace fields minimized and access-controlled. The final paragraph proposes controlled fault injection to measure an observer’s failure-detection ability and false alarms. It is not a claim that the Hearsay witness detects unavailable permission checks or interrupted operations, nor that any single receipt proves all execution or authorization properties. “Trust” is confined to a specific control, claim, test scope and observation boundary. Unknown or missing observations remain explicit; they do not count as passes. Recovery behavior and escalation/fallback suitability need separate outcome observations.</a:t>
            </a:r>
          </a:p>
          <a:p xmlns:a="http://schemas.openxmlformats.org/drawingml/2006/main">
            <a:r>
              <a:t/>
            </a:r>
          </a:p>
          <a:p xmlns:a="http://schemas.openxmlformats.org/drawingml/2006/main">
            <a:r>
              <a:t>SOURCES</a:t>
            </a:r>
          </a:p>
          <a:p xmlns:a="http://schemas.openxmlformats.org/drawingml/2006/main">
            <a:r>
              <a:t>Hearsay, §§4,6 and Table 2</a:t>
            </a:r>
          </a:p>
          <a:p xmlns:a="http://schemas.openxmlformats.org/drawingml/2006/main">
            <a:r>
              <a:t>https://arxiv.org/html/2609.32495</a:t>
            </a:r>
          </a:p>
          <a:p xmlns:a="http://schemas.openxmlformats.org/drawingml/2006/main">
            <a:r>
              <a:t/>
            </a:r>
          </a:p>
          <a:p xmlns:a="http://schemas.openxmlformats.org/drawingml/2006/main">
            <a:r>
              <a:t>Software factories are distributed systems</a:t>
            </a:r>
          </a:p>
          <a:p xmlns:a="http://schemas.openxmlformats.org/drawingml/2006/main">
            <a:r>
              <a:t>https://www.sjarmak.ai/writing/software-factories-are-distributed-systems/</a:t>
            </a:r>
          </a:p>
          <a:p xmlns:a="http://schemas.openxmlformats.org/drawingml/2006/main">
            <a:r>
              <a:t/>
            </a:r>
          </a:p>
          <a:p xmlns:a="http://schemas.openxmlformats.org/drawingml/2006/main">
            <a:r>
              <a:t>HarnessTester, §8.2</a:t>
            </a:r>
          </a:p>
          <a:p xmlns:a="http://schemas.openxmlformats.org/drawingml/2006/main">
            <a:r>
              <a:t>https://arxiv.org/html/2610.04921v1</a:t>
            </a:r>
          </a:p>
          <a:p xmlns:a="http://schemas.openxmlformats.org/drawingml/2006/main">
            <a:r>
              <a:t/>
            </a:r>
          </a:p>
          <a:p xmlns:a="http://schemas.openxmlformats.org/drawingml/2006/main">
            <a:r>
              <a:t>Pinterest Metrics Board</a:t>
            </a:r>
          </a:p>
          <a:p xmlns:a="http://schemas.openxmlformats.org/drawingml/2006/main">
            <a:r>
              <a:t>https://medium.com/pinterest-engineering/metrics-board-building-an-agent-ready-metrics-layer-2c8fefe68756</a:t>
            </a:r>
          </a:p>
          <a:p xmlns:a="http://schemas.openxmlformats.org/drawingml/2006/main">
            <a:r>
              <a:t/>
            </a:r>
          </a:p>
          <a:p xmlns:a="http://schemas.openxmlformats.org/drawingml/2006/main">
            <a:r>
              <a:t>Engineering Reliable Coding Agents, chapter 17</a:t>
            </a:r>
          </a:p>
          <a:p xmlns:a="http://schemas.openxmlformats.org/drawingml/2006/main">
            <a:r>
              <a:t>https://www.sjarmak.ai/books/engineering-reliable-coding-agents/autonomy-provenance-gates-accountability</a:t>
            </a:r>
          </a:p>
          <a:p xmlns:a="http://schemas.openxmlformats.org/drawingml/2006/main">
            <a:r>
              <a:t/>
            </a:r>
          </a:p>
          <a:p xmlns:a="http://schemas.openxmlformats.org/drawingml/2006/main">
            <a:r>
              <a:t>DELIVERY CUE</a:t>
            </a:r>
          </a:p>
          <a:p xmlns:a="http://schemas.openxmlformats.org/drawingml/2006/main">
            <a:r>
              <a:t>Give the two twenty-eight-run results clearly. Then distinguish what each observer can establish. The proposed injected failures extend the method, not the Hearsay findings. End with the next evidence check and a risk-based decision about continuing, limiting or stopping.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A retrieval upgrade: the experiment I would run</a:t>
            </a:r>
          </a:p>
          <a:p xmlns:a="http://schemas.openxmlformats.org/drawingml/2006/main">
            <a:r>
              <a:t>14:05–15:50</a:t>
            </a:r>
          </a:p>
          <a:p xmlns:a="http://schemas.openxmlformats.org/drawingml/2006/main">
            <a:r>
              <a:t/>
            </a:r>
          </a:p>
          <a:p xmlns:a="http://schemas.openxmlformats.org/drawingml/2006/main">
            <a:r>
              <a:t>SPOKEN SCRIPT</a:t>
            </a:r>
          </a:p>
          <a:p xmlns:a="http://schemas.openxmlformats.org/drawingml/2006/main">
            <a:r>
              <a:t>Should we deploy a retrieval upgrade? Here’s the experiment I’d run.</a:t>
            </a:r>
          </a:p>
          <a:p xmlns:a="http://schemas.openxmlformats.org/drawingml/2006/main">
            <a:r>
              <a:t/>
            </a:r>
          </a:p>
          <a:p xmlns:a="http://schemas.openxmlformats.org/drawingml/2006/main">
            <a:r>
              <a:t>Use representative work, including missing, stale and contradictory evidence. Set the quality requirement, worthwhile improvement and budget. Compare current and proposed systems from matched starting states.</a:t>
            </a:r>
          </a:p>
          <a:p xmlns:a="http://schemas.openxmlformats.org/drawingml/2006/main">
            <a:r>
              <a:t/>
            </a:r>
          </a:p>
          <a:p xmlns:a="http://schemas.openxmlformats.org/drawingml/2006/main">
            <a:r>
              <a:t>Then repeat both configurations on a representative subset. Use that variation to choose how many tasks and repeats the larger comparison needs. Keep non-use and failed attempts in the result.</a:t>
            </a:r>
          </a:p>
          <a:p xmlns:a="http://schemas.openxmlformats.org/drawingml/2006/main">
            <a:r>
              <a:t/>
            </a:r>
          </a:p>
          <a:p xmlns:a="http://schemas.openxmlformats.org/drawingml/2006/main">
            <a:r>
              <a:t>Trace the path: was the source available, retrieved, sufficient, and used? Try the two tests from earlier: clarify the search limits, then separately supply evidence we know is relevant.</a:t>
            </a:r>
          </a:p>
          <a:p xmlns:a="http://schemas.openxmlformats.org/drawingml/2006/main">
            <a:r>
              <a:t/>
            </a:r>
          </a:p>
          <a:p xmlns:a="http://schemas.openxmlformats.org/drawingml/2006/main">
            <a:r>
              <a:t>Challenge the evaluator with plausible defects and valid alternatives. Can someone who didn’t build this find the decisive evidence and catch deliberately introduced defects in the time they have?</a:t>
            </a:r>
          </a:p>
          <a:p xmlns:a="http://schemas.openxmlformats.org/drawingml/2006/main">
            <a:r>
              <a:t/>
            </a:r>
          </a:p>
          <a:p xmlns:a="http://schemas.openxmlformats.org/drawingml/2006/main">
            <a:r>
              <a:t>First, run alongside current work without taking live actions. Check answers independently and test state changes in isolation. After deployment, track completion and repair rates, latency and cost by task type and system version. Audit a random sample of accepted work as well as investigating failures. Compare traces with what actually changed and what customers received. Watch for changes in the workload. Decide in advance what should trigger intervention and who can restrict or roll back the system. Turn confirmed failures into regression tests, and keep checking whether the evaluator’s scores predict real outcomes.</a:t>
            </a:r>
          </a:p>
          <a:p xmlns:a="http://schemas.openxmlformats.org/drawingml/2006/main">
            <a:r>
              <a:t/>
            </a:r>
          </a:p>
          <a:p xmlns:a="http://schemas.openxmlformats.org/drawingml/2006/main">
            <a:r>
              <a:t>PRESENTER REFERENCE</a:t>
            </a:r>
          </a:p>
          <a:p xmlns:a="http://schemas.openxmlformats.org/drawingml/2006/main">
            <a:r>
              <a:t>Proposed method synthesized from sources; no claim the full protocol has been deployed, randomized or validated. Workload family/repository dependence requires appropriate uncertainty and sampling. Predeclare practically relevant effects and, for cost-saving deployment at maintained quality, a justified noninferiority/quality margin and sufficient evidence; a nonsignificant difference is not equality. Preserve separate valid-capability denominator and all-attempt operational denominator. Independent evidence is bounded by sensor coverage and source quality; it does not guarantee ground truth. Sourcegraph observed reward heterogeneity by repository size (−.080 below 400 kLOC, +.259 at 400 k–2 M); not a universal size threshold. Pinterest supports named ownership, validation coverage and recertification as a constructive operating model. Authority-boundary fault injection tests rejection/cancellation/timeout/missing dependencies and changed artifacts; passing injected tests estimates boundary behavior, not real incident frequency. Human review is a measured finite resource, not an automatic guarantee. The five-field decision record is described as implemented in the author’s fleet. Its attention-saving benefit is explicitly unmeasured; no comparative productivity claim is made. Testing whether a reviewer can locate decisive evidence and catch seeded defects, alongside time and repair effort, is a proposed evaluation of the verification interface. External cognitive-forcing evidence is not narrated as firsthand or universally effective. The decision record clarifies the consequential human question; it does not make missing evidence or authorization disappear. Pilot repeats should cover a representative subset under each compared configuration, rather than only failed cases. Observed pilot variation informs the allocation of tasks and repeats, but a small, stable pilot cannot establish that rare failures are absent. Predeclare the quality requirement, worthwhile effect and budget before the pilot comparison. Use pilot variation to plan task and repeat allocation, not to redefine a successful result after seeing scores. Parallel runs without live actions can check answers against observable sources, but cannot establish proposed destination-state effects. Test those effects in an isolated environment, or in a separately authorized and bounded live evaluation. Current-system destination evidence alone does not prove how the proposed system would change production state.</a:t>
            </a:r>
          </a:p>
          <a:p xmlns:a="http://schemas.openxmlformats.org/drawingml/2006/main">
            <a:r>
              <a:t/>
            </a:r>
          </a:p>
          <a:p xmlns:a="http://schemas.openxmlformats.org/drawingml/2006/main">
            <a:r>
              <a:t>SOURCES</a:t>
            </a:r>
          </a:p>
          <a:p xmlns:a="http://schemas.openxmlformats.org/drawingml/2006/main">
            <a:r>
              <a:t>Engineering Reliable Coding Agents, chapters 1–6 and closing</a:t>
            </a:r>
          </a:p>
          <a:p xmlns:a="http://schemas.openxmlformats.org/drawingml/2006/main">
            <a:r>
              <a:t>https://www.sjarmak.ai/books/engineering-reliable-coding-agents/closing</a:t>
            </a:r>
          </a:p>
          <a:p xmlns:a="http://schemas.openxmlformats.org/drawingml/2006/main">
            <a:r>
              <a:t/>
            </a:r>
          </a:p>
          <a:p xmlns:a="http://schemas.openxmlformats.org/drawingml/2006/main">
            <a:r>
              <a:t>Engineering Reliable Coding Agents, chapter 17</a:t>
            </a:r>
          </a:p>
          <a:p xmlns:a="http://schemas.openxmlformats.org/drawingml/2006/main">
            <a:r>
              <a:t>https://www.sjarmak.ai/books/engineering-reliable-coding-agents/autonomy-provenance-gates-accountability</a:t>
            </a:r>
          </a:p>
          <a:p xmlns:a="http://schemas.openxmlformats.org/drawingml/2006/main">
            <a:r>
              <a:t/>
            </a:r>
          </a:p>
          <a:p xmlns:a="http://schemas.openxmlformats.org/drawingml/2006/main">
            <a:r>
              <a:t>Pinterest Metrics Board</a:t>
            </a:r>
          </a:p>
          <a:p xmlns:a="http://schemas.openxmlformats.org/drawingml/2006/main">
            <a:r>
              <a:t>https://medium.com/pinterest-engineering/metrics-board-building-an-agent-ready-metrics-layer-2c8fefe68756</a:t>
            </a:r>
          </a:p>
          <a:p xmlns:a="http://schemas.openxmlformats.org/drawingml/2006/main">
            <a:r>
              <a:t/>
            </a:r>
          </a:p>
          <a:p xmlns:a="http://schemas.openxmlformats.org/drawingml/2006/main">
            <a:r>
              <a:t>Why coding agents fail in large codebases</a:t>
            </a:r>
          </a:p>
          <a:p xmlns:a="http://schemas.openxmlformats.org/drawingml/2006/main">
            <a:r>
              <a:t>https://sourcegraph.com/blog/why-coding-agents-fail-large-codebases</a:t>
            </a:r>
          </a:p>
          <a:p xmlns:a="http://schemas.openxmlformats.org/drawingml/2006/main">
            <a:r>
              <a:t/>
            </a:r>
          </a:p>
          <a:p xmlns:a="http://schemas.openxmlformats.org/drawingml/2006/main">
            <a:r>
              <a:t>Engineering Reliable Coding Agents, chapter 16: decision records and review effectiveness</a:t>
            </a:r>
          </a:p>
          <a:p xmlns:a="http://schemas.openxmlformats.org/drawingml/2006/main">
            <a:r>
              <a:t>https://www.sjarmak.ai/books/engineering-reliable-coding-agents/verification-interfaces-risk-based-escalation</a:t>
            </a:r>
          </a:p>
          <a:p xmlns:a="http://schemas.openxmlformats.org/drawingml/2006/main">
            <a:r>
              <a:t/>
            </a:r>
          </a:p>
          <a:p xmlns:a="http://schemas.openxmlformats.org/drawingml/2006/main">
            <a:r>
              <a:t>Google SRE: Monitoring Distributed Systems (monitoring principles)</a:t>
            </a:r>
          </a:p>
          <a:p xmlns:a="http://schemas.openxmlformats.org/drawingml/2006/main">
            <a:r>
              <a:t>https://sre.google/sre-book/monitoring-distributed-systems/</a:t>
            </a:r>
          </a:p>
          <a:p xmlns:a="http://schemas.openxmlformats.org/drawingml/2006/main">
            <a:r>
              <a:t/>
            </a:r>
          </a:p>
          <a:p xmlns:a="http://schemas.openxmlformats.org/drawingml/2006/main">
            <a:r>
              <a:t>Google SRE Workbook: Alerting on SLOs (alerting principles)</a:t>
            </a:r>
          </a:p>
          <a:p xmlns:a="http://schemas.openxmlformats.org/drawingml/2006/main">
            <a:r>
              <a:t>https://sre.google/workbook/alerting-on-slos/</a:t>
            </a:r>
          </a:p>
          <a:p xmlns:a="http://schemas.openxmlformats.org/drawingml/2006/main">
            <a:r>
              <a:t/>
            </a:r>
          </a:p>
          <a:p xmlns:a="http://schemas.openxmlformats.org/drawingml/2006/main">
            <a:r>
              <a:t>DELIVERY CUE</a:t>
            </a:r>
          </a:p>
          <a:p xmlns:a="http://schemas.openxmlformats.org/drawingml/2006/main">
            <a:r>
              <a:t>Use the same time budget: the monitoring loop replaces the decision-record aside. Ask for a challenger who did not build the change. Separate parallel answer checks from isolated state-change tests, then move through production outcomes, accepted-work audits, workload changes, named intervention and regression tests. The loop is proposed guidance, not a measured deployment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Make the next autonomy decision explicit</a:t>
            </a:r>
          </a:p>
          <a:p xmlns:a="http://schemas.openxmlformats.org/drawingml/2006/main">
            <a:r>
              <a:t>15:50–17:00</a:t>
            </a:r>
          </a:p>
          <a:p xmlns:a="http://schemas.openxmlformats.org/drawingml/2006/main">
            <a:r>
              <a:t/>
            </a:r>
          </a:p>
          <a:p xmlns:a="http://schemas.openxmlformats.org/drawingml/2006/main">
            <a:r>
              <a:t>SPOKEN SCRIPT</a:t>
            </a:r>
          </a:p>
          <a:p xmlns:a="http://schemas.openxmlformats.org/drawingml/2006/main">
            <a:r>
              <a:t>Would you switch now? What evidence are you still missing?</a:t>
            </a:r>
          </a:p>
          <a:p xmlns:a="http://schemas.openxmlformats.org/drawingml/2006/main">
            <a:r>
              <a:t/>
            </a:r>
          </a:p>
          <a:p xmlns:a="http://schemas.openxmlformats.org/drawingml/2006/main">
            <a:r>
              <a:t>I’d keep the cheaper change if it meets our quality and latency requirements, and review and repair don’t erase the savings. This comparison hasn’t established that.</a:t>
            </a:r>
          </a:p>
          <a:p xmlns:a="http://schemas.openxmlformats.org/drawingml/2006/main">
            <a:r>
              <a:t/>
            </a:r>
          </a:p>
          <a:p xmlns:a="http://schemas.openxmlformats.org/drawingml/2006/main">
            <a:r>
              <a:t>For the search failure, I’d test whether making the search limits explicit changes the agent’s conclusion, then check complete task outcomes. That’s a proposed test.</a:t>
            </a:r>
          </a:p>
          <a:p xmlns:a="http://schemas.openxmlformats.org/drawingml/2006/main">
            <a:r>
              <a:t/>
            </a:r>
          </a:p>
          <a:p xmlns:a="http://schemas.openxmlformats.org/drawingml/2006/main">
            <a:r>
              <a:t>More authority needs repeated success on representative work, tolerable failures and acceptable total cost. Name the additional action, scope and human check you’d remove. Test the evaluator and execution controls.</a:t>
            </a:r>
          </a:p>
          <a:p xmlns:a="http://schemas.openxmlformats.org/drawingml/2006/main">
            <a:r>
              <a:t/>
            </a:r>
          </a:p>
          <a:p xmlns:a="http://schemas.openxmlformats.org/drawingml/2006/main">
            <a:r>
              <a:t>If required evidence is missing, a gate fails or scope changes, stop and return the decision to its human owner, with options, evidence and uncertainty. That person owns acceptable risk and business priorities.</a:t>
            </a:r>
          </a:p>
          <a:p xmlns:a="http://schemas.openxmlformats.org/drawingml/2006/main">
            <a:r>
              <a:t/>
            </a:r>
          </a:p>
          <a:p xmlns:a="http://schemas.openxmlformats.org/drawingml/2006/main">
            <a:r>
              <a:t>I’ve linked the evaluation-design, traceability and reliability procedures for your next rollout.</a:t>
            </a:r>
          </a:p>
          <a:p xmlns:a="http://schemas.openxmlformats.org/drawingml/2006/main">
            <a:r>
              <a:t/>
            </a:r>
          </a:p>
          <a:p xmlns:a="http://schemas.openxmlformats.org/drawingml/2006/main">
            <a:r>
              <a:t>PRESENTER REFERENCE</a:t>
            </a:r>
          </a:p>
          <a:p xmlns:a="http://schemas.openxmlformats.org/drawingml/2006/main">
            <a:r>
              <a:t>Closing is the speaker's proposed synthesis. Do not say quality is unchanged merely because a quality test was nonsignificant. Cost-saving deployment requires evidence against a stated quality requirement/noninferiority margin. Apparent task gain also requires workload, observation and operational validation, so monitoring stays attached to the same accepted-outcome definition. The book companion distinguishes supported findings from thin-support leads; it contains 206 records (56 developed, 150 compact), 42 compact thin-support leads, not 206 validated practices. Safe task completion, unsafe completion, blocked failure and recovery remain distinct in any expanded rollout. Do not present ongoing monitoring as a guarantee. The closing returns to the preamble case, distinguishing observed lower cost from unestablished acceptable quality and persisting failure. It does not assert that the cost change was a validated efficiency improvement or that the proposed handoff repair was implemented. Closing is a proposed action-class-specific autonomy standard. It requires the team to name the additional action and operating scope, specify which human check changes, predeclare its evidential and economic bar, validate both judgment and execution controls, preserve stop/escalation conditions, and retain an accountable human owner for risk and conflicting values. No single score, numerical universal threshold or claimed production authority expansion is introduced. The linked user-owned coding-agent-workflows repository is already public. The agent-eval-design skill is a planning/design aid, not an evaluation runner; agent-harness-traceability specifies attempt identity, pairing and missing-versus-zero evidence; reliability-pass has prerequisites/dependencies including those skills and failure-mode-capture. These procedures do not prove reliability or promise immediate plug-and-play integration.</a:t>
            </a:r>
          </a:p>
          <a:p xmlns:a="http://schemas.openxmlformats.org/drawingml/2006/main">
            <a:r>
              <a:t/>
            </a:r>
          </a:p>
          <a:p xmlns:a="http://schemas.openxmlformats.org/drawingml/2006/main">
            <a:r>
              <a:t>SOURCES</a:t>
            </a:r>
          </a:p>
          <a:p xmlns:a="http://schemas.openxmlformats.org/drawingml/2006/main">
            <a:r>
              <a:t>Engineering Reliable Coding Agents, closing</a:t>
            </a:r>
          </a:p>
          <a:p xmlns:a="http://schemas.openxmlformats.org/drawingml/2006/main">
            <a:r>
              <a:t>https://www.sjarmak.ai/books/engineering-reliable-coding-agents/closing</a:t>
            </a:r>
          </a:p>
          <a:p xmlns:a="http://schemas.openxmlformats.org/drawingml/2006/main">
            <a:r>
              <a:t/>
            </a:r>
          </a:p>
          <a:p xmlns:a="http://schemas.openxmlformats.org/drawingml/2006/main">
            <a:r>
              <a:t>Engineering Reliable Coding Agents, companion</a:t>
            </a:r>
          </a:p>
          <a:p xmlns:a="http://schemas.openxmlformats.org/drawingml/2006/main">
            <a:r>
              <a:t>https://www.sjarmak.ai/books/engineering-reliable-coding-agents/companion</a:t>
            </a:r>
          </a:p>
          <a:p xmlns:a="http://schemas.openxmlformats.org/drawingml/2006/main">
            <a:r>
              <a:t/>
            </a:r>
          </a:p>
          <a:p xmlns:a="http://schemas.openxmlformats.org/drawingml/2006/main">
            <a:r>
              <a:t>Engineering Reliable Coding Agents, chapter 18</a:t>
            </a:r>
          </a:p>
          <a:p xmlns:a="http://schemas.openxmlformats.org/drawingml/2006/main">
            <a:r>
              <a:t>https://www.sjarmak.ai/books/engineering-reliable-coding-agents/agent-topology-dynamic-task-allocation</a:t>
            </a:r>
          </a:p>
          <a:p xmlns:a="http://schemas.openxmlformats.org/drawingml/2006/main">
            <a:r>
              <a:t/>
            </a:r>
          </a:p>
          <a:p xmlns:a="http://schemas.openxmlformats.org/drawingml/2006/main">
            <a:r>
              <a:t>Engineering Reliable Coding Agents, chapter 17</a:t>
            </a:r>
          </a:p>
          <a:p xmlns:a="http://schemas.openxmlformats.org/drawingml/2006/main">
            <a:r>
              <a:t>https://www.sjarmak.ai/books/engineering-reliable-coding-agents/autonomy-provenance-gates-accountability</a:t>
            </a:r>
          </a:p>
          <a:p xmlns:a="http://schemas.openxmlformats.org/drawingml/2006/main">
            <a:r>
              <a:t/>
            </a:r>
          </a:p>
          <a:p xmlns:a="http://schemas.openxmlformats.org/drawingml/2006/main">
            <a:r>
              <a:t>Engineering Reliable Coding Agents, chapter 16</a:t>
            </a:r>
          </a:p>
          <a:p xmlns:a="http://schemas.openxmlformats.org/drawingml/2006/main">
            <a:r>
              <a:t>https://www.sjarmak.ai/books/engineering-reliable-coding-agents/verification-interfaces-risk-based-escalation</a:t>
            </a:r>
          </a:p>
          <a:p xmlns:a="http://schemas.openxmlformats.org/drawingml/2006/main">
            <a:r>
              <a:t/>
            </a:r>
          </a:p>
          <a:p xmlns:a="http://schemas.openxmlformats.org/drawingml/2006/main">
            <a:r>
              <a:t>Public coding-agent-workflows repository: evaluation, traceability and reliability procedures</a:t>
            </a:r>
          </a:p>
          <a:p xmlns:a="http://schemas.openxmlformats.org/drawingml/2006/main">
            <a:r>
              <a:t>https://github.com/sjarmak/coding-agent-workflows</a:t>
            </a:r>
          </a:p>
          <a:p xmlns:a="http://schemas.openxmlformats.org/drawingml/2006/main">
            <a:r>
              <a:t/>
            </a:r>
          </a:p>
          <a:p xmlns:a="http://schemas.openxmlformats.org/drawingml/2006/main">
            <a:r>
              <a:t>FALLBACK ENDING</a:t>
            </a:r>
          </a:p>
          <a:p xmlns:a="http://schemas.openxmlformats.org/drawingml/2006/main">
            <a:r>
              <a:t>If time reaches 17:15 before the close, advance to slide 13 and say: My cheaper change still needs to meet the quality bar. The search repair still needs testing. Before expanding autonomy, name the action, scope and human check you’d remove. Require representative evidence and test the controls. If evidence is missing, a control fails or scope changes, stop and return the decision to its human owner. They own the risk and tradeoffs. I’ve linked the practical procedures for your next rollout.</a:t>
            </a:r>
          </a:p>
          <a:p xmlns:a="http://schemas.openxmlformats.org/drawingml/2006/main">
            <a:r>
              <a:t>After the fallback ending, advance to resource slide 14 and hold. No additional speech.</a:t>
            </a:r>
          </a:p>
          <a:p xmlns:a="http://schemas.openxmlformats.org/drawingml/2006/main">
            <a:r>
              <a:t/>
            </a:r>
          </a:p>
          <a:p xmlns:a="http://schemas.openxmlformats.org/drawingml/2006/main">
            <a:r>
              <a:t>DELIVERY CUE</a:t>
            </a:r>
          </a:p>
          <a:p xmlns:a="http://schemas.openxmlformats.org/drawingml/2006/main">
            <a:r>
              <a:t>Return to the audience’s original choice and pause briefly after the two questions. Give the conditional cost answer and proposed search test; acceptable quality is still unestablished. Then make the additional-action decision and human owner concrete. Advance to resources after the final sentence without added speech.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Evaluation procedures and references</a:t>
            </a:r>
          </a:p>
          <a:p xmlns:a="http://schemas.openxmlformats.org/drawingml/2006/main">
            <a:r>
              <a:t>17:00 · resources hold</a:t>
            </a:r>
          </a:p>
          <a:p xmlns:a="http://schemas.openxmlformats.org/drawingml/2006/main">
            <a:r>
              <a:t/>
            </a:r>
          </a:p>
          <a:p xmlns:a="http://schemas.openxmlformats.org/drawingml/2006/main">
            <a:r>
              <a:t>SPOKEN SCRIPT</a:t>
            </a:r>
          </a:p>
          <a:p xmlns:a="http://schemas.openxmlformats.org/drawingml/2006/main">
            <a:r>
              <a:t/>
            </a:r>
          </a:p>
          <a:p xmlns:a="http://schemas.openxmlformats.org/drawingml/2006/main">
            <a:r>
              <a:t/>
            </a:r>
          </a:p>
          <a:p xmlns:a="http://schemas.openxmlformats.org/drawingml/2006/main">
            <a:r>
              <a:t>PRESENTER REFERENCE</a:t>
            </a:r>
          </a:p>
          <a:p xmlns:a="http://schemas.openxmlformats.org/drawingml/2006/main">
            <a:r>
              <a:t>Resources bookend. The public repository contains the three linked evaluation-design, harness-traceability and reliability procedures. The arXiv record identifies the monograph as Engineering Reliable Coding Agents: Evaluating and Operating the System Around the Model, by Stephanie Jarmak, submitted 14 August 2026. The online book is also linked. The evaluation-design skill supports planning rather than running an evaluation. Traceability and reliability procedures require target-environment implementation and their documented dependencies; they do not establish reliability by themselves. The arXiv link is to the monograph; individual empirical results retain their specific sources in the preceding notes. The QR code opens the public coding-agent-workflows repository; its readable URL is provided alongside it.</a:t>
            </a:r>
          </a:p>
          <a:p xmlns:a="http://schemas.openxmlformats.org/drawingml/2006/main">
            <a:r>
              <a:t/>
            </a:r>
          </a:p>
          <a:p xmlns:a="http://schemas.openxmlformats.org/drawingml/2006/main">
            <a:r>
              <a:t>SOURCES</a:t>
            </a:r>
          </a:p>
          <a:p xmlns:a="http://schemas.openxmlformats.org/drawingml/2006/main">
            <a:r>
              <a:t>Coding Agent Workflows</a:t>
            </a:r>
          </a:p>
          <a:p xmlns:a="http://schemas.openxmlformats.org/drawingml/2006/main">
            <a:r>
              <a:t>https://github.com/sjarmak/coding-agent-workflows</a:t>
            </a:r>
          </a:p>
          <a:p xmlns:a="http://schemas.openxmlformats.org/drawingml/2006/main">
            <a:r>
              <a:t/>
            </a:r>
          </a:p>
          <a:p xmlns:a="http://schemas.openxmlformats.org/drawingml/2006/main">
            <a:r>
              <a:t>Evaluation design · agent-eval-design</a:t>
            </a:r>
          </a:p>
          <a:p xmlns:a="http://schemas.openxmlformats.org/drawingml/2006/main">
            <a:r>
              <a:t>https://github.com/sjarmak/coding-agent-workflows/blob/main/source/skills/agent-eval-design/SKILL.md</a:t>
            </a:r>
          </a:p>
          <a:p xmlns:a="http://schemas.openxmlformats.org/drawingml/2006/main">
            <a:r>
              <a:t/>
            </a:r>
          </a:p>
          <a:p xmlns:a="http://schemas.openxmlformats.org/drawingml/2006/main">
            <a:r>
              <a:t>Harness traceability · agent-harness-traceability</a:t>
            </a:r>
          </a:p>
          <a:p xmlns:a="http://schemas.openxmlformats.org/drawingml/2006/main">
            <a:r>
              <a:t>https://github.com/sjarmak/coding-agent-workflows/blob/main/source/skills/agent-harness-traceability/SKILL.md</a:t>
            </a:r>
          </a:p>
          <a:p xmlns:a="http://schemas.openxmlformats.org/drawingml/2006/main">
            <a:r>
              <a:t/>
            </a:r>
          </a:p>
          <a:p xmlns:a="http://schemas.openxmlformats.org/drawingml/2006/main">
            <a:r>
              <a:t>Reliability procedures · reliability-pass</a:t>
            </a:r>
          </a:p>
          <a:p xmlns:a="http://schemas.openxmlformats.org/drawingml/2006/main">
            <a:r>
              <a:t>https://github.com/sjarmak/coding-agent-workflows/blob/main/source/skills/reliability-pass/SKILL.md</a:t>
            </a:r>
          </a:p>
          <a:p xmlns:a="http://schemas.openxmlformats.org/drawingml/2006/main">
            <a:r>
              <a:t/>
            </a:r>
          </a:p>
          <a:p xmlns:a="http://schemas.openxmlformats.org/drawingml/2006/main">
            <a:r>
              <a:t>Engineering Reliable Coding Agents: Evaluating and Operating the System Around the Model · online book</a:t>
            </a:r>
          </a:p>
          <a:p xmlns:a="http://schemas.openxmlformats.org/drawingml/2006/main">
            <a:r>
              <a:t>https://www.sjarmak.ai/books/engineering-reliable-coding-agents</a:t>
            </a:r>
          </a:p>
          <a:p xmlns:a="http://schemas.openxmlformats.org/drawingml/2006/main">
            <a:r>
              <a:t/>
            </a:r>
          </a:p>
          <a:p xmlns:a="http://schemas.openxmlformats.org/drawingml/2006/main">
            <a:r>
              <a:t>Engineering Reliable Coding Agents: Evaluating and Operating the System Around the Model · arXiv:2608.13867</a:t>
            </a:r>
          </a:p>
          <a:p xmlns:a="http://schemas.openxmlformats.org/drawingml/2006/main">
            <a:r>
              <a:t>https://arxiv.org/abs/2608.13867</a:t>
            </a:r>
          </a:p>
          <a:p xmlns:a="http://schemas.openxmlformats.org/drawingml/2006/main">
            <a:r>
              <a:t/>
            </a:r>
          </a:p>
          <a:p xmlns:a="http://schemas.openxmlformats.org/drawingml/2006/main">
            <a:r>
              <a:t>DELIVERY CUE</a:t>
            </a:r>
          </a:p>
          <a:p xmlns:a="http://schemas.openxmlformats.org/drawingml/2006/main">
            <a:r>
              <a:t>After the exact final sentence on slide 13, advance here and hold the links/QR on screen. No additional spoken explanation; finish within the same 17-minute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b7079105ba4e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57e1769b1f4e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0ebc343e5b48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056a0526ed4f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f599b6586a4e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f271fd53b4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4E2475-2A42-4199-B8A6-7BBFA281E5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D61BE7-6F26-491F-9741-3C3713C3EA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79E4A8-F75E-4F65-8B87-C6700A5E10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06263B-16E1-4D28-B4D9-00B19F2F91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73CA6A6-E9E7-4DAD-B445-C4918E5A13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BAB524-ED3A-4081-B0CD-41E7CFCCD5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74CCB3-EF1B-450B-811F-9B8AC2465B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31864E-D9C7-40B5-8C0A-7360E40736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690CE-AD15-4F84-A7F6-B88FC063E0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4DF931-DC60-46EE-8622-528A0092C9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ebfbeaac3a4e2a" /><Relationship Type="http://schemas.openxmlformats.org/officeDocument/2006/relationships/slideLayout" Target="/ppt/slideLayouts/slideLayout1.xml" Id="Re9de46423d7d4fdd" /><Relationship Type="http://schemas.openxmlformats.org/officeDocument/2006/relationships/slideLayout" Target="/ppt/slideLayouts/slideLayout2.xml" Id="Rdb5532dfc33848a4" /><Relationship Type="http://schemas.openxmlformats.org/officeDocument/2006/relationships/slideLayout" Target="/ppt/slideLayouts/slideLayout3.xml" Id="R089979f24b914e22" /><Relationship Type="http://schemas.openxmlformats.org/officeDocument/2006/relationships/slideLayout" Target="/ppt/slideLayouts/slideLayout4.xml" Id="R60f14d8183914682" /><Relationship Type="http://schemas.openxmlformats.org/officeDocument/2006/relationships/slideLayout" Target="/ppt/slideLayouts/slideLayout5.xml" Id="Rf9852399bb0b4b3e" /><Relationship Type="http://schemas.openxmlformats.org/officeDocument/2006/relationships/slideLayout" Target="/ppt/slideLayouts/slideLayout6.xml" Id="R7b923c789aba4f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de46423d7d4fdd"/>
    <p:sldLayoutId xmlns:r="http://schemas.openxmlformats.org/officeDocument/2006/relationships" id="2147483650" r:id="Rdb5532dfc33848a4"/>
    <p:sldLayoutId xmlns:r="http://schemas.openxmlformats.org/officeDocument/2006/relationships" id="2147483651" r:id="R089979f24b914e22"/>
    <p:sldLayoutId xmlns:r="http://schemas.openxmlformats.org/officeDocument/2006/relationships" id="2147483652" r:id="R60f14d8183914682"/>
    <p:sldLayoutId xmlns:r="http://schemas.openxmlformats.org/officeDocument/2006/relationships" id="2147483653" r:id="Rf9852399bb0b4b3e"/>
    <p:sldLayoutId xmlns:r="http://schemas.openxmlformats.org/officeDocument/2006/relationships" id="2147483654" r:id="R7b923c789aba4f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jarmak.ai paper and orange">
      <a:dk1>
        <a:srgbClr val="241B13"/>
      </a:dk1>
      <a:lt1>
        <a:srgbClr val="F7F3EB"/>
      </a:lt1>
      <a:dk2>
        <a:srgbClr val="4A4039"/>
      </a:dk2>
      <a:lt2>
        <a:srgbClr val="FDFAF4"/>
      </a:lt2>
      <a:accent1>
        <a:srgbClr val="C75E00"/>
      </a:accent1>
      <a:accent2>
        <a:srgbClr val="4A4039"/>
      </a:accent2>
      <a:accent3>
        <a:srgbClr val="657B67"/>
      </a:accent3>
      <a:accent4>
        <a:srgbClr val="766D62"/>
      </a:accent4>
      <a:accent5>
        <a:srgbClr val="EBE6DC"/>
      </a:accent5>
      <a:accent6>
        <a:srgbClr val="DDD7CC"/>
      </a:accent6>
      <a:hlink>
        <a:srgbClr val="C75E00"/>
      </a:hlink>
      <a:folHlink>
        <a:srgbClr val="C75E00"/>
      </a:folHlink>
    </a:clrScheme>
    <a:fontScheme name="">
      <a:majorFont>
        <a:latin typeface="Hanken Grotesk"/>
        <a:ea typeface=""/>
        <a:cs typeface=""/>
      </a:majorFont>
      <a:minorFont>
        <a:latin typeface="Hanken Grotesk"/>
        <a:ea typeface=""/>
        <a:cs typeface=""/>
      </a:minorFont>
    </a:fontScheme>
    <a:fmtScheme name="sjarmak.ai paper and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a25f36442d44c3" /><Relationship Type="http://schemas.openxmlformats.org/officeDocument/2006/relationships/hyperlink" Target="https://www.sjarmak.ai" TargetMode="External" Id="R9ee4bda621cf48d2" /><Relationship Type="http://schemas.openxmlformats.org/officeDocument/2006/relationships/notesSlide" Target="/ppt/notesSlides/notesSlide1.xml" Id="Re28e8e2fbf1346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83ad3b59f04983" /><Relationship Type="http://schemas.openxmlformats.org/officeDocument/2006/relationships/hyperlink" Target="https://www.sjarmak.ai/books/engineering-reliable-coding-agents/agent-topology-dynamic-task-allocation" TargetMode="External" Id="R030eef83cce049b0" /><Relationship Type="http://schemas.openxmlformats.org/officeDocument/2006/relationships/notesSlide" Target="/ppt/notesSlides/notesSlide2.xml" Id="Rcdac498f758f41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5f589f5f174ebf" /><Relationship Type="http://schemas.openxmlformats.org/officeDocument/2006/relationships/hyperlink" Target="https://arxiv.org/html/2610.00917" TargetMode="External" Id="R80ef6cc02b2643c9" /><Relationship Type="http://schemas.openxmlformats.org/officeDocument/2006/relationships/hyperlink" Target="https://arxiv.org/html/2610.00651" TargetMode="External" Id="Rce8c1af17c98425e" /><Relationship Type="http://schemas.openxmlformats.org/officeDocument/2006/relationships/chart" Target="/ppt/slides/charts/chart1.xml" Id="Rb65ab35b7af04fba" /><Relationship Type="http://schemas.openxmlformats.org/officeDocument/2006/relationships/notesSlide" Target="/ppt/notesSlides/notesSlide3.xml" Id="Rdd41f4dd26ad40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287f642b594b7f" /><Relationship Type="http://schemas.openxmlformats.org/officeDocument/2006/relationships/hyperlink" Target="https://www.sjarmak.ai/books/engineering-reliable-coding-agents/baselines-ablations-cost-accuracy" TargetMode="External" Id="Re36392e254b34748" /><Relationship Type="http://schemas.openxmlformats.org/officeDocument/2006/relationships/notesSlide" Target="/ppt/notesSlides/notesSlide4.xml" Id="Rdde65e268b9c4e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2bb5b4dcaf4d32" /><Relationship Type="http://schemas.openxmlformats.org/officeDocument/2006/relationships/hyperlink" Target="https://www.sjarmak.ai/books/engineering-reliable-coding-agents/variance-power-paired-comparisons" TargetMode="External" Id="R0f9e4b6073eb41f7" /><Relationship Type="http://schemas.openxmlformats.org/officeDocument/2006/relationships/hyperlink" Target="https://arxiv.org/html/2610.00651" TargetMode="External" Id="R5eefb7e63eb3491c" /><Relationship Type="http://schemas.openxmlformats.org/officeDocument/2006/relationships/notesSlide" Target="/ppt/notesSlides/notesSlide5.xml" Id="R98b2caa8277049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688a230b594bb4" /><Relationship Type="http://schemas.openxmlformats.org/officeDocument/2006/relationships/hyperlink" Target="https://www.sjarmak.ai/books/engineering-reliable-coding-agents/agent-topology-dynamic-task-allocation" TargetMode="External" Id="Rf5338c6c29164163" /><Relationship Type="http://schemas.openxmlformats.org/officeDocument/2006/relationships/notesSlide" Target="/ppt/notesSlides/notesSlide6.xml" Id="Ref71c127c17944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9b1a48447a040e1" /><Relationship Type="http://schemas.openxmlformats.org/officeDocument/2006/relationships/hyperlink" Target="https://arxiv.org/html/2610.01348v1" TargetMode="External" Id="R33e229b918a24b17" /><Relationship Type="http://schemas.openxmlformats.org/officeDocument/2006/relationships/hyperlink" Target="https://www.sjarmak.ai/books/engineering-reliable-coding-agents/baselines-ablations-cost-accuracy" TargetMode="External" Id="Rc86d0d2d7d5c43aa" /><Relationship Type="http://schemas.openxmlformats.org/officeDocument/2006/relationships/notesSlide" Target="/ppt/notesSlides/notesSlide7.xml" Id="R1c22eddb05fb41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bb2f06630d54711" /><Relationship Type="http://schemas.openxmlformats.org/officeDocument/2006/relationships/hyperlink" Target="https://github.com/sjarmak/codeprobe/blob/2495927394414509f707601f1b3f22b29b158f62/docs/investigations/codeprobe-x7p3/per_trial.json" TargetMode="External" Id="Rcd4ef88c05434085" /><Relationship Type="http://schemas.openxmlformats.org/officeDocument/2006/relationships/notesSlide" Target="/ppt/notesSlides/notesSlide8.xml" Id="R1f0993e528234b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8f10497119451f" /><Relationship Type="http://schemas.openxmlformats.org/officeDocument/2006/relationships/hyperlink" Target="https://www.sjarmak.ai/books/engineering-reliable-coding-agents/autonomy-provenance-gates-accountability" TargetMode="External" Id="R19011a26164a4fb0" /><Relationship Type="http://schemas.openxmlformats.org/officeDocument/2006/relationships/notesSlide" Target="/ppt/notesSlides/notesSlide9.xml" Id="R19e9a01dda7942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e7ddce1f7c4c6a" /><Relationship Type="http://schemas.openxmlformats.org/officeDocument/2006/relationships/hyperlink" Target="https://arxiv.org/html/2609.30290" TargetMode="External" Id="R5df156aeb16642cf" /><Relationship Type="http://schemas.openxmlformats.org/officeDocument/2006/relationships/hyperlink" Target="https://arxiv.org/html/2610.03524v1" TargetMode="External" Id="R75fda3a5635d43bd" /><Relationship Type="http://schemas.openxmlformats.org/officeDocument/2006/relationships/notesSlide" Target="/ppt/notesSlides/notesSlide10.xml" Id="Rdac7d5a1ba7241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70604bff61c4ffa" /><Relationship Type="http://schemas.openxmlformats.org/officeDocument/2006/relationships/hyperlink" Target="https://arxiv.org/html/2609.32495" TargetMode="External" Id="R511b93a9712d4f60" /><Relationship Type="http://schemas.openxmlformats.org/officeDocument/2006/relationships/notesSlide" Target="/ppt/notesSlides/notesSlide11.xml" Id="R4e091a02cd314061" /></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b28bc2566fc24970"/><Relationship Type="http://schemas.openxmlformats.org/officeDocument/2006/relationships/hyperlink" Target="https://www.sjarmak.ai/books/engineering-reliable-coding-agents/verification-interfaces-risk-based-escalation" TargetMode="External" Id="R7b7add17f6d54454"/><Relationship Type="http://schemas.openxmlformats.org/officeDocument/2006/relationships/notesSlide" Target="/ppt/notesSlides/notesSlide12.xml" Id="Re0df23eab9bc4e91"/><Relationship Id="audienceSource4" Type="http://schemas.openxmlformats.org/officeDocument/2006/relationships/hyperlink" Target="https://sre.google/sre-book/monitoring-distributed-systems/" TargetMode="External"/><Relationship Id="audienceSource5" Type="http://schemas.openxmlformats.org/officeDocument/2006/relationships/hyperlink" Target="https://sre.google/workbook/alerting-on-slos/" TargetMode="External"/></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aeba07d1d3d4e57" /><Relationship Type="http://schemas.openxmlformats.org/officeDocument/2006/relationships/hyperlink" Target="https://www.sjarmak.ai/books/engineering-reliable-coding-agents/closing" TargetMode="External" Id="R2db9c775b3674d9b" /><Relationship Type="http://schemas.openxmlformats.org/officeDocument/2006/relationships/notesSlide" Target="/ppt/notesSlides/notesSlide13.xml" Id="R5bf313b5a2a543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95756d5bfab475f" /><Relationship Type="http://schemas.openxmlformats.org/officeDocument/2006/relationships/image" Target="/ppt/media/image.png" Id="R11fb5c320b734c92" /><Relationship Type="http://schemas.openxmlformats.org/officeDocument/2006/relationships/hyperlink" Target="https://github.com/sjarmak/coding-agent-workflows" TargetMode="External" Id="R21f7e72e533b42dd" /><Relationship Type="http://schemas.openxmlformats.org/officeDocument/2006/relationships/hyperlink" Target="https://github.com/sjarmak/coding-agent-workflows" TargetMode="External" Id="Rc282214f4a724492" /><Relationship Type="http://schemas.openxmlformats.org/officeDocument/2006/relationships/hyperlink" Target="https://github.com/sjarmak/coding-agent-workflows/blob/main/source/skills/agent-eval-design/SKILL.md" TargetMode="External" Id="Ra427ea2b31d746f3" /><Relationship Type="http://schemas.openxmlformats.org/officeDocument/2006/relationships/hyperlink" Target="https://github.com/sjarmak/coding-agent-workflows/blob/main/source/skills/agent-harness-traceability/SKILL.md" TargetMode="External" Id="R4f815d8e9bb9415d" /><Relationship Type="http://schemas.openxmlformats.org/officeDocument/2006/relationships/hyperlink" Target="https://github.com/sjarmak/coding-agent-workflows/blob/main/source/skills/reliability-pass/SKILL.md" TargetMode="External" Id="R66c2c6f3533f4ac8" /><Relationship Type="http://schemas.openxmlformats.org/officeDocument/2006/relationships/hyperlink" Target="https://www.sjarmak.ai/books/engineering-reliable-coding-agents" TargetMode="External" Id="Ra89a2ed5d8d44a87" /><Relationship Type="http://schemas.openxmlformats.org/officeDocument/2006/relationships/hyperlink" Target="https://arxiv.org/abs/2608.13867" TargetMode="External" Id="R48123f1f09b64c26" /><Relationship Type="http://schemas.openxmlformats.org/officeDocument/2006/relationships/notesSlide" Target="/ppt/notesSlides/notesSlide14.xml" Id="R909c93ddb6af472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Claude Opus 5</c:v>
          </c:tx>
          <c:spPr>
            <a:solidFill xmlns:a="http://schemas.openxmlformats.org/drawingml/2006/main">
              <a:srgbClr val="4A4039"/>
            </a:solidFill>
          </c:spPr>
          <c:dLbls>
            <c:dLbl>
              <c:idx val="0"/>
              <c:tx>
                <c:rich>
                  <a:bodyPr xmlns:a="http://schemas.openxmlformats.org/drawingml/2006/main"/>
                  <a:lstStyle xmlns:a="http://schemas.openxmlformats.org/drawingml/2006/main"/>
                  <a:p xmlns:a="http://schemas.openxmlformats.org/drawingml/2006/main">
                    <a:r>
                      <a:rPr/>
                      <a:t>36/63 (57.1%)</a:t>
                    </a:r>
                  </a:p>
                </c:rich>
              </c:tx>
              <c:dLblPos val="outEnd"/>
              <c:showVal val="0"/>
            </c:dLbl>
            <c:dLbl>
              <c:idx val="1"/>
              <c:tx>
                <c:rich>
                  <a:bodyPr xmlns:a="http://schemas.openxmlformats.org/drawingml/2006/main"/>
                  <a:lstStyle xmlns:a="http://schemas.openxmlformats.org/drawingml/2006/main"/>
                  <a:p xmlns:a="http://schemas.openxmlformats.org/drawingml/2006/main">
                    <a:r>
                      <a:rPr/>
                      <a:t>19/63 (30.2%)</a:t>
                    </a:r>
                  </a:p>
                </c:rich>
              </c:tx>
              <c:dLblPos val="outEnd"/>
              <c:showVal val="0"/>
            </c:dLbl>
          </c:dLbls>
          <c:cat>
            <c:strRef>
              <c:f>'Chart Data'!$A$2:$A$3</c:f>
              <c:strCache>
                <c:ptCount val="2"/>
                <c:pt idx="0">
                  <c:v>OpenHands</c:v>
                </c:pt>
                <c:pt idx="1">
                  <c:v>PI</c:v>
                </c:pt>
              </c:strCache>
            </c:strRef>
          </c:cat>
          <c:val>
            <c:numRef>
              <c:f>'Chart Data'!$B$2:$B$3</c:f>
              <c:numCache>
                <c:formatCode>0%</c:formatCode>
                <c:ptCount val="2"/>
                <c:pt idx="0">
                  <c:v>0.57142857</c:v>
                </c:pt>
                <c:pt idx="1">
                  <c:v>0.3015873</c:v>
                </c:pt>
              </c:numCache>
            </c:numRef>
          </c:val>
        </c:ser>
        <c:ser>
          <c:idx val="1"/>
          <c:order val="1"/>
          <c:tx>
            <c:v>GPT-6 Astra</c:v>
          </c:tx>
          <c:spPr>
            <a:solidFill xmlns:a="http://schemas.openxmlformats.org/drawingml/2006/main">
              <a:srgbClr val="C75E00"/>
            </a:solidFill>
          </c:spPr>
          <c:dLbls>
            <c:dLbl>
              <c:idx val="0"/>
              <c:tx>
                <c:rich>
                  <a:bodyPr xmlns:a="http://schemas.openxmlformats.org/drawingml/2006/main"/>
                  <a:lstStyle xmlns:a="http://schemas.openxmlformats.org/drawingml/2006/main"/>
                  <a:p xmlns:a="http://schemas.openxmlformats.org/drawingml/2006/main">
                    <a:r>
                      <a:rPr/>
                      <a:t>31/63 (49.2%)</a:t>
                    </a:r>
                  </a:p>
                </c:rich>
              </c:tx>
              <c:dLblPos val="outEnd"/>
              <c:showVal val="0"/>
            </c:dLbl>
            <c:dLbl>
              <c:idx val="1"/>
              <c:tx>
                <c:rich>
                  <a:bodyPr xmlns:a="http://schemas.openxmlformats.org/drawingml/2006/main"/>
                  <a:lstStyle xmlns:a="http://schemas.openxmlformats.org/drawingml/2006/main"/>
                  <a:p xmlns:a="http://schemas.openxmlformats.org/drawingml/2006/main">
                    <a:r>
                      <a:rPr/>
                      <a:t>38/63 (60.3%)</a:t>
                    </a:r>
                  </a:p>
                </c:rich>
              </c:tx>
              <c:dLblPos val="outEnd"/>
              <c:showVal val="0"/>
            </c:dLbl>
          </c:dLbls>
          <c:cat>
            <c:strRef>
              <c:f>'Chart Data'!$C$2:$C$3</c:f>
              <c:strCache>
                <c:ptCount val="2"/>
                <c:pt idx="0">
                  <c:v>OpenHands</c:v>
                </c:pt>
                <c:pt idx="1">
                  <c:v>PI</c:v>
                </c:pt>
              </c:strCache>
            </c:strRef>
          </c:cat>
          <c:val>
            <c:numRef>
              <c:f>'Chart Data'!$D$2:$D$3</c:f>
              <c:numCache>
                <c:formatCode>0%</c:formatCode>
                <c:ptCount val="2"/>
                <c:pt idx="0">
                  <c:v>0.49206349</c:v>
                </c:pt>
                <c:pt idx="1">
                  <c:v>0.6031746</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241B13"/>
                  </a:solidFill>
                  <a:latin typeface="Hanken Grotesk"/>
                  <a:ea typeface="Hanken Grotesk"/>
                  <a:cs typeface="Hanken Grotesk"/>
                </a:defRPr>
              </a:pPr>
            </a:p>
          </c:txPr>
          <c:dLblPos val="outEnd"/>
          <c:showLegendKey val="0"/>
          <c:showVal val="0"/>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7CC"/>
            </a:solidFill>
          </a:ln>
        </c:spPr>
        <c:txPr>
          <a:bodyPr xmlns:a="http://schemas.openxmlformats.org/drawingml/2006/main" anchorCtr="1"/>
          <a:lstStyle xmlns:a="http://schemas.openxmlformats.org/drawingml/2006/main"/>
          <a:p xmlns:a="http://schemas.openxmlformats.org/drawingml/2006/main">
            <a:pPr>
              <a:defRPr sz="1800">
                <a:solidFill>
                  <a:srgbClr val="241B13"/>
                </a:solidFill>
                <a:latin typeface="Hanken Grotesk"/>
                <a:ea typeface="Hanken Grotesk"/>
                <a:cs typeface="Hanken Grotesk"/>
              </a:defRPr>
            </a:pPr>
          </a:p>
        </c:txPr>
        <c:crossAx val="48672768"/>
      </c:catAx>
      <c:valAx>
        <c:axId val="48672768"/>
        <c:scaling>
          <c:orientation val="minMax"/>
          <c:max val="1"/>
          <c:min val="0"/>
        </c:scaling>
        <c:delete val="0"/>
        <c:axPos val="l"/>
        <c:majorGridlines>
          <c:spPr>
            <a:ln xmlns:a="http://schemas.openxmlformats.org/drawingml/2006/main" w="9525">
              <a:solidFill>
                <a:srgbClr val="DDD7C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766D62"/>
                </a:solidFill>
                <a:latin typeface="Hanken Grotesk"/>
                <a:ea typeface="Hanken Grotesk"/>
                <a:cs typeface="Hanken Grotesk"/>
              </a:defRPr>
            </a:pPr>
          </a:p>
        </c:txPr>
        <c:crossAx val="48650112"/>
        <c:crossBetween val="between"/>
        <c:majorUnit val="0.25"/>
      </c:valAx>
      <c:spPr>
        <a:solidFill xmlns:a="http://schemas.openxmlformats.org/drawingml/2006/main">
          <a:srgbClr val="F7F3EB"/>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4A4039"/>
              </a:solidFill>
              <a:latin typeface="Hanken Grotesk"/>
              <a:ea typeface="Hanken Grotesk"/>
              <a:cs typeface="Hanken Grotesk"/>
            </a:defRPr>
          </a:pPr>
        </a:p>
      </c:txPr>
    </c:legend>
    <c:plotVisOnly val="1"/>
  </c:chart>
  <c:spPr>
    <a:solidFill xmlns:a="http://schemas.openxmlformats.org/drawingml/2006/main">
      <a:srgbClr val="F7F3E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9" name="AIE NYC · OCTOBER 13, 2026">
            <a:extLst xmlns:a="http://schemas.openxmlformats.org/drawingml/2006/main">
              <a:ext uri="{FF2B5EF4-FFF2-40B4-BE49-F238E27FC236}">
                <a16:creationId xmlns:a16="http://schemas.microsoft.com/office/drawing/2014/main" id="{B1002947-3C1C-46BA-A121-20F9AF46B9B0}"/>
              </a:ext>
            </a:extLst>
          </p:cNvPr>
          <p:cNvSpPr>
            <a:spLocks xmlns:a="http://schemas.openxmlformats.org/drawingml/2006/main" noGrp="1"/>
          </p:cNvSpPr>
          <p:nvPr/>
        </p:nvSpPr>
        <p:spPr>
          <a:xfrm xmlns:a="http://schemas.openxmlformats.org/drawingml/2006/main">
            <a:off x="609600" y="638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C75E00"/>
                </a:solidFill>
                <a:latin typeface="Hanken Grotesk"/>
                <a:ea typeface="Hanken Grotesk"/>
                <a:cs typeface="Hanken Grotesk"/>
              </a:defRPr>
            </a:defPPr>
          </a:lstStyle>
          <a:p xmlns:a="http://schemas.openxmlformats.org/drawingml/2006/main">
            <a:pPr algn="l">
              <a:lnSpc>
                <a:spcPct val="110000"/>
              </a:lnSpc>
              <a:buNone/>
              <a:defRPr sz="1500" b="1">
                <a:solidFill>
                  <a:srgbClr val="C75E00"/>
                </a:solidFill>
                <a:latin typeface="Hanken Grotesk"/>
                <a:ea typeface="Hanken Grotesk"/>
                <a:cs typeface="Hanken Grotesk"/>
              </a:defRPr>
            </a:pPr>
            <a:r>
              <a:rPr sz="1500" b="1">
                <a:solidFill>
                  <a:srgbClr val="C75E00"/>
                </a:solidFill>
                <a:latin typeface="Hanken Grotesk"/>
                <a:ea typeface="Hanken Grotesk"/>
                <a:cs typeface="Hanken Grotesk"/>
              </a:rPr>
              <a:t>AIE NYC · OCTOBER 13, 2026</a:t>
            </a:r>
          </a:p>
        </p:txBody>
      </p:sp>
      <p:sp>
        <p:nvSpPr>
          <p:cNvPr id="2" name="Lies, Damned Lies,&#10;and Evals">
            <a:extLst xmlns:a="http://schemas.openxmlformats.org/drawingml/2006/main">
              <a:ext uri="{FF2B5EF4-FFF2-40B4-BE49-F238E27FC236}">
                <a16:creationId xmlns:a16="http://schemas.microsoft.com/office/drawing/2014/main" id="{68FDE609-632C-443E-9B9E-574F4E96D3FA}"/>
              </a:ext>
            </a:extLst>
          </p:cNvPr>
          <p:cNvSpPr>
            <a:spLocks xmlns:a="http://schemas.openxmlformats.org/drawingml/2006/main" noGrp="1"/>
          </p:cNvSpPr>
          <p:nvPr/>
        </p:nvSpPr>
        <p:spPr>
          <a:xfrm xmlns:a="http://schemas.openxmlformats.org/drawingml/2006/main">
            <a:off x="609600" y="1438275"/>
            <a:ext cx="109728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0">
                <a:solidFill>
                  <a:srgbClr val="241B13"/>
                </a:solidFill>
                <a:latin typeface="Literata"/>
                <a:ea typeface="Literata"/>
                <a:cs typeface="Literata"/>
              </a:defRPr>
            </a:defPPr>
          </a:lstStyle>
          <a:p xmlns:a="http://schemas.openxmlformats.org/drawingml/2006/main">
            <a:pPr algn="l">
              <a:lnSpc>
                <a:spcPct val="112000"/>
              </a:lnSpc>
              <a:buNone/>
              <a:defRPr sz="5100" b="0">
                <a:solidFill>
                  <a:srgbClr val="241B13"/>
                </a:solidFill>
                <a:latin typeface="Literata"/>
                <a:ea typeface="Literata"/>
                <a:cs typeface="Literata"/>
              </a:defRPr>
            </a:pPr>
            <a:r>
              <a:rPr sz="5100" b="0">
                <a:solidFill>
                  <a:srgbClr val="241B13"/>
                </a:solidFill>
                <a:latin typeface="Literata"/>
                <a:ea typeface="Literata"/>
                <a:cs typeface="Literata"/>
              </a:rPr>
              <a:t>Lies, Damned Lies,</a:t>
            </a:r>
          </a:p>
          <a:p xmlns:a="http://schemas.openxmlformats.org/drawingml/2006/main">
            <a:pPr algn="l">
              <a:lnSpc>
                <a:spcPct val="112000"/>
              </a:lnSpc>
              <a:buNone/>
              <a:defRPr sz="5100" b="0">
                <a:solidFill>
                  <a:srgbClr val="241B13"/>
                </a:solidFill>
                <a:latin typeface="Literata"/>
                <a:ea typeface="Literata"/>
                <a:cs typeface="Literata"/>
              </a:defRPr>
            </a:pPr>
            <a:r>
              <a:rPr sz="5100" b="0">
                <a:solidFill>
                  <a:srgbClr val="241B13"/>
                </a:solidFill>
                <a:latin typeface="Literata"/>
                <a:ea typeface="Literata"/>
                <a:cs typeface="Literata"/>
              </a:rPr>
              <a:t>and Evals</a:t>
            </a:r>
          </a:p>
        </p:txBody>
      </p:sp>
      <p:sp>
        <p:nvSpPr>
          <p:cNvPr id="3" name="How to trust your agents&#10;when the stakes are high">
            <a:extLst xmlns:a="http://schemas.openxmlformats.org/drawingml/2006/main">
              <a:ext uri="{FF2B5EF4-FFF2-40B4-BE49-F238E27FC236}">
                <a16:creationId xmlns:a16="http://schemas.microsoft.com/office/drawing/2014/main" id="{15C298AC-2106-486E-AD10-8117F940E57D}"/>
              </a:ext>
            </a:extLst>
          </p:cNvPr>
          <p:cNvSpPr>
            <a:spLocks xmlns:a="http://schemas.openxmlformats.org/drawingml/2006/main" noGrp="1"/>
          </p:cNvSpPr>
          <p:nvPr/>
        </p:nvSpPr>
        <p:spPr>
          <a:xfrm xmlns:a="http://schemas.openxmlformats.org/drawingml/2006/main">
            <a:off x="609600" y="349567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4A4039"/>
                </a:solidFill>
                <a:latin typeface="Hanken Grotesk"/>
                <a:ea typeface="Hanken Grotesk"/>
                <a:cs typeface="Hanken Grotesk"/>
              </a:defRPr>
            </a:defPPr>
          </a:lstStyle>
          <a:p xmlns:a="http://schemas.openxmlformats.org/drawingml/2006/main">
            <a:pPr algn="l">
              <a:lnSpc>
                <a:spcPct val="110000"/>
              </a:lnSpc>
              <a:buNone/>
              <a:defRPr sz="2700" b="0">
                <a:solidFill>
                  <a:srgbClr val="4A4039"/>
                </a:solidFill>
                <a:latin typeface="Hanken Grotesk"/>
                <a:ea typeface="Hanken Grotesk"/>
                <a:cs typeface="Hanken Grotesk"/>
              </a:defRPr>
            </a:pPr>
            <a:r>
              <a:rPr sz="2700" b="0">
                <a:solidFill>
                  <a:srgbClr val="4A4039"/>
                </a:solidFill>
                <a:latin typeface="Hanken Grotesk"/>
                <a:ea typeface="Hanken Grotesk"/>
                <a:cs typeface="Hanken Grotesk"/>
              </a:rPr>
              <a:t>How to trust your agents</a:t>
            </a:r>
          </a:p>
          <a:p xmlns:a="http://schemas.openxmlformats.org/drawingml/2006/main">
            <a:pPr algn="l">
              <a:lnSpc>
                <a:spcPct val="110000"/>
              </a:lnSpc>
              <a:buNone/>
              <a:defRPr sz="2700" b="0">
                <a:solidFill>
                  <a:srgbClr val="4A4039"/>
                </a:solidFill>
                <a:latin typeface="Hanken Grotesk"/>
                <a:ea typeface="Hanken Grotesk"/>
                <a:cs typeface="Hanken Grotesk"/>
              </a:defRPr>
            </a:pPr>
            <a:r>
              <a:rPr sz="2700" b="0">
                <a:solidFill>
                  <a:srgbClr val="4A4039"/>
                </a:solidFill>
                <a:latin typeface="Hanken Grotesk"/>
                <a:ea typeface="Hanken Grotesk"/>
                <a:cs typeface="Hanken Grotesk"/>
              </a:rPr>
              <a:t>when the stakes are high</a:t>
            </a:r>
          </a:p>
        </p:txBody>
      </p:sp>
      <p:sp>
        <p:nvSpPr>
          <p:cNvPr id="4" name="Stephanie Jarmak">
            <a:extLst xmlns:a="http://schemas.openxmlformats.org/drawingml/2006/main">
              <a:ext uri="{FF2B5EF4-FFF2-40B4-BE49-F238E27FC236}">
                <a16:creationId xmlns:a16="http://schemas.microsoft.com/office/drawing/2014/main" id="{9259313E-33C6-4D63-A015-45138823472B}"/>
              </a:ext>
            </a:extLst>
          </p:cNvPr>
          <p:cNvSpPr>
            <a:spLocks xmlns:a="http://schemas.openxmlformats.org/drawingml/2006/main" noGrp="1"/>
          </p:cNvSpPr>
          <p:nvPr/>
        </p:nvSpPr>
        <p:spPr>
          <a:xfrm xmlns:a="http://schemas.openxmlformats.org/drawingml/2006/main">
            <a:off x="609600" y="51054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41B13"/>
                </a:solidFill>
                <a:latin typeface="Literata"/>
                <a:ea typeface="Literata"/>
                <a:cs typeface="Literata"/>
              </a:defRPr>
            </a:defPPr>
          </a:lstStyle>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Stephanie Jarmak</a:t>
            </a:r>
          </a:p>
        </p:txBody>
      </p:sp>
      <p:sp>
        <p:nvSpPr>
          <p:cNvPr id="5" name="AI Engineer at Omni">
            <a:extLst xmlns:a="http://schemas.openxmlformats.org/drawingml/2006/main">
              <a:ext uri="{FF2B5EF4-FFF2-40B4-BE49-F238E27FC236}">
                <a16:creationId xmlns:a16="http://schemas.microsoft.com/office/drawing/2014/main" id="{95535122-B1F8-41EA-933B-AAF51148B204}"/>
              </a:ext>
            </a:extLst>
          </p:cNvPr>
          <p:cNvSpPr>
            <a:spLocks xmlns:a="http://schemas.openxmlformats.org/drawingml/2006/main" noGrp="1"/>
          </p:cNvSpPr>
          <p:nvPr/>
        </p:nvSpPr>
        <p:spPr>
          <a:xfrm xmlns:a="http://schemas.openxmlformats.org/drawingml/2006/main">
            <a:off x="609600" y="56007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4A4039"/>
                </a:solidFill>
                <a:latin typeface="Hanken Grotesk"/>
                <a:ea typeface="Hanken Grotesk"/>
                <a:cs typeface="Hanken Grotesk"/>
              </a:defRPr>
            </a:defPPr>
          </a:lstStyle>
          <a:p xmlns:a="http://schemas.openxmlformats.org/drawingml/2006/main">
            <a:pPr algn="l">
              <a:lnSpc>
                <a:spcPct val="110000"/>
              </a:lnSpc>
              <a:buNone/>
              <a:defRPr sz="1950" b="0">
                <a:solidFill>
                  <a:srgbClr val="4A4039"/>
                </a:solidFill>
                <a:latin typeface="Hanken Grotesk"/>
                <a:ea typeface="Hanken Grotesk"/>
                <a:cs typeface="Hanken Grotesk"/>
              </a:defRPr>
            </a:pPr>
            <a:r>
              <a:rPr sz="1950" b="0">
                <a:solidFill>
                  <a:srgbClr val="4A4039"/>
                </a:solidFill>
                <a:latin typeface="Hanken Grotesk"/>
                <a:ea typeface="Hanken Grotesk"/>
                <a:cs typeface="Hanken Grotesk"/>
              </a:rPr>
              <a:t>AI Engineer at Omni</a:t>
            </a:r>
          </a:p>
        </p:txBody>
      </p:sp>
      <p:sp>
        <p:nvSpPr>
          <p:cNvPr id="6" name="sjarmak.ai">
            <a:extLst xmlns:a="http://schemas.openxmlformats.org/drawingml/2006/main">
              <a:ext uri="{FF2B5EF4-FFF2-40B4-BE49-F238E27FC236}">
                <a16:creationId xmlns:a16="http://schemas.microsoft.com/office/drawing/2014/main" id="{438F8453-D8FE-41E0-9E28-3F9DEB8E1ADA}"/>
              </a:ext>
            </a:extLst>
          </p:cNvPr>
          <p:cNvSpPr>
            <a:spLocks xmlns:a="http://schemas.openxmlformats.org/drawingml/2006/main" noGrp="1"/>
          </p:cNvSpPr>
          <p:nvPr/>
        </p:nvSpPr>
        <p:spPr>
          <a:xfrm xmlns:a="http://schemas.openxmlformats.org/drawingml/2006/main">
            <a:off x="609600" y="6334125"/>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C75E00"/>
                </a:solidFill>
                <a:latin typeface="Hanken Grotesk"/>
                <a:ea typeface="Hanken Grotesk"/>
                <a:cs typeface="Hanken Grotesk"/>
              </a:defRPr>
            </a:defPPr>
          </a:lstStyle>
          <a:p xmlns:a="http://schemas.openxmlformats.org/drawingml/2006/main">
            <a:pPr algn="l">
              <a:lnSpc>
                <a:spcPct val="110000"/>
              </a:lnSpc>
              <a:buNone/>
              <a:defRPr sz="1500" b="0">
                <a:solidFill>
                  <a:srgbClr val="C75E00"/>
                </a:solidFill>
                <a:latin typeface="Hanken Grotesk"/>
                <a:ea typeface="Hanken Grotesk"/>
                <a:cs typeface="Hanken Grotesk"/>
              </a:defRPr>
            </a:pPr>
            <a:r>
              <a:rPr sz="1500" b="0">
                <a:solidFill>
                  <a:srgbClr val="C75E00"/>
                </a:solidFill>
                <a:latin typeface="Hanken Grotesk"/>
                <a:ea typeface="Hanken Grotesk"/>
                <a:cs typeface="Hanken Grotesk"/>
                <a:hlinkClick xmlns:r="http://schemas.openxmlformats.org/officeDocument/2006/relationships" r:id="R9ee4bda621cf48d2"/>
              </a:rPr>
              <a:t>sjarmak.ai</a:t>
            </a:r>
          </a:p>
        </p:txBody>
      </p:sp>
      <p:sp>
        <p:nvSpPr>
          <p:cNvPr id="7" name="">
            <a:extLst xmlns:a="http://schemas.openxmlformats.org/drawingml/2006/main">
              <a:ext uri="{FF2B5EF4-FFF2-40B4-BE49-F238E27FC236}">
                <a16:creationId xmlns:a16="http://schemas.microsoft.com/office/drawing/2014/main" id="{B848BA85-CDC4-408A-A3BA-DB90CE054785}"/>
              </a:ext>
            </a:extLst>
          </p:cNvPr>
          <p:cNvSpPr>
            <a:spLocks xmlns:a="http://schemas.openxmlformats.org/drawingml/2006/main" noGrp="1"/>
          </p:cNvSpPr>
          <p:nvPr/>
        </p:nvSpPr>
        <p:spPr>
          <a:xfrm xmlns:a="http://schemas.openxmlformats.org/drawingml/2006/main">
            <a:off x="609600" y="63722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766D62"/>
                </a:solidFill>
                <a:latin typeface="Hanken Grotesk"/>
                <a:ea typeface="Hanken Grotesk"/>
                <a:cs typeface="Hanken Grotesk"/>
              </a:defRPr>
            </a:defPPr>
          </a:lstStyle>
          <a:p xmlns:a="http://schemas.openxmlformats.org/drawingml/2006/main">
            <a:r>
              <a:t/>
            </a:r>
          </a:p>
        </p:txBody>
      </p:sp>
      <p:sp>
        <p:nvSpPr>
          <p:cNvPr id="8" name="01">
            <a:extLst xmlns:a="http://schemas.openxmlformats.org/drawingml/2006/main">
              <a:ext uri="{FF2B5EF4-FFF2-40B4-BE49-F238E27FC236}">
                <a16:creationId xmlns:a16="http://schemas.microsoft.com/office/drawing/2014/main" id="{A3A6959D-12C7-45B7-82BC-2075C3295F1A}"/>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01</a:t>
            </a:r>
          </a:p>
        </p:txBody>
      </p:sp>
    </p:spTree>
    <p:extLst>
      <p:ext uri="{BB962C8B-B14F-4D97-AF65-F5344CB8AC3E}">
        <p14:creationId xmlns:p14="http://schemas.microsoft.com/office/powerpoint/2010/main" val="1902913133"/>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0357EB7D-BBA8-400C-88A8-24CF894C3E55}"/>
              </a:ext>
            </a:extLst>
          </p:cNvPr>
          <p:cNvCxnSpPr>
            <a:stCxn xmlns:a="http://schemas.openxmlformats.org/drawingml/2006/main" id="14" idx="3"/>
            <a:endCxn xmlns:a="http://schemas.openxmlformats.org/drawingml/2006/main" id="15" idx="1"/>
          </p:cNvCxnSpPr>
          <p:nvPr/>
        </p:nvCxnSpPr>
        <p:spPr>
          <a:xfrm xmlns:a="http://schemas.openxmlformats.org/drawingml/2006/main">
            <a:off x="4838700" y="5405438"/>
            <a:ext cx="2514600" cy="0"/>
          </a:xfrm>
          <a:prstGeom xmlns:a="http://schemas.openxmlformats.org/drawingml/2006/main" prst="straightConnector1">
            <a:avLst/>
          </a:prstGeom>
          <a:ln xmlns:a="http://schemas.openxmlformats.org/drawingml/2006/main" w="23813">
            <a:solidFill>
              <a:srgbClr val="C75E00"/>
            </a:solidFill>
            <a:prstDash val="solid"/>
            <a:tailEnd type="triangle" w="sm" len="sm"/>
          </a:ln>
        </p:spPr>
      </p:cxnSp>
      <p:sp>
        <p:nvSpPr>
          <p:cNvPr id="17" name="Lower cost. The retrieval failure remained.">
            <a:extLst xmlns:a="http://schemas.openxmlformats.org/drawingml/2006/main">
              <a:ext uri="{FF2B5EF4-FFF2-40B4-BE49-F238E27FC236}">
                <a16:creationId xmlns:a16="http://schemas.microsoft.com/office/drawing/2014/main" id="{20AC6F12-7059-48B7-B9E9-E4CAE0DBC494}"/>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Lower cost. The retrieval failure remained.</a:t>
            </a:r>
          </a:p>
        </p:txBody>
      </p:sp>
      <p:sp>
        <p:nvSpPr>
          <p:cNvPr id="2" name="The retrieval failure remained. Little evidence of score imp">
            <a:extLst xmlns:a="http://schemas.openxmlformats.org/drawingml/2006/main">
              <a:ext uri="{FF2B5EF4-FFF2-40B4-BE49-F238E27FC236}">
                <a16:creationId xmlns:a16="http://schemas.microsoft.com/office/drawing/2014/main" id="{DE49D81E-E0C8-4565-A8DD-642862AF0F97}"/>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The retrieval failure remained. Little evidence of score improvement does not establish equivalent quality.</a:t>
            </a:r>
          </a:p>
        </p:txBody>
      </p:sp>
      <p:sp>
        <p:nvSpPr>
          <p:cNvPr id="3" name="Jarmak · Engineering Reliable Coding Agents, ch. 18">
            <a:extLst xmlns:a="http://schemas.openxmlformats.org/drawingml/2006/main">
              <a:ext uri="{FF2B5EF4-FFF2-40B4-BE49-F238E27FC236}">
                <a16:creationId xmlns:a16="http://schemas.microsoft.com/office/drawing/2014/main" id="{A09C50E1-7CBC-48BC-8086-65F85312B7F4}"/>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030eef83cce049b0"/>
              </a:rPr>
              <a:t>Jarmak · Engineering Reliable Coding Agents, ch. 18</a:t>
            </a:r>
          </a:p>
        </p:txBody>
      </p:sp>
      <p:sp>
        <p:nvSpPr>
          <p:cNvPr id="4" name="02">
            <a:extLst xmlns:a="http://schemas.openxmlformats.org/drawingml/2006/main">
              <a:ext uri="{FF2B5EF4-FFF2-40B4-BE49-F238E27FC236}">
                <a16:creationId xmlns:a16="http://schemas.microsoft.com/office/drawing/2014/main" id="{85E5DB5E-FCB0-46EE-A1D2-F43F1B0B589C}"/>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02</a:t>
            </a:r>
          </a:p>
        </p:txBody>
      </p:sp>
      <p:sp>
        <p:nvSpPr>
          <p:cNvPr id="5" name="OBSERVED COST">
            <a:extLst xmlns:a="http://schemas.openxmlformats.org/drawingml/2006/main">
              <a:ext uri="{FF2B5EF4-FFF2-40B4-BE49-F238E27FC236}">
                <a16:creationId xmlns:a16="http://schemas.microsoft.com/office/drawing/2014/main" id="{B60D1B94-EF99-416F-BE29-119FFB058087}"/>
              </a:ext>
            </a:extLst>
          </p:cNvPr>
          <p:cNvSpPr>
            <a:spLocks xmlns:a="http://schemas.openxmlformats.org/drawingml/2006/main" noGrp="1"/>
          </p:cNvSpPr>
          <p:nvPr/>
        </p:nvSpPr>
        <p:spPr>
          <a:xfrm xmlns:a="http://schemas.openxmlformats.org/drawingml/2006/main">
            <a:off x="609600" y="195262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OBSERVED COST</a:t>
            </a:r>
          </a:p>
        </p:txBody>
      </p:sp>
      <p:sp>
        <p:nvSpPr>
          <p:cNvPr id="6" name="−28%">
            <a:extLst xmlns:a="http://schemas.openxmlformats.org/drawingml/2006/main">
              <a:ext uri="{FF2B5EF4-FFF2-40B4-BE49-F238E27FC236}">
                <a16:creationId xmlns:a16="http://schemas.microsoft.com/office/drawing/2014/main" id="{DABA718E-6500-4B3A-A226-E4E3B21B8723}"/>
              </a:ext>
            </a:extLst>
          </p:cNvPr>
          <p:cNvSpPr>
            <a:spLocks xmlns:a="http://schemas.openxmlformats.org/drawingml/2006/main" noGrp="1"/>
          </p:cNvSpPr>
          <p:nvPr/>
        </p:nvSpPr>
        <p:spPr>
          <a:xfrm xmlns:a="http://schemas.openxmlformats.org/drawingml/2006/main">
            <a:off x="609600" y="2362200"/>
            <a:ext cx="4876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850" b="0">
                <a:solidFill>
                  <a:srgbClr val="C75E00"/>
                </a:solidFill>
                <a:latin typeface="Hanken Grotesk"/>
                <a:ea typeface="Hanken Grotesk"/>
                <a:cs typeface="Hanken Grotesk"/>
              </a:defRPr>
            </a:defPPr>
          </a:lstStyle>
          <a:p xmlns:a="http://schemas.openxmlformats.org/drawingml/2006/main">
            <a:pPr algn="l">
              <a:lnSpc>
                <a:spcPct val="110000"/>
              </a:lnSpc>
              <a:buNone/>
              <a:defRPr sz="8850" b="0">
                <a:solidFill>
                  <a:srgbClr val="C75E00"/>
                </a:solidFill>
                <a:latin typeface="Hanken Grotesk"/>
                <a:ea typeface="Hanken Grotesk"/>
                <a:cs typeface="Hanken Grotesk"/>
              </a:defRPr>
            </a:pPr>
            <a:r>
              <a:rPr sz="8850" b="0">
                <a:solidFill>
                  <a:srgbClr val="C75E00"/>
                </a:solidFill>
                <a:latin typeface="Hanken Grotesk"/>
                <a:ea typeface="Hanken Grotesk"/>
                <a:cs typeface="Hanken Grotesk"/>
              </a:rPr>
              <a:t>−28%</a:t>
            </a:r>
          </a:p>
        </p:txBody>
      </p:sp>
      <p:sp>
        <p:nvSpPr>
          <p:cNvPr id="7" name="on the affected task family">
            <a:extLst xmlns:a="http://schemas.openxmlformats.org/drawingml/2006/main">
              <a:ext uri="{FF2B5EF4-FFF2-40B4-BE49-F238E27FC236}">
                <a16:creationId xmlns:a16="http://schemas.microsoft.com/office/drawing/2014/main" id="{A5ABF129-A862-4B99-8145-B176D516A24A}"/>
              </a:ext>
            </a:extLst>
          </p:cNvPr>
          <p:cNvSpPr>
            <a:spLocks xmlns:a="http://schemas.openxmlformats.org/drawingml/2006/main" noGrp="1"/>
          </p:cNvSpPr>
          <p:nvPr/>
        </p:nvSpPr>
        <p:spPr>
          <a:xfrm xmlns:a="http://schemas.openxmlformats.org/drawingml/2006/main">
            <a:off x="609600" y="402907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4A4039"/>
                </a:solidFill>
                <a:latin typeface="Hanken Grotesk"/>
                <a:ea typeface="Hanken Grotesk"/>
                <a:cs typeface="Hanken Grotesk"/>
              </a:defRPr>
            </a:defPPr>
          </a:lstStyle>
          <a:p xmlns:a="http://schemas.openxmlformats.org/drawingml/2006/main">
            <a:pPr algn="l">
              <a:lnSpc>
                <a:spcPct val="110000"/>
              </a:lnSpc>
              <a:buNone/>
              <a:defRPr sz="2100" b="0">
                <a:solidFill>
                  <a:srgbClr val="4A4039"/>
                </a:solidFill>
                <a:latin typeface="Hanken Grotesk"/>
                <a:ea typeface="Hanken Grotesk"/>
                <a:cs typeface="Hanken Grotesk"/>
              </a:defRPr>
            </a:pPr>
            <a:r>
              <a:rPr sz="2100" b="0">
                <a:solidFill>
                  <a:srgbClr val="4A4039"/>
                </a:solidFill>
                <a:latin typeface="Hanken Grotesk"/>
                <a:ea typeface="Hanken Grotesk"/>
                <a:cs typeface="Hanken Grotesk"/>
              </a:rPr>
              <a:t>on the affected task family</a:t>
            </a:r>
          </a:p>
        </p:txBody>
      </p:sp>
      <p:sp>
        <p:nvSpPr>
          <p:cNvPr id="8" name="PRIMARY EVALUATION SCORE">
            <a:extLst xmlns:a="http://schemas.openxmlformats.org/drawingml/2006/main">
              <a:ext uri="{FF2B5EF4-FFF2-40B4-BE49-F238E27FC236}">
                <a16:creationId xmlns:a16="http://schemas.microsoft.com/office/drawing/2014/main" id="{E18E4B5B-7A08-4D6E-8C16-1D3FABB52708}"/>
              </a:ext>
            </a:extLst>
          </p:cNvPr>
          <p:cNvSpPr>
            <a:spLocks xmlns:a="http://schemas.openxmlformats.org/drawingml/2006/main" noGrp="1"/>
          </p:cNvSpPr>
          <p:nvPr/>
        </p:nvSpPr>
        <p:spPr>
          <a:xfrm xmlns:a="http://schemas.openxmlformats.org/drawingml/2006/main">
            <a:off x="6210300" y="1952625"/>
            <a:ext cx="5362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PRIMARY EVALUATION SCORE</a:t>
            </a:r>
          </a:p>
        </p:txBody>
      </p:sp>
      <p:sp>
        <p:nvSpPr>
          <p:cNvPr id="9" name="Δ +0.0048">
            <a:extLst xmlns:a="http://schemas.openxmlformats.org/drawingml/2006/main">
              <a:ext uri="{FF2B5EF4-FFF2-40B4-BE49-F238E27FC236}">
                <a16:creationId xmlns:a16="http://schemas.microsoft.com/office/drawing/2014/main" id="{A00C9EB8-FB64-4AA9-9399-0FFA578EEC3E}"/>
              </a:ext>
            </a:extLst>
          </p:cNvPr>
          <p:cNvSpPr>
            <a:spLocks xmlns:a="http://schemas.openxmlformats.org/drawingml/2006/main" noGrp="1"/>
          </p:cNvSpPr>
          <p:nvPr/>
        </p:nvSpPr>
        <p:spPr>
          <a:xfrm xmlns:a="http://schemas.openxmlformats.org/drawingml/2006/main">
            <a:off x="6210300" y="23241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0">
                <a:solidFill>
                  <a:srgbClr val="241B13"/>
                </a:solidFill>
                <a:latin typeface="Hanken Grotesk"/>
                <a:ea typeface="Hanken Grotesk"/>
                <a:cs typeface="Hanken Grotesk"/>
              </a:defRPr>
            </a:defPPr>
          </a:lstStyle>
          <a:p xmlns:a="http://schemas.openxmlformats.org/drawingml/2006/main">
            <a:pPr algn="l">
              <a:lnSpc>
                <a:spcPct val="110000"/>
              </a:lnSpc>
              <a:buNone/>
              <a:defRPr sz="3900" b="0">
                <a:solidFill>
                  <a:srgbClr val="241B13"/>
                </a:solidFill>
                <a:latin typeface="Hanken Grotesk"/>
                <a:ea typeface="Hanken Grotesk"/>
                <a:cs typeface="Hanken Grotesk"/>
              </a:defRPr>
            </a:pPr>
            <a:r>
              <a:rPr sz="3900" b="0">
                <a:solidFill>
                  <a:srgbClr val="241B13"/>
                </a:solidFill>
                <a:latin typeface="Hanken Grotesk"/>
                <a:ea typeface="Hanken Grotesk"/>
                <a:cs typeface="Hanken Grotesk"/>
              </a:rPr>
              <a:t>Δ +0.0048</a:t>
            </a:r>
          </a:p>
        </p:txBody>
      </p:sp>
      <p:sp>
        <p:nvSpPr>
          <p:cNvPr id="10" name="t = 0.27">
            <a:extLst xmlns:a="http://schemas.openxmlformats.org/drawingml/2006/main">
              <a:ext uri="{FF2B5EF4-FFF2-40B4-BE49-F238E27FC236}">
                <a16:creationId xmlns:a16="http://schemas.microsoft.com/office/drawing/2014/main" id="{B52782E0-A25B-43E2-909F-21D9FC751EFF}"/>
              </a:ext>
            </a:extLst>
          </p:cNvPr>
          <p:cNvSpPr>
            <a:spLocks xmlns:a="http://schemas.openxmlformats.org/drawingml/2006/main" noGrp="1"/>
          </p:cNvSpPr>
          <p:nvPr/>
        </p:nvSpPr>
        <p:spPr>
          <a:xfrm xmlns:a="http://schemas.openxmlformats.org/drawingml/2006/main">
            <a:off x="9877425" y="2552700"/>
            <a:ext cx="169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4A4039"/>
                </a:solidFill>
                <a:latin typeface="Hanken Grotesk"/>
                <a:ea typeface="Hanken Grotesk"/>
                <a:cs typeface="Hanken Grotesk"/>
              </a:defRPr>
            </a:defPPr>
          </a:lstStyle>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t = 0.27</a:t>
            </a:r>
          </a:p>
        </p:txBody>
      </p:sp>
      <p:sp>
        <p:nvSpPr>
          <p:cNvPr id="11" name="">
            <a:extLst xmlns:a="http://schemas.openxmlformats.org/drawingml/2006/main">
              <a:ext uri="{FF2B5EF4-FFF2-40B4-BE49-F238E27FC236}">
                <a16:creationId xmlns:a16="http://schemas.microsoft.com/office/drawing/2014/main" id="{35AE0B85-AFF7-4124-915D-37DF504CFE56}"/>
              </a:ext>
            </a:extLst>
          </p:cNvPr>
          <p:cNvSpPr>
            <a:spLocks xmlns:a="http://schemas.openxmlformats.org/drawingml/2006/main" noGrp="1"/>
          </p:cNvSpPr>
          <p:nvPr/>
        </p:nvSpPr>
        <p:spPr>
          <a:xfrm xmlns:a="http://schemas.openxmlformats.org/drawingml/2006/main">
            <a:off x="6210300" y="3190875"/>
            <a:ext cx="5362575"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2" name="ELAPSED TIME">
            <a:extLst xmlns:a="http://schemas.openxmlformats.org/drawingml/2006/main">
              <a:ext uri="{FF2B5EF4-FFF2-40B4-BE49-F238E27FC236}">
                <a16:creationId xmlns:a16="http://schemas.microsoft.com/office/drawing/2014/main" id="{F5413B9B-061C-4458-A27C-3C777003F969}"/>
              </a:ext>
            </a:extLst>
          </p:cNvPr>
          <p:cNvSpPr>
            <a:spLocks xmlns:a="http://schemas.openxmlformats.org/drawingml/2006/main" noGrp="1"/>
          </p:cNvSpPr>
          <p:nvPr/>
        </p:nvSpPr>
        <p:spPr>
          <a:xfrm xmlns:a="http://schemas.openxmlformats.org/drawingml/2006/main">
            <a:off x="6210300" y="3419475"/>
            <a:ext cx="5362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ELAPSED TIME</a:t>
            </a:r>
          </a:p>
        </p:txBody>
      </p:sp>
      <p:sp>
        <p:nvSpPr>
          <p:cNvPr id="13" name="+3.9%">
            <a:extLst xmlns:a="http://schemas.openxmlformats.org/drawingml/2006/main">
              <a:ext uri="{FF2B5EF4-FFF2-40B4-BE49-F238E27FC236}">
                <a16:creationId xmlns:a16="http://schemas.microsoft.com/office/drawing/2014/main" id="{DA6DEEBA-ADC6-40DB-A972-AEF46E36013E}"/>
              </a:ext>
            </a:extLst>
          </p:cNvPr>
          <p:cNvSpPr>
            <a:spLocks xmlns:a="http://schemas.openxmlformats.org/drawingml/2006/main" noGrp="1"/>
          </p:cNvSpPr>
          <p:nvPr/>
        </p:nvSpPr>
        <p:spPr>
          <a:xfrm xmlns:a="http://schemas.openxmlformats.org/drawingml/2006/main">
            <a:off x="6210300" y="3743325"/>
            <a:ext cx="5362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0">
                <a:solidFill>
                  <a:srgbClr val="241B13"/>
                </a:solidFill>
                <a:latin typeface="Hanken Grotesk"/>
                <a:ea typeface="Hanken Grotesk"/>
                <a:cs typeface="Hanken Grotesk"/>
              </a:defRPr>
            </a:defPPr>
          </a:lstStyle>
          <a:p xmlns:a="http://schemas.openxmlformats.org/drawingml/2006/main">
            <a:pPr algn="l">
              <a:lnSpc>
                <a:spcPct val="110000"/>
              </a:lnSpc>
              <a:buNone/>
              <a:defRPr sz="3900" b="0">
                <a:solidFill>
                  <a:srgbClr val="241B13"/>
                </a:solidFill>
                <a:latin typeface="Hanken Grotesk"/>
                <a:ea typeface="Hanken Grotesk"/>
                <a:cs typeface="Hanken Grotesk"/>
              </a:defRPr>
            </a:pPr>
            <a:r>
              <a:rPr sz="3900" b="0">
                <a:solidFill>
                  <a:srgbClr val="241B13"/>
                </a:solidFill>
                <a:latin typeface="Hanken Grotesk"/>
                <a:ea typeface="Hanken Grotesk"/>
                <a:cs typeface="Hanken Grotesk"/>
              </a:rPr>
              <a:t>+3.9%</a:t>
            </a:r>
          </a:p>
        </p:txBody>
      </p:sp>
      <p:sp>
        <p:nvSpPr>
          <p:cNvPr id="14" name="Search missed relevant evidence">
            <a:extLst xmlns:a="http://schemas.openxmlformats.org/drawingml/2006/main">
              <a:ext uri="{FF2B5EF4-FFF2-40B4-BE49-F238E27FC236}">
                <a16:creationId xmlns:a16="http://schemas.microsoft.com/office/drawing/2014/main" id="{BD7A3AA3-C4FE-49DB-AA92-787F472700BA}"/>
              </a:ext>
            </a:extLst>
          </p:cNvPr>
          <p:cNvSpPr>
            <a:spLocks xmlns:a="http://schemas.openxmlformats.org/drawingml/2006/main" noGrp="1"/>
          </p:cNvSpPr>
          <p:nvPr/>
        </p:nvSpPr>
        <p:spPr>
          <a:xfrm xmlns:a="http://schemas.openxmlformats.org/drawingml/2006/main">
            <a:off x="609600" y="4981575"/>
            <a:ext cx="4229100" cy="84772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75" b="0">
                <a:solidFill>
                  <a:srgbClr val="241B13"/>
                </a:solidFill>
                <a:latin typeface="Hanken Grotesk"/>
                <a:ea typeface="Hanken Grotesk"/>
                <a:cs typeface="Hanken Grotesk"/>
              </a:defRPr>
            </a:defPPr>
          </a:lstStyle>
          <a:p xmlns:a="http://schemas.openxmlformats.org/drawingml/2006/main">
            <a:pPr algn="ctr">
              <a:lnSpc>
                <a:spcPct val="110000"/>
              </a:lnSpc>
              <a:buNone/>
              <a:defRPr sz="2175" b="0">
                <a:solidFill>
                  <a:srgbClr val="241B13"/>
                </a:solidFill>
                <a:latin typeface="Hanken Grotesk"/>
                <a:ea typeface="Hanken Grotesk"/>
                <a:cs typeface="Hanken Grotesk"/>
              </a:defRPr>
            </a:pPr>
            <a:r>
              <a:rPr sz="2175" b="0">
                <a:solidFill>
                  <a:srgbClr val="241B13"/>
                </a:solidFill>
                <a:latin typeface="Hanken Grotesk"/>
                <a:ea typeface="Hanken Grotesk"/>
                <a:cs typeface="Hanken Grotesk"/>
              </a:rPr>
              <a:t>Search missed</a:t>
            </a:r>
          </a:p>
          <a:p xmlns:a="http://schemas.openxmlformats.org/drawingml/2006/main">
            <a:pPr algn="ctr">
              <a:lnSpc>
                <a:spcPct val="110000"/>
              </a:lnSpc>
              <a:buNone/>
              <a:defRPr sz="2175" b="0">
                <a:solidFill>
                  <a:srgbClr val="241B13"/>
                </a:solidFill>
                <a:latin typeface="Hanken Grotesk"/>
                <a:ea typeface="Hanken Grotesk"/>
                <a:cs typeface="Hanken Grotesk"/>
              </a:defRPr>
            </a:pPr>
            <a:r>
              <a:rPr sz="2175" b="0">
                <a:solidFill>
                  <a:srgbClr val="241B13"/>
                </a:solidFill>
                <a:latin typeface="Hanken Grotesk"/>
                <a:ea typeface="Hanken Grotesk"/>
                <a:cs typeface="Hanken Grotesk"/>
              </a:rPr>
              <a:t>relevant evidence</a:t>
            </a:r>
          </a:p>
        </p:txBody>
      </p:sp>
      <p:sp>
        <p:nvSpPr>
          <p:cNvPr id="15" name="Agent trusted the empty result">
            <a:extLst xmlns:a="http://schemas.openxmlformats.org/drawingml/2006/main">
              <a:ext uri="{FF2B5EF4-FFF2-40B4-BE49-F238E27FC236}">
                <a16:creationId xmlns:a16="http://schemas.microsoft.com/office/drawing/2014/main" id="{FBFC1E59-3B2D-40F8-AC08-542B2CE67975}"/>
              </a:ext>
            </a:extLst>
          </p:cNvPr>
          <p:cNvSpPr>
            <a:spLocks xmlns:a="http://schemas.openxmlformats.org/drawingml/2006/main" noGrp="1"/>
          </p:cNvSpPr>
          <p:nvPr/>
        </p:nvSpPr>
        <p:spPr>
          <a:xfrm xmlns:a="http://schemas.openxmlformats.org/drawingml/2006/main">
            <a:off x="7353300" y="4981575"/>
            <a:ext cx="4229100" cy="847725"/>
          </a:xfrm>
          <a:prstGeom xmlns:a="http://schemas.openxmlformats.org/drawingml/2006/main" prst="rect">
            <a:avLst/>
          </a:prstGeom>
          <a:solidFill xmlns:a="http://schemas.openxmlformats.org/drawingml/2006/main">
            <a:srgbClr val="FDFAF4"/>
          </a:solidFill>
          <a:ln xmlns:a="http://schemas.openxmlformats.org/drawingml/2006/main" w="14288">
            <a:solidFill>
              <a:srgbClr val="C75E00"/>
            </a:solidFill>
          </a:ln>
        </p:spPr>
        <p:txBody>
          <a:bodyPr xmlns:a="http://schemas.openxmlformats.org/drawingml/2006/main" wrap="none" lIns="76200" tIns="76200" rIns="76200" bIns="76200" anchor="ctr">
            <a:noAutofit/>
          </a:bodyPr>
          <a:lstStyle xmlns:a="http://schemas.openxmlformats.org/drawingml/2006/main">
            <a:defPPr algn="ctr">
              <a:defRPr sz="2175" b="0">
                <a:solidFill>
                  <a:srgbClr val="C75E00"/>
                </a:solidFill>
                <a:latin typeface="Hanken Grotesk"/>
                <a:ea typeface="Hanken Grotesk"/>
                <a:cs typeface="Hanken Grotesk"/>
              </a:defRPr>
            </a:defPPr>
          </a:lstStyle>
          <a:p xmlns:a="http://schemas.openxmlformats.org/drawingml/2006/main">
            <a:pPr algn="ctr">
              <a:lnSpc>
                <a:spcPct val="110000"/>
              </a:lnSpc>
              <a:buNone/>
              <a:defRPr sz="2175" b="0">
                <a:solidFill>
                  <a:srgbClr val="C75E00"/>
                </a:solidFill>
                <a:latin typeface="Hanken Grotesk"/>
                <a:ea typeface="Hanken Grotesk"/>
                <a:cs typeface="Hanken Grotesk"/>
              </a:defRPr>
            </a:pPr>
            <a:r>
              <a:rPr sz="2175" b="0">
                <a:solidFill>
                  <a:srgbClr val="C75E00"/>
                </a:solidFill>
                <a:latin typeface="Hanken Grotesk"/>
                <a:ea typeface="Hanken Grotesk"/>
                <a:cs typeface="Hanken Grotesk"/>
              </a:rPr>
              <a:t>Agent trusted</a:t>
            </a:r>
          </a:p>
          <a:p xmlns:a="http://schemas.openxmlformats.org/drawingml/2006/main">
            <a:pPr algn="ctr">
              <a:lnSpc>
                <a:spcPct val="110000"/>
              </a:lnSpc>
              <a:buNone/>
              <a:defRPr sz="2175" b="0">
                <a:solidFill>
                  <a:srgbClr val="C75E00"/>
                </a:solidFill>
                <a:latin typeface="Hanken Grotesk"/>
                <a:ea typeface="Hanken Grotesk"/>
                <a:cs typeface="Hanken Grotesk"/>
              </a:defRPr>
            </a:pPr>
            <a:r>
              <a:rPr sz="2175" b="0">
                <a:solidFill>
                  <a:srgbClr val="C75E00"/>
                </a:solidFill>
                <a:latin typeface="Hanken Grotesk"/>
                <a:ea typeface="Hanken Grotesk"/>
                <a:cs typeface="Hanken Grotesk"/>
              </a:rPr>
              <a:t>the empty result</a:t>
            </a:r>
          </a:p>
        </p:txBody>
      </p:sp>
    </p:spTree>
    <p:extLst>
      <p:ext uri="{BB962C8B-B14F-4D97-AF65-F5344CB8AC3E}">
        <p14:creationId xmlns:p14="http://schemas.microsoft.com/office/powerpoint/2010/main" val="1240152665"/>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The ranking changes with the harness">
            <a:extLst xmlns:a="http://schemas.openxmlformats.org/drawingml/2006/main">
              <a:ext uri="{FF2B5EF4-FFF2-40B4-BE49-F238E27FC236}">
                <a16:creationId xmlns:a16="http://schemas.microsoft.com/office/drawing/2014/main" id="{75CF6CDE-96A6-4AA3-9AD4-B2074FFDE6B5}"/>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The ranking changes with the harness</a:t>
            </a:r>
          </a:p>
        </p:txBody>
      </p:sp>
      <p:sp>
        <p:nvSpPr>
          <p:cNvPr id="2" name="One scored run per task / configuration, after infrastructur">
            <a:extLst xmlns:a="http://schemas.openxmlformats.org/drawingml/2006/main">
              <a:ext uri="{FF2B5EF4-FFF2-40B4-BE49-F238E27FC236}">
                <a16:creationId xmlns:a16="http://schemas.microsoft.com/office/drawing/2014/main" id="{91FE46A1-A965-4618-8BEB-AE57F8878066}"/>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One scored run per task / configuration, after infrastructure retries.</a:t>
            </a:r>
          </a:p>
        </p:txBody>
      </p:sp>
      <p:sp>
        <p:nvSpPr>
          <p:cNvPr id="3" name="Li et al. · Finding the Right Fit   Hardy et al. · Agent Eva">
            <a:extLst xmlns:a="http://schemas.openxmlformats.org/drawingml/2006/main">
              <a:ext uri="{FF2B5EF4-FFF2-40B4-BE49-F238E27FC236}">
                <a16:creationId xmlns:a16="http://schemas.microsoft.com/office/drawing/2014/main" id="{8C8F8DA3-3778-42BA-BCAA-2FEEC1E23A47}"/>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80ef6cc02b2643c9"/>
              </a:rPr>
              <a:t>Li et al. · Finding the Right Fit</a:t>
            </a:r>
            <a:r>
              <a:rPr sz="1088" b="0">
                <a:solidFill>
                  <a:srgbClr val="766D62"/>
                </a:solidFill>
                <a:latin typeface="Hanken Grotesk"/>
                <a:ea typeface="Hanken Grotesk"/>
                <a:cs typeface="Hanken Grotesk"/>
              </a:rPr>
              <a:t>   </a:t>
            </a:r>
            <a:r>
              <a:rPr sz="1088" b="0">
                <a:solidFill>
                  <a:srgbClr val="766D62"/>
                </a:solidFill>
                <a:latin typeface="Hanken Grotesk"/>
                <a:ea typeface="Hanken Grotesk"/>
                <a:cs typeface="Hanken Grotesk"/>
                <a:hlinkClick xmlns:r="http://schemas.openxmlformats.org/officeDocument/2006/relationships" r:id="Rce8c1af17c98425e"/>
              </a:rPr>
              <a:t>Hardy et al. · Agent Evaluation Reliability</a:t>
            </a:r>
          </a:p>
        </p:txBody>
      </p:sp>
      <p:sp>
        <p:nvSpPr>
          <p:cNvPr id="4" name="03">
            <a:extLst xmlns:a="http://schemas.openxmlformats.org/drawingml/2006/main">
              <a:ext uri="{FF2B5EF4-FFF2-40B4-BE49-F238E27FC236}">
                <a16:creationId xmlns:a16="http://schemas.microsoft.com/office/drawing/2014/main" id="{259B37E2-AFDA-43AC-998A-31335FD6FFA9}"/>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03</a:t>
            </a:r>
          </a:p>
        </p:txBody>
      </p:sp>
      <p:sp>
        <p:nvSpPr>
          <p:cNvPr id="5" name="Same 63 tasks requiring no GPU. Different harness.">
            <a:extLst xmlns:a="http://schemas.openxmlformats.org/drawingml/2006/main">
              <a:ext uri="{FF2B5EF4-FFF2-40B4-BE49-F238E27FC236}">
                <a16:creationId xmlns:a16="http://schemas.microsoft.com/office/drawing/2014/main" id="{1F52984B-D2B2-4130-ACCA-0007F66CC083}"/>
              </a:ext>
            </a:extLst>
          </p:cNvPr>
          <p:cNvSpPr>
            <a:spLocks xmlns:a="http://schemas.openxmlformats.org/drawingml/2006/main" noGrp="1"/>
          </p:cNvSpPr>
          <p:nvPr/>
        </p:nvSpPr>
        <p:spPr>
          <a:xfrm xmlns:a="http://schemas.openxmlformats.org/drawingml/2006/main">
            <a:off x="609600" y="14763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4A4039"/>
                </a:solidFill>
                <a:latin typeface="Hanken Grotesk"/>
                <a:ea typeface="Hanken Grotesk"/>
                <a:cs typeface="Hanken Grotesk"/>
              </a:defRPr>
            </a:defPPr>
          </a:lstStyle>
          <a:p xmlns:a="http://schemas.openxmlformats.org/drawingml/2006/main">
            <a:pPr algn="l">
              <a:lnSpc>
                <a:spcPct val="110000"/>
              </a:lnSpc>
              <a:buNone/>
              <a:defRPr sz="2175" b="0">
                <a:solidFill>
                  <a:srgbClr val="4A4039"/>
                </a:solidFill>
                <a:latin typeface="Hanken Grotesk"/>
                <a:ea typeface="Hanken Grotesk"/>
                <a:cs typeface="Hanken Grotesk"/>
              </a:defRPr>
            </a:pPr>
            <a:r>
              <a:rPr sz="2175" b="0">
                <a:solidFill>
                  <a:srgbClr val="4A4039"/>
                </a:solidFill>
                <a:latin typeface="Hanken Grotesk"/>
                <a:ea typeface="Hanken Grotesk"/>
                <a:cs typeface="Hanken Grotesk"/>
              </a:rPr>
              <a:t>Same 63 tasks requiring no GPU. Different harness.</a:t>
            </a:r>
          </a:p>
        </p:txBody>
      </p:sp>
      <p:graphicFrame>
        <p:nvGraphicFramePr>
          <p:cNvPr id="6" name="Chart">
            <a:extLst xmlns:a="http://schemas.openxmlformats.org/drawingml/2006/main">
              <a:ext uri="{FF2B5EF4-FFF2-40B4-BE49-F238E27FC236}">
                <a16:creationId xmlns:a16="http://schemas.microsoft.com/office/drawing/2014/main" id="{F47D2695-4FC1-47B9-B48D-D453B2EE9438}"/>
              </a:ext>
            </a:extLst>
          </p:cNvPr>
          <p:cNvGraphicFramePr/>
          <p:nvPr/>
        </p:nvGraphicFramePr>
        <p:xfrm>
          <a:off xmlns:a="http://schemas.openxmlformats.org/drawingml/2006/main" x="638175" y="2047875"/>
          <a:ext xmlns:a="http://schemas.openxmlformats.org/drawingml/2006/main" cx="10668000" cy="3419475"/>
        </p:xfrm>
        <a:graphic xmlns:a="http://schemas.openxmlformats.org/drawingml/2006/main">
          <a:graphicData uri="http://schemas.openxmlformats.org/drawingml/2006/chart">
            <c:chart xmlns:r="http://schemas.openxmlformats.org/officeDocument/2006/relationships" xmlns:c="http://schemas.openxmlformats.org/drawingml/2006/chart" r:id="Rb65ab35b7af04fba"/>
          </a:graphicData>
        </a:graphic>
      </p:graphicFrame>
      <p:sp>
        <p:nvSpPr>
          <p:cNvPr id="7" name="Compare the configuration you will actually run.">
            <a:extLst xmlns:a="http://schemas.openxmlformats.org/drawingml/2006/main">
              <a:ext uri="{FF2B5EF4-FFF2-40B4-BE49-F238E27FC236}">
                <a16:creationId xmlns:a16="http://schemas.microsoft.com/office/drawing/2014/main" id="{A3AB02E0-A469-4C69-8A5F-90F715E9A1D1}"/>
              </a:ext>
            </a:extLst>
          </p:cNvPr>
          <p:cNvSpPr>
            <a:spLocks xmlns:a="http://schemas.openxmlformats.org/drawingml/2006/main" noGrp="1"/>
          </p:cNvSpPr>
          <p:nvPr/>
        </p:nvSpPr>
        <p:spPr>
          <a:xfrm xmlns:a="http://schemas.openxmlformats.org/drawingml/2006/main">
            <a:off x="609600" y="5772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41B13"/>
                </a:solidFill>
                <a:latin typeface="Literata"/>
                <a:ea typeface="Literata"/>
                <a:cs typeface="Literata"/>
              </a:defRPr>
            </a:defPPr>
          </a:lstStyle>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Compare the configuration you will actually run.</a:t>
            </a:r>
          </a:p>
        </p:txBody>
      </p:sp>
    </p:spTree>
    <p:extLst>
      <p:ext uri="{BB962C8B-B14F-4D97-AF65-F5344CB8AC3E}">
        <p14:creationId xmlns:p14="http://schemas.microsoft.com/office/powerpoint/2010/main" val="1435130073"/>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631F887-C24F-4031-B7C1-33E760F73417}"/>
              </a:ext>
            </a:extLst>
          </p:cNvPr>
          <p:cNvCxnSpPr>
            <a:stCxn xmlns:a="http://schemas.openxmlformats.org/drawingml/2006/main" id="11" idx="3"/>
            <a:endCxn xmlns:a="http://schemas.openxmlformats.org/drawingml/2006/main" id="13" idx="1"/>
          </p:cNvCxnSpPr>
          <p:nvPr/>
        </p:nvCxnSpPr>
        <p:spPr>
          <a:xfrm xmlns:a="http://schemas.openxmlformats.org/drawingml/2006/main">
            <a:off x="8553450" y="3400425"/>
            <a:ext cx="4572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38316FD4-B0E5-4B20-8925-A1E26F6F78B2}"/>
              </a:ext>
            </a:extLst>
          </p:cNvPr>
          <p:cNvCxnSpPr>
            <a:stCxn xmlns:a="http://schemas.openxmlformats.org/drawingml/2006/main" id="9" idx="3"/>
            <a:endCxn xmlns:a="http://schemas.openxmlformats.org/drawingml/2006/main" id="11" idx="1"/>
          </p:cNvCxnSpPr>
          <p:nvPr/>
        </p:nvCxnSpPr>
        <p:spPr>
          <a:xfrm xmlns:a="http://schemas.openxmlformats.org/drawingml/2006/main">
            <a:off x="5753100" y="3400425"/>
            <a:ext cx="4572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904F19A8-7295-408F-82E4-E3752BA00938}"/>
              </a:ext>
            </a:extLst>
          </p:cNvPr>
          <p:cNvCxnSpPr>
            <a:stCxn xmlns:a="http://schemas.openxmlformats.org/drawingml/2006/main" id="8" idx="3"/>
            <a:endCxn xmlns:a="http://schemas.openxmlformats.org/drawingml/2006/main" id="9" idx="1"/>
          </p:cNvCxnSpPr>
          <p:nvPr/>
        </p:nvCxnSpPr>
        <p:spPr>
          <a:xfrm xmlns:a="http://schemas.openxmlformats.org/drawingml/2006/main">
            <a:off x="2952750" y="3400425"/>
            <a:ext cx="4572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sp>
        <p:nvSpPr>
          <p:cNvPr id="22" name="Public benchmarks and internal evaluation">
            <a:extLst xmlns:a="http://schemas.openxmlformats.org/drawingml/2006/main">
              <a:ext uri="{FF2B5EF4-FFF2-40B4-BE49-F238E27FC236}">
                <a16:creationId xmlns:a16="http://schemas.microsoft.com/office/drawing/2014/main" id="{3F295E41-AEEF-45E7-A653-A6764A1352A6}"/>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Public benchmarks and internal evaluation</a:t>
            </a:r>
          </a:p>
        </p:txBody>
      </p:sp>
      <p:sp>
        <p:nvSpPr>
          <p:cNvPr id="2" name="Public and internal describe visibility, not exclusive purpo">
            <a:extLst xmlns:a="http://schemas.openxmlformats.org/drawingml/2006/main">
              <a:ext uri="{FF2B5EF4-FFF2-40B4-BE49-F238E27FC236}">
                <a16:creationId xmlns:a16="http://schemas.microsoft.com/office/drawing/2014/main" id="{223D6491-83A5-4012-90B3-312893614ECF}"/>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Public and internal describe visibility, not exclusive purposes. The decision determines what evidence we need.</a:t>
            </a:r>
          </a:p>
        </p:txBody>
      </p:sp>
      <p:sp>
        <p:nvSpPr>
          <p:cNvPr id="3" name="Jarmak · Engineering Reliable Coding Agents, chs. 2–3">
            <a:extLst xmlns:a="http://schemas.openxmlformats.org/drawingml/2006/main">
              <a:ext uri="{FF2B5EF4-FFF2-40B4-BE49-F238E27FC236}">
                <a16:creationId xmlns:a16="http://schemas.microsoft.com/office/drawing/2014/main" id="{066DD59F-EA1F-4BD3-BB05-69EE93A3471D}"/>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e36392e254b34748"/>
              </a:rPr>
              <a:t>Jarmak · Engineering Reliable Coding Agents, chs. 2–3</a:t>
            </a:r>
          </a:p>
        </p:txBody>
      </p:sp>
      <p:sp>
        <p:nvSpPr>
          <p:cNvPr id="4" name="04">
            <a:extLst xmlns:a="http://schemas.openxmlformats.org/drawingml/2006/main">
              <a:ext uri="{FF2B5EF4-FFF2-40B4-BE49-F238E27FC236}">
                <a16:creationId xmlns:a16="http://schemas.microsoft.com/office/drawing/2014/main" id="{800D2522-67BF-41DD-911F-1F6CD1EE38B8}"/>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04</a:t>
            </a:r>
          </a:p>
        </p:txBody>
      </p:sp>
      <p:sp>
        <p:nvSpPr>
          <p:cNvPr id="5" name="Benchmark: a standardized reference for comparison">
            <a:extLst xmlns:a="http://schemas.openxmlformats.org/drawingml/2006/main">
              <a:ext uri="{FF2B5EF4-FFF2-40B4-BE49-F238E27FC236}">
                <a16:creationId xmlns:a16="http://schemas.microsoft.com/office/drawing/2014/main" id="{1F5C328E-B92A-42C8-9BF4-ACEA00E52862}"/>
              </a:ext>
            </a:extLst>
          </p:cNvPr>
          <p:cNvSpPr>
            <a:spLocks xmlns:a="http://schemas.openxmlformats.org/drawingml/2006/main" noGrp="1"/>
          </p:cNvSpPr>
          <p:nvPr/>
        </p:nvSpPr>
        <p:spPr>
          <a:xfrm xmlns:a="http://schemas.openxmlformats.org/drawingml/2006/main">
            <a:off x="609600" y="1571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4A4039"/>
                </a:solidFill>
                <a:latin typeface="Hanken Grotesk"/>
                <a:ea typeface="Hanken Grotesk"/>
                <a:cs typeface="Hanken Grotesk"/>
              </a:defRPr>
            </a:defPPr>
          </a:lstStyle>
          <a:p xmlns:a="http://schemas.openxmlformats.org/drawingml/2006/main">
            <a:pPr algn="l">
              <a:lnSpc>
                <a:spcPct val="110000"/>
              </a:lnSpc>
              <a:buNone/>
              <a:defRPr sz="2250" b="0">
                <a:solidFill>
                  <a:srgbClr val="4A4039"/>
                </a:solidFill>
                <a:latin typeface="Hanken Grotesk"/>
                <a:ea typeface="Hanken Grotesk"/>
                <a:cs typeface="Hanken Grotesk"/>
              </a:defRPr>
            </a:pPr>
            <a:r>
              <a:rPr sz="2250" b="0">
                <a:solidFill>
                  <a:srgbClr val="4A4039"/>
                </a:solidFill>
                <a:latin typeface="Hanken Grotesk"/>
                <a:ea typeface="Hanken Grotesk"/>
                <a:cs typeface="Hanken Grotesk"/>
              </a:rPr>
              <a:t>Benchmark: a standardized reference for comparison</a:t>
            </a:r>
          </a:p>
        </p:txBody>
      </p:sp>
      <p:sp>
        <p:nvSpPr>
          <p:cNvPr id="6" name="LANDSCAPE AND SHORTLIST">
            <a:extLst xmlns:a="http://schemas.openxmlformats.org/drawingml/2006/main">
              <a:ext uri="{FF2B5EF4-FFF2-40B4-BE49-F238E27FC236}">
                <a16:creationId xmlns:a16="http://schemas.microsoft.com/office/drawing/2014/main" id="{0FD2B70C-31D8-4F9E-8A55-C8A40ED360A2}"/>
              </a:ext>
            </a:extLst>
          </p:cNvPr>
          <p:cNvSpPr>
            <a:spLocks xmlns:a="http://schemas.openxmlformats.org/drawingml/2006/main" noGrp="1"/>
          </p:cNvSpPr>
          <p:nvPr/>
        </p:nvSpPr>
        <p:spPr>
          <a:xfrm xmlns:a="http://schemas.openxmlformats.org/drawingml/2006/main">
            <a:off x="609600" y="2390775"/>
            <a:ext cx="500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LANDSCAPE AND SHORTLIST</a:t>
            </a:r>
          </a:p>
        </p:txBody>
      </p:sp>
      <p:sp>
        <p:nvSpPr>
          <p:cNvPr id="7" name="PRODUCT AND PROCESS IMPROVEMENT">
            <a:extLst xmlns:a="http://schemas.openxmlformats.org/drawingml/2006/main">
              <a:ext uri="{FF2B5EF4-FFF2-40B4-BE49-F238E27FC236}">
                <a16:creationId xmlns:a16="http://schemas.microsoft.com/office/drawing/2014/main" id="{52A5B8CE-33FE-414C-9687-E1D7A60D26E5}"/>
              </a:ext>
            </a:extLst>
          </p:cNvPr>
          <p:cNvSpPr>
            <a:spLocks xmlns:a="http://schemas.openxmlformats.org/drawingml/2006/main" noGrp="1"/>
          </p:cNvSpPr>
          <p:nvPr/>
        </p:nvSpPr>
        <p:spPr>
          <a:xfrm xmlns:a="http://schemas.openxmlformats.org/drawingml/2006/main">
            <a:off x="6210300" y="2390775"/>
            <a:ext cx="539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PRODUCT AND PROCESS IMPROVEMENT</a:t>
            </a:r>
          </a:p>
        </p:txBody>
      </p:sp>
      <p:sp>
        <p:nvSpPr>
          <p:cNvPr id="8" name="Reference + reported protocol">
            <a:extLst xmlns:a="http://schemas.openxmlformats.org/drawingml/2006/main">
              <a:ext uri="{FF2B5EF4-FFF2-40B4-BE49-F238E27FC236}">
                <a16:creationId xmlns:a16="http://schemas.microsoft.com/office/drawing/2014/main" id="{C2CE0203-1BDB-4ADE-98CD-2836B5D438E3}"/>
              </a:ext>
            </a:extLst>
          </p:cNvPr>
          <p:cNvSpPr>
            <a:spLocks xmlns:a="http://schemas.openxmlformats.org/drawingml/2006/main" noGrp="1"/>
          </p:cNvSpPr>
          <p:nvPr/>
        </p:nvSpPr>
        <p:spPr>
          <a:xfrm xmlns:a="http://schemas.openxmlformats.org/drawingml/2006/main">
            <a:off x="609600" y="2962275"/>
            <a:ext cx="2343150" cy="8763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Reference +</a:t>
            </a:r>
          </a:p>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reported protocol</a:t>
            </a:r>
          </a:p>
        </p:txBody>
      </p:sp>
      <p:sp>
        <p:nvSpPr>
          <p:cNvPr id="9" name="Candidate shortlist">
            <a:extLst xmlns:a="http://schemas.openxmlformats.org/drawingml/2006/main">
              <a:ext uri="{FF2B5EF4-FFF2-40B4-BE49-F238E27FC236}">
                <a16:creationId xmlns:a16="http://schemas.microsoft.com/office/drawing/2014/main" id="{4460E98E-C66C-4D4B-8C77-725CAC3E01B5}"/>
              </a:ext>
            </a:extLst>
          </p:cNvPr>
          <p:cNvSpPr>
            <a:spLocks xmlns:a="http://schemas.openxmlformats.org/drawingml/2006/main" noGrp="1"/>
          </p:cNvSpPr>
          <p:nvPr/>
        </p:nvSpPr>
        <p:spPr>
          <a:xfrm xmlns:a="http://schemas.openxmlformats.org/drawingml/2006/main">
            <a:off x="3409950" y="2962275"/>
            <a:ext cx="2343150" cy="8763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Candidate</a:t>
            </a:r>
          </a:p>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shortlist</a:t>
            </a:r>
          </a:p>
        </p:txBody>
      </p:sp>
      <p:sp>
        <p:nvSpPr>
          <p:cNvPr id="11" name="Compare on target work">
            <a:extLst xmlns:a="http://schemas.openxmlformats.org/drawingml/2006/main">
              <a:ext uri="{FF2B5EF4-FFF2-40B4-BE49-F238E27FC236}">
                <a16:creationId xmlns:a16="http://schemas.microsoft.com/office/drawing/2014/main" id="{C874CCE3-11A6-4FB7-AD3C-CFA1F94EA32E}"/>
              </a:ext>
            </a:extLst>
          </p:cNvPr>
          <p:cNvSpPr>
            <a:spLocks xmlns:a="http://schemas.openxmlformats.org/drawingml/2006/main" noGrp="1"/>
          </p:cNvSpPr>
          <p:nvPr/>
        </p:nvSpPr>
        <p:spPr>
          <a:xfrm xmlns:a="http://schemas.openxmlformats.org/drawingml/2006/main">
            <a:off x="6210300" y="2962275"/>
            <a:ext cx="2343150" cy="8763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Compare on</a:t>
            </a:r>
          </a:p>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target work</a:t>
            </a:r>
          </a:p>
        </p:txBody>
      </p:sp>
      <p:sp>
        <p:nvSpPr>
          <p:cNvPr id="13" name="Product/process change">
            <a:extLst xmlns:a="http://schemas.openxmlformats.org/drawingml/2006/main">
              <a:ext uri="{FF2B5EF4-FFF2-40B4-BE49-F238E27FC236}">
                <a16:creationId xmlns:a16="http://schemas.microsoft.com/office/drawing/2014/main" id="{B8CFC610-CF8B-49FE-99D0-B984D98E27AF}"/>
              </a:ext>
            </a:extLst>
          </p:cNvPr>
          <p:cNvSpPr>
            <a:spLocks xmlns:a="http://schemas.openxmlformats.org/drawingml/2006/main" noGrp="1"/>
          </p:cNvSpPr>
          <p:nvPr/>
        </p:nvSpPr>
        <p:spPr>
          <a:xfrm xmlns:a="http://schemas.openxmlformats.org/drawingml/2006/main">
            <a:off x="9010650" y="2962275"/>
            <a:ext cx="2343150" cy="8763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Product/process</a:t>
            </a:r>
          </a:p>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change</a:t>
            </a:r>
          </a:p>
        </p:txBody>
      </p:sp>
      <p:sp>
        <p:nvSpPr>
          <p:cNvPr id="15" name="">
            <a:extLst xmlns:a="http://schemas.openxmlformats.org/drawingml/2006/main">
              <a:ext uri="{FF2B5EF4-FFF2-40B4-BE49-F238E27FC236}">
                <a16:creationId xmlns:a16="http://schemas.microsoft.com/office/drawing/2014/main" id="{822C1EDD-98ED-47CE-A9D9-883435D9062B}"/>
              </a:ext>
            </a:extLst>
          </p:cNvPr>
          <p:cNvSpPr>
            <a:spLocks xmlns:a="http://schemas.openxmlformats.org/drawingml/2006/main" noGrp="1"/>
          </p:cNvSpPr>
          <p:nvPr/>
        </p:nvSpPr>
        <p:spPr>
          <a:xfrm xmlns:a="http://schemas.openxmlformats.org/drawingml/2006/main">
            <a:off x="10182225" y="3838575"/>
            <a:ext cx="0" cy="400050"/>
          </a:xfrm>
          <a:prstGeom xmlns:a="http://schemas.openxmlformats.org/drawingml/2006/main" prst="line">
            <a:avLst/>
          </a:prstGeom>
          <a:noFill xmlns:a="http://schemas.openxmlformats.org/drawingml/2006/main"/>
          <a:ln xmlns:a="http://schemas.openxmlformats.org/drawingml/2006/main" w="19050">
            <a:solidFill>
              <a:srgbClr val="C75E00"/>
            </a:solidFill>
            <a:prstDash val="solid"/>
          </a:ln>
        </p:spPr>
      </p:sp>
      <p:sp>
        <p:nvSpPr>
          <p:cNvPr id="16" name="">
            <a:extLst xmlns:a="http://schemas.openxmlformats.org/drawingml/2006/main">
              <a:ext uri="{FF2B5EF4-FFF2-40B4-BE49-F238E27FC236}">
                <a16:creationId xmlns:a16="http://schemas.microsoft.com/office/drawing/2014/main" id="{F53F13BA-004D-4733-84F7-9D81401CA824}"/>
              </a:ext>
            </a:extLst>
          </p:cNvPr>
          <p:cNvSpPr>
            <a:spLocks xmlns:a="http://schemas.openxmlformats.org/drawingml/2006/main" noGrp="1"/>
          </p:cNvSpPr>
          <p:nvPr/>
        </p:nvSpPr>
        <p:spPr>
          <a:xfrm xmlns:a="http://schemas.openxmlformats.org/drawingml/2006/main">
            <a:off x="7381875" y="4238625"/>
            <a:ext cx="2800350" cy="0"/>
          </a:xfrm>
          <a:prstGeom xmlns:a="http://schemas.openxmlformats.org/drawingml/2006/main" prst="line">
            <a:avLst/>
          </a:prstGeom>
          <a:noFill xmlns:a="http://schemas.openxmlformats.org/drawingml/2006/main"/>
          <a:ln xmlns:a="http://schemas.openxmlformats.org/drawingml/2006/main" w="19050">
            <a:solidFill>
              <a:srgbClr val="C75E00"/>
            </a:solidFill>
            <a:prstDash val="solid"/>
          </a:ln>
        </p:spPr>
      </p:sp>
      <p:cxnSp>
        <p:nvCxnSpPr>
          <p:cNvPr id="17" name="">
            <a:extLst xmlns:a="http://schemas.openxmlformats.org/drawingml/2006/main">
              <a:ext uri="{FF2B5EF4-FFF2-40B4-BE49-F238E27FC236}">
                <a16:creationId xmlns:a16="http://schemas.microsoft.com/office/drawing/2014/main" id="{415B122E-ACF1-4A47-BF26-36BD1252C7D0}"/>
              </a:ext>
            </a:extLst>
          </p:cNvPr>
          <p:cNvCxnSpPr/>
          <p:nvPr/>
        </p:nvCxnSpPr>
        <p:spPr>
          <a:xfrm xmlns:a="http://schemas.openxmlformats.org/drawingml/2006/main">
            <a:off x="7381875" y="3838575"/>
            <a:ext cx="0" cy="400050"/>
          </a:xfrm>
          <a:prstGeom xmlns:a="http://schemas.openxmlformats.org/drawingml/2006/main" prst="straightConnector1">
            <a:avLst/>
          </a:prstGeom>
          <a:ln xmlns:a="http://schemas.openxmlformats.org/drawingml/2006/main" w="19050">
            <a:solidFill>
              <a:srgbClr val="C75E00"/>
            </a:solidFill>
            <a:headEnd type="triangle" w="sm" len="sm"/>
          </a:ln>
        </p:spPr>
      </p:cxnSp>
      <p:sp>
        <p:nvSpPr>
          <p:cNvPr id="18" name="Results depend on the task mix&#10;and evaluation protocol.">
            <a:extLst xmlns:a="http://schemas.openxmlformats.org/drawingml/2006/main">
              <a:ext uri="{FF2B5EF4-FFF2-40B4-BE49-F238E27FC236}">
                <a16:creationId xmlns:a16="http://schemas.microsoft.com/office/drawing/2014/main" id="{3A155481-03D7-4B40-BA83-9E8F5B5AD657}"/>
              </a:ext>
            </a:extLst>
          </p:cNvPr>
          <p:cNvSpPr>
            <a:spLocks xmlns:a="http://schemas.openxmlformats.org/drawingml/2006/main" noGrp="1"/>
          </p:cNvSpPr>
          <p:nvPr/>
        </p:nvSpPr>
        <p:spPr>
          <a:xfrm xmlns:a="http://schemas.openxmlformats.org/drawingml/2006/main">
            <a:off x="609600" y="4191000"/>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241B13"/>
                </a:solidFill>
                <a:latin typeface="Literata"/>
                <a:ea typeface="Literata"/>
                <a:cs typeface="Literata"/>
              </a:defRPr>
            </a:defPPr>
          </a:lstStyle>
          <a:p xmlns:a="http://schemas.openxmlformats.org/drawingml/2006/main">
            <a:pPr algn="l">
              <a:lnSpc>
                <a:spcPct val="110000"/>
              </a:lnSpc>
              <a:buNone/>
              <a:defRPr sz="2025" b="0">
                <a:solidFill>
                  <a:srgbClr val="241B13"/>
                </a:solidFill>
                <a:latin typeface="Literata"/>
                <a:ea typeface="Literata"/>
                <a:cs typeface="Literata"/>
              </a:defRPr>
            </a:pPr>
            <a:r>
              <a:rPr sz="2025" b="0">
                <a:solidFill>
                  <a:srgbClr val="241B13"/>
                </a:solidFill>
                <a:latin typeface="Literata"/>
                <a:ea typeface="Literata"/>
                <a:cs typeface="Literata"/>
              </a:rPr>
              <a:t>Results depend on the task mix</a:t>
            </a:r>
          </a:p>
          <a:p xmlns:a="http://schemas.openxmlformats.org/drawingml/2006/main">
            <a:pPr algn="l">
              <a:lnSpc>
                <a:spcPct val="110000"/>
              </a:lnSpc>
              <a:buNone/>
              <a:defRPr sz="2025" b="0">
                <a:solidFill>
                  <a:srgbClr val="241B13"/>
                </a:solidFill>
                <a:latin typeface="Literata"/>
                <a:ea typeface="Literata"/>
                <a:cs typeface="Literata"/>
              </a:defRPr>
            </a:pPr>
            <a:r>
              <a:rPr sz="2025" b="0">
                <a:solidFill>
                  <a:srgbClr val="241B13"/>
                </a:solidFill>
                <a:latin typeface="Literata"/>
                <a:ea typeface="Literata"/>
                <a:cs typeface="Literata"/>
              </a:rPr>
              <a:t>and evaluation protocol.</a:t>
            </a:r>
          </a:p>
        </p:txBody>
      </p:sp>
      <p:sp>
        <p:nvSpPr>
          <p:cNvPr id="19" name="Diagnose, change and retest.&#10;Communicate value against a bas">
            <a:extLst xmlns:a="http://schemas.openxmlformats.org/drawingml/2006/main">
              <a:ext uri="{FF2B5EF4-FFF2-40B4-BE49-F238E27FC236}">
                <a16:creationId xmlns:a16="http://schemas.microsoft.com/office/drawing/2014/main" id="{55471844-442C-4498-8122-4F699FB52175}"/>
              </a:ext>
            </a:extLst>
          </p:cNvPr>
          <p:cNvSpPr>
            <a:spLocks xmlns:a="http://schemas.openxmlformats.org/drawingml/2006/main" noGrp="1"/>
          </p:cNvSpPr>
          <p:nvPr/>
        </p:nvSpPr>
        <p:spPr>
          <a:xfrm xmlns:a="http://schemas.openxmlformats.org/drawingml/2006/main">
            <a:off x="6210300" y="4476750"/>
            <a:ext cx="5362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241B13"/>
                </a:solidFill>
                <a:latin typeface="Literata"/>
                <a:ea typeface="Literata"/>
                <a:cs typeface="Literata"/>
              </a:defRPr>
            </a:defPPr>
          </a:lstStyle>
          <a:p xmlns:a="http://schemas.openxmlformats.org/drawingml/2006/main">
            <a:pPr algn="l">
              <a:lnSpc>
                <a:spcPct val="110000"/>
              </a:lnSpc>
              <a:buNone/>
              <a:defRPr sz="2025" b="0">
                <a:solidFill>
                  <a:srgbClr val="241B13"/>
                </a:solidFill>
                <a:latin typeface="Literata"/>
                <a:ea typeface="Literata"/>
                <a:cs typeface="Literata"/>
              </a:defRPr>
            </a:pPr>
            <a:r>
              <a:rPr sz="2025" b="0">
                <a:solidFill>
                  <a:srgbClr val="241B13"/>
                </a:solidFill>
                <a:latin typeface="Literata"/>
                <a:ea typeface="Literata"/>
                <a:cs typeface="Literata"/>
              </a:rPr>
              <a:t>Diagnose, change and retest.</a:t>
            </a:r>
          </a:p>
          <a:p xmlns:a="http://schemas.openxmlformats.org/drawingml/2006/main">
            <a:pPr algn="l">
              <a:lnSpc>
                <a:spcPct val="110000"/>
              </a:lnSpc>
              <a:buNone/>
              <a:defRPr sz="2025" b="0">
                <a:solidFill>
                  <a:srgbClr val="241B13"/>
                </a:solidFill>
                <a:latin typeface="Literata"/>
                <a:ea typeface="Literata"/>
                <a:cs typeface="Literata"/>
              </a:defRPr>
            </a:pPr>
            <a:r>
              <a:rPr sz="2025" b="0">
                <a:solidFill>
                  <a:srgbClr val="241B13"/>
                </a:solidFill>
                <a:latin typeface="Literata"/>
                <a:ea typeface="Literata"/>
                <a:cs typeface="Literata"/>
              </a:rPr>
              <a:t>Communicate value against a baseline.</a:t>
            </a:r>
          </a:p>
        </p:txBody>
      </p:sp>
      <p:sp>
        <p:nvSpPr>
          <p:cNvPr id="20" name="">
            <a:extLst xmlns:a="http://schemas.openxmlformats.org/drawingml/2006/main">
              <a:ext uri="{FF2B5EF4-FFF2-40B4-BE49-F238E27FC236}">
                <a16:creationId xmlns:a16="http://schemas.microsoft.com/office/drawing/2014/main" id="{0D77F561-2810-4D9D-95C1-F4048216A6ED}"/>
              </a:ext>
            </a:extLst>
          </p:cNvPr>
          <p:cNvSpPr>
            <a:spLocks xmlns:a="http://schemas.openxmlformats.org/drawingml/2006/main" noGrp="1"/>
          </p:cNvSpPr>
          <p:nvPr/>
        </p:nvSpPr>
        <p:spPr>
          <a:xfrm xmlns:a="http://schemas.openxmlformats.org/drawingml/2006/main">
            <a:off x="609600" y="5543550"/>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21" name="Internal benchmarks exist. Public benchmarks can be used int">
            <a:extLst xmlns:a="http://schemas.openxmlformats.org/drawingml/2006/main">
              <a:ext uri="{FF2B5EF4-FFF2-40B4-BE49-F238E27FC236}">
                <a16:creationId xmlns:a16="http://schemas.microsoft.com/office/drawing/2014/main" id="{1043468A-C7D7-4043-9FF8-DBB1F5B0F103}"/>
              </a:ext>
            </a:extLst>
          </p:cNvPr>
          <p:cNvSpPr>
            <a:spLocks xmlns:a="http://schemas.openxmlformats.org/drawingml/2006/main" noGrp="1"/>
          </p:cNvSpPr>
          <p:nvPr/>
        </p:nvSpPr>
        <p:spPr>
          <a:xfrm xmlns:a="http://schemas.openxmlformats.org/drawingml/2006/main">
            <a:off x="609600" y="5829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4A4039"/>
                </a:solidFill>
                <a:latin typeface="Hanken Grotesk"/>
                <a:ea typeface="Hanken Grotesk"/>
                <a:cs typeface="Hanken Grotesk"/>
              </a:defRPr>
            </a:defPPr>
          </a:lstStyle>
          <a:p xmlns:a="http://schemas.openxmlformats.org/drawingml/2006/main">
            <a:pPr algn="l">
              <a:lnSpc>
                <a:spcPct val="110000"/>
              </a:lnSpc>
              <a:buNone/>
              <a:defRPr sz="1950" b="0">
                <a:solidFill>
                  <a:srgbClr val="4A4039"/>
                </a:solidFill>
                <a:latin typeface="Hanken Grotesk"/>
                <a:ea typeface="Hanken Grotesk"/>
                <a:cs typeface="Hanken Grotesk"/>
              </a:defRPr>
            </a:pPr>
            <a:r>
              <a:rPr sz="1950" b="0">
                <a:solidFill>
                  <a:srgbClr val="4A4039"/>
                </a:solidFill>
                <a:latin typeface="Hanken Grotesk"/>
                <a:ea typeface="Hanken Grotesk"/>
                <a:cs typeface="Hanken Grotesk"/>
              </a:rPr>
              <a:t>Internal benchmarks exist. Public benchmarks can be used internally.</a:t>
            </a:r>
          </a:p>
        </p:txBody>
      </p:sp>
    </p:spTree>
    <p:extLst>
      <p:ext uri="{BB962C8B-B14F-4D97-AF65-F5344CB8AC3E}">
        <p14:creationId xmlns:p14="http://schemas.microsoft.com/office/powerpoint/2010/main" val="1033827907"/>
      </p:ext>
    </p:extLst>
  </p:cSld>
</p:sld>
</file>

<file path=ppt/slides/slide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25" name="Design the experiment around the decision">
            <a:extLst xmlns:a="http://schemas.openxmlformats.org/drawingml/2006/main">
              <a:ext uri="{FF2B5EF4-FFF2-40B4-BE49-F238E27FC236}">
                <a16:creationId xmlns:a16="http://schemas.microsoft.com/office/drawing/2014/main" id="{52F4352F-54CE-4F85-BA7B-102F011AEA5E}"/>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Design the experiment around the decision</a:t>
            </a:r>
          </a:p>
        </p:txBody>
      </p:sp>
      <p:sp>
        <p:nvSpPr>
          <p:cNvPr id="2" name="Repeated runs are not independent tasks. A better relative s">
            <a:extLst xmlns:a="http://schemas.openxmlformats.org/drawingml/2006/main">
              <a:ext uri="{FF2B5EF4-FFF2-40B4-BE49-F238E27FC236}">
                <a16:creationId xmlns:a16="http://schemas.microsoft.com/office/drawing/2014/main" id="{65955CD4-966A-486E-B097-8D7D420F5AC2}"/>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Repeated runs are not independent tasks. A better relative score does not establish that either system is reliable enough.</a:t>
            </a:r>
          </a:p>
        </p:txBody>
      </p:sp>
      <p:sp>
        <p:nvSpPr>
          <p:cNvPr id="3" name="Jarmak · Engineering Reliable Coding Agents, chs. 1–2   Hard">
            <a:extLst xmlns:a="http://schemas.openxmlformats.org/drawingml/2006/main">
              <a:ext uri="{FF2B5EF4-FFF2-40B4-BE49-F238E27FC236}">
                <a16:creationId xmlns:a16="http://schemas.microsoft.com/office/drawing/2014/main" id="{22E2977F-9C06-49F8-8828-B22AB1000F9A}"/>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0f9e4b6073eb41f7"/>
              </a:rPr>
              <a:t>Jarmak · Engineering Reliable Coding Agents, chs. 1–2</a:t>
            </a:r>
            <a:r>
              <a:rPr sz="1088" b="0">
                <a:solidFill>
                  <a:srgbClr val="766D62"/>
                </a:solidFill>
                <a:latin typeface="Hanken Grotesk"/>
                <a:ea typeface="Hanken Grotesk"/>
                <a:cs typeface="Hanken Grotesk"/>
              </a:rPr>
              <a:t>   </a:t>
            </a:r>
            <a:r>
              <a:rPr sz="1088" b="0">
                <a:solidFill>
                  <a:srgbClr val="766D62"/>
                </a:solidFill>
                <a:latin typeface="Hanken Grotesk"/>
                <a:ea typeface="Hanken Grotesk"/>
                <a:cs typeface="Hanken Grotesk"/>
                <a:hlinkClick xmlns:r="http://schemas.openxmlformats.org/officeDocument/2006/relationships" r:id="R5eefb7e63eb3491c"/>
              </a:rPr>
              <a:t>Hardy et al. · Agent Evaluation Reliability</a:t>
            </a:r>
          </a:p>
        </p:txBody>
      </p:sp>
      <p:sp>
        <p:nvSpPr>
          <p:cNvPr id="4" name="05">
            <a:extLst xmlns:a="http://schemas.openxmlformats.org/drawingml/2006/main">
              <a:ext uri="{FF2B5EF4-FFF2-40B4-BE49-F238E27FC236}">
                <a16:creationId xmlns:a16="http://schemas.microsoft.com/office/drawing/2014/main" id="{F8A36764-5F38-4464-A716-3C5832611CEC}"/>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05</a:t>
            </a:r>
          </a:p>
        </p:txBody>
      </p:sp>
      <p:sp>
        <p:nvSpPr>
          <p:cNvPr id="5" name="TASKS">
            <a:extLst xmlns:a="http://schemas.openxmlformats.org/drawingml/2006/main">
              <a:ext uri="{FF2B5EF4-FFF2-40B4-BE49-F238E27FC236}">
                <a16:creationId xmlns:a16="http://schemas.microsoft.com/office/drawing/2014/main" id="{AF382AE4-BB97-4DD2-9C5F-14FEDAF03CCA}"/>
              </a:ext>
            </a:extLst>
          </p:cNvPr>
          <p:cNvSpPr>
            <a:spLocks xmlns:a="http://schemas.openxmlformats.org/drawingml/2006/main" noGrp="1"/>
          </p:cNvSpPr>
          <p:nvPr/>
        </p:nvSpPr>
        <p:spPr>
          <a:xfrm xmlns:a="http://schemas.openxmlformats.org/drawingml/2006/main">
            <a:off x="609600" y="189547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TASKS</a:t>
            </a:r>
          </a:p>
        </p:txBody>
      </p:sp>
      <p:sp>
        <p:nvSpPr>
          <p:cNvPr id="6" name="REPEATS">
            <a:extLst xmlns:a="http://schemas.openxmlformats.org/drawingml/2006/main">
              <a:ext uri="{FF2B5EF4-FFF2-40B4-BE49-F238E27FC236}">
                <a16:creationId xmlns:a16="http://schemas.microsoft.com/office/drawing/2014/main" id="{050043EA-7996-4674-BD60-E741111FA954}"/>
              </a:ext>
            </a:extLst>
          </p:cNvPr>
          <p:cNvSpPr>
            <a:spLocks xmlns:a="http://schemas.openxmlformats.org/drawingml/2006/main" noGrp="1"/>
          </p:cNvSpPr>
          <p:nvPr/>
        </p:nvSpPr>
        <p:spPr>
          <a:xfrm xmlns:a="http://schemas.openxmlformats.org/drawingml/2006/main">
            <a:off x="4429125" y="189547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REPEATS</a:t>
            </a:r>
          </a:p>
        </p:txBody>
      </p:sp>
      <p:sp>
        <p:nvSpPr>
          <p:cNvPr id="7" name="CONFIGURATIONS">
            <a:extLst xmlns:a="http://schemas.openxmlformats.org/drawingml/2006/main">
              <a:ext uri="{FF2B5EF4-FFF2-40B4-BE49-F238E27FC236}">
                <a16:creationId xmlns:a16="http://schemas.microsoft.com/office/drawing/2014/main" id="{0BD7D071-3784-420B-B1C9-A9EB0B484AF3}"/>
              </a:ext>
            </a:extLst>
          </p:cNvPr>
          <p:cNvSpPr>
            <a:spLocks xmlns:a="http://schemas.openxmlformats.org/drawingml/2006/main" noGrp="1"/>
          </p:cNvSpPr>
          <p:nvPr/>
        </p:nvSpPr>
        <p:spPr>
          <a:xfrm xmlns:a="http://schemas.openxmlformats.org/drawingml/2006/main">
            <a:off x="8248650" y="189547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CONFIGURATIONS</a:t>
            </a:r>
          </a:p>
        </p:txBody>
      </p:sp>
      <p:sp>
        <p:nvSpPr>
          <p:cNvPr id="8" name="Workload coverage">
            <a:extLst xmlns:a="http://schemas.openxmlformats.org/drawingml/2006/main">
              <a:ext uri="{FF2B5EF4-FFF2-40B4-BE49-F238E27FC236}">
                <a16:creationId xmlns:a16="http://schemas.microsoft.com/office/drawing/2014/main" id="{2C32A994-E5B2-4AA7-BB32-D3EEB1745E7E}"/>
              </a:ext>
            </a:extLst>
          </p:cNvPr>
          <p:cNvSpPr>
            <a:spLocks xmlns:a="http://schemas.openxmlformats.org/drawingml/2006/main" noGrp="1"/>
          </p:cNvSpPr>
          <p:nvPr/>
        </p:nvSpPr>
        <p:spPr>
          <a:xfrm xmlns:a="http://schemas.openxmlformats.org/drawingml/2006/main">
            <a:off x="609600" y="2257425"/>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41B13"/>
                </a:solidFill>
                <a:latin typeface="Literata"/>
                <a:ea typeface="Literata"/>
                <a:cs typeface="Literata"/>
              </a:defRPr>
            </a:defPPr>
          </a:lstStyle>
          <a:p xmlns:a="http://schemas.openxmlformats.org/drawingml/2006/main">
            <a:pPr algn="l">
              <a:lnSpc>
                <a:spcPct val="110000"/>
              </a:lnSpc>
              <a:buNone/>
              <a:defRPr sz="2175" b="0">
                <a:solidFill>
                  <a:srgbClr val="241B13"/>
                </a:solidFill>
                <a:latin typeface="Literata"/>
                <a:ea typeface="Literata"/>
                <a:cs typeface="Literata"/>
              </a:defRPr>
            </a:pPr>
            <a:r>
              <a:rPr sz="2175" b="0">
                <a:solidFill>
                  <a:srgbClr val="241B13"/>
                </a:solidFill>
                <a:latin typeface="Literata"/>
                <a:ea typeface="Literata"/>
                <a:cs typeface="Literata"/>
              </a:rPr>
              <a:t>Workload coverage</a:t>
            </a:r>
          </a:p>
        </p:txBody>
      </p:sp>
      <p:sp>
        <p:nvSpPr>
          <p:cNvPr id="9" name="Variation between runs">
            <a:extLst xmlns:a="http://schemas.openxmlformats.org/drawingml/2006/main">
              <a:ext uri="{FF2B5EF4-FFF2-40B4-BE49-F238E27FC236}">
                <a16:creationId xmlns:a16="http://schemas.microsoft.com/office/drawing/2014/main" id="{CA5AF24D-7AE8-40A0-9457-9CA7ACF6BC8E}"/>
              </a:ext>
            </a:extLst>
          </p:cNvPr>
          <p:cNvSpPr>
            <a:spLocks xmlns:a="http://schemas.openxmlformats.org/drawingml/2006/main" noGrp="1"/>
          </p:cNvSpPr>
          <p:nvPr/>
        </p:nvSpPr>
        <p:spPr>
          <a:xfrm xmlns:a="http://schemas.openxmlformats.org/drawingml/2006/main">
            <a:off x="4429125" y="2257425"/>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41B13"/>
                </a:solidFill>
                <a:latin typeface="Literata"/>
                <a:ea typeface="Literata"/>
                <a:cs typeface="Literata"/>
              </a:defRPr>
            </a:defPPr>
          </a:lstStyle>
          <a:p xmlns:a="http://schemas.openxmlformats.org/drawingml/2006/main">
            <a:pPr algn="l">
              <a:lnSpc>
                <a:spcPct val="110000"/>
              </a:lnSpc>
              <a:buNone/>
              <a:defRPr sz="2175" b="0">
                <a:solidFill>
                  <a:srgbClr val="241B13"/>
                </a:solidFill>
                <a:latin typeface="Literata"/>
                <a:ea typeface="Literata"/>
                <a:cs typeface="Literata"/>
              </a:defRPr>
            </a:pPr>
            <a:r>
              <a:rPr sz="2175" b="0">
                <a:solidFill>
                  <a:srgbClr val="241B13"/>
                </a:solidFill>
                <a:latin typeface="Literata"/>
                <a:ea typeface="Literata"/>
                <a:cs typeface="Literata"/>
              </a:rPr>
              <a:t>Variation between runs</a:t>
            </a:r>
          </a:p>
        </p:txBody>
      </p:sp>
      <p:sp>
        <p:nvSpPr>
          <p:cNvPr id="10" name="How results depend&#10;on the pairing">
            <a:extLst xmlns:a="http://schemas.openxmlformats.org/drawingml/2006/main">
              <a:ext uri="{FF2B5EF4-FFF2-40B4-BE49-F238E27FC236}">
                <a16:creationId xmlns:a16="http://schemas.microsoft.com/office/drawing/2014/main" id="{366A18DC-3142-41CE-BCE5-FB9D06499F55}"/>
              </a:ext>
            </a:extLst>
          </p:cNvPr>
          <p:cNvSpPr>
            <a:spLocks xmlns:a="http://schemas.openxmlformats.org/drawingml/2006/main" noGrp="1"/>
          </p:cNvSpPr>
          <p:nvPr/>
        </p:nvSpPr>
        <p:spPr>
          <a:xfrm xmlns:a="http://schemas.openxmlformats.org/drawingml/2006/main">
            <a:off x="8248650" y="22574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41B13"/>
                </a:solidFill>
                <a:latin typeface="Literata"/>
                <a:ea typeface="Literata"/>
                <a:cs typeface="Literata"/>
              </a:defRPr>
            </a:defPPr>
          </a:lstStyle>
          <a:p xmlns:a="http://schemas.openxmlformats.org/drawingml/2006/main">
            <a:pPr algn="l">
              <a:lnSpc>
                <a:spcPct val="110000"/>
              </a:lnSpc>
              <a:buNone/>
              <a:defRPr sz="2175" b="0">
                <a:solidFill>
                  <a:srgbClr val="241B13"/>
                </a:solidFill>
                <a:latin typeface="Literata"/>
                <a:ea typeface="Literata"/>
                <a:cs typeface="Literata"/>
              </a:defRPr>
            </a:pPr>
            <a:r>
              <a:rPr sz="2175" b="0">
                <a:solidFill>
                  <a:srgbClr val="241B13"/>
                </a:solidFill>
                <a:latin typeface="Literata"/>
                <a:ea typeface="Literata"/>
                <a:cs typeface="Literata"/>
              </a:rPr>
              <a:t>How results depend</a:t>
            </a:r>
          </a:p>
          <a:p xmlns:a="http://schemas.openxmlformats.org/drawingml/2006/main">
            <a:pPr algn="l">
              <a:lnSpc>
                <a:spcPct val="110000"/>
              </a:lnSpc>
              <a:buNone/>
              <a:defRPr sz="2175" b="0">
                <a:solidFill>
                  <a:srgbClr val="241B13"/>
                </a:solidFill>
                <a:latin typeface="Literata"/>
                <a:ea typeface="Literata"/>
                <a:cs typeface="Literata"/>
              </a:defRPr>
            </a:pPr>
            <a:r>
              <a:rPr sz="2175" b="0">
                <a:solidFill>
                  <a:srgbClr val="241B13"/>
                </a:solidFill>
                <a:latin typeface="Literata"/>
                <a:ea typeface="Literata"/>
                <a:cs typeface="Literata"/>
              </a:rPr>
              <a:t>on the pairing</a:t>
            </a:r>
          </a:p>
        </p:txBody>
      </p:sp>
      <p:graphicFrame>
        <p:nvGraphicFramePr>
          <p:cNvPr id="11" name="">
            <a:extLst xmlns:a="http://schemas.openxmlformats.org/drawingml/2006/main">
              <a:ext uri="{FF2B5EF4-FFF2-40B4-BE49-F238E27FC236}">
                <a16:creationId xmlns:a16="http://schemas.microsoft.com/office/drawing/2014/main" id="{3D30C1F0-5EC4-46A7-A227-6C4C117BA4D5}"/>
              </a:ext>
            </a:extLst>
          </p:cNvPr>
          <p:cNvGraphicFramePr/>
          <p:nvPr/>
        </p:nvGraphicFramePr>
        <p:xfrm>
          <a:off xmlns:a="http://schemas.openxmlformats.org/drawingml/2006/main" x="609600" y="3190875"/>
          <a:ext xmlns:a="http://schemas.openxmlformats.org/drawingml/2006/main" cx="3190875" cy="1666875"/>
        </p:xfrm>
        <a:graphic xmlns:a="http://schemas.openxmlformats.org/drawingml/2006/main">
          <a:graphicData uri="http://schemas.openxmlformats.org/drawingml/2006/table">
            <a:tbl>
              <a:tblPr firstRow="0" bandRow="0"/>
              <a:tblGrid>
                <a:gridCol w="1695450"/>
                <a:gridCol w="1495425"/>
              </a:tblGrid>
              <a:tr h="555625">
                <a:tc>
                  <a:txBody>
                    <a:bodyPr lIns="114300" tIns="114300" rIns="114300" bIns="114300"/>
                    <a:lstStyle/>
                    <a:p>
                      <a:pPr algn="l"/>
                      <a:r>
                        <a:rPr sz="1800">
                          <a:solidFill>
                            <a:srgbClr val="241B13"/>
                          </a:solidFill>
                          <a:latin typeface="Hanken Grotesk"/>
                          <a:ea typeface="Hanken Grotesk"/>
                          <a:cs typeface="Hanken Grotesk"/>
                        </a:rPr>
                        <a:t>Family A</a:t>
                      </a:r>
                    </a:p>
                  </a:txBody>
                  <a:tcPr marL="91440" marR="91440" marT="45720" marB="45720" anchor="ctr">
                    <a:solidFill>
                      <a:srgbClr val="F7F3EB"/>
                    </a:solidFill>
                  </a:tcPr>
                </a:tc>
                <a:tc>
                  <a:txBody>
                    <a:bodyPr lIns="114300" tIns="114300" rIns="114300" bIns="114300"/>
                    <a:lstStyle/>
                    <a:p>
                      <a:pPr algn="l"/>
                      <a:r>
                        <a:rPr sz="1800">
                          <a:solidFill>
                            <a:srgbClr val="241B13"/>
                          </a:solidFill>
                          <a:latin typeface="Hanken Grotesk"/>
                          <a:ea typeface="Hanken Grotesk"/>
                          <a:cs typeface="Hanken Grotesk"/>
                        </a:rPr>
                        <a:t>task i</a:t>
                      </a:r>
                    </a:p>
                  </a:txBody>
                  <a:tcPr marL="91440" marR="91440" marT="45720" marB="45720" anchor="ctr">
                    <a:solidFill>
                      <a:srgbClr val="F7F3EB"/>
                    </a:solidFill>
                  </a:tcPr>
                </a:tc>
              </a:tr>
              <a:tr h="555625">
                <a:tc>
                  <a:txBody>
                    <a:bodyPr lIns="114300" tIns="114300" rIns="114300" bIns="114300"/>
                    <a:lstStyle/>
                    <a:p>
                      <a:pPr algn="l"/>
                      <a:r>
                        <a:rPr sz="1800" b="0">
                          <a:solidFill>
                            <a:srgbClr val="241B13"/>
                          </a:solidFill>
                          <a:latin typeface="Hanken Grotesk"/>
                          <a:ea typeface="Hanken Grotesk"/>
                          <a:cs typeface="Hanken Grotesk"/>
                        </a:rPr>
                        <a:t>Family B</a:t>
                      </a:r>
                    </a:p>
                  </a:txBody>
                  <a:tcPr marL="91440" marR="91440" marT="45720" marB="45720" anchor="ctr">
                    <a:solidFill>
                      <a:srgbClr val="F7F3EB"/>
                    </a:solidFill>
                  </a:tcPr>
                </a:tc>
                <a:tc>
                  <a:txBody>
                    <a:bodyPr lIns="114300" tIns="114300" rIns="114300" bIns="114300"/>
                    <a:lstStyle/>
                    <a:p>
                      <a:pPr algn="l"/>
                      <a:r>
                        <a:rPr sz="1800" b="0">
                          <a:solidFill>
                            <a:srgbClr val="241B13"/>
                          </a:solidFill>
                          <a:latin typeface="Hanken Grotesk"/>
                          <a:ea typeface="Hanken Grotesk"/>
                          <a:cs typeface="Hanken Grotesk"/>
                        </a:rPr>
                        <a:t>task j</a:t>
                      </a:r>
                    </a:p>
                  </a:txBody>
                  <a:tcPr marL="91440" marR="91440" marT="45720" marB="45720" anchor="ctr">
                    <a:solidFill>
                      <a:srgbClr val="F7F3EB"/>
                    </a:solidFill>
                  </a:tcPr>
                </a:tc>
              </a:tr>
              <a:tr h="555625">
                <a:tc>
                  <a:txBody>
                    <a:bodyPr lIns="114300" tIns="114300" rIns="114300" bIns="114300"/>
                    <a:lstStyle/>
                    <a:p>
                      <a:pPr algn="l"/>
                      <a:r>
                        <a:rPr sz="1800" b="0">
                          <a:solidFill>
                            <a:srgbClr val="241B13"/>
                          </a:solidFill>
                          <a:latin typeface="Hanken Grotesk"/>
                          <a:ea typeface="Hanken Grotesk"/>
                          <a:cs typeface="Hanken Grotesk"/>
                        </a:rPr>
                        <a:t>Family C</a:t>
                      </a:r>
                    </a:p>
                  </a:txBody>
                  <a:tcPr marL="91440" marR="91440" marT="45720" marB="45720" anchor="ctr">
                    <a:solidFill>
                      <a:srgbClr val="F7F3EB"/>
                    </a:solidFill>
                  </a:tcPr>
                </a:tc>
                <a:tc>
                  <a:txBody>
                    <a:bodyPr lIns="114300" tIns="114300" rIns="114300" bIns="114300"/>
                    <a:lstStyle/>
                    <a:p>
                      <a:pPr algn="l"/>
                      <a:r>
                        <a:rPr sz="1800" b="0">
                          <a:solidFill>
                            <a:srgbClr val="241B13"/>
                          </a:solidFill>
                          <a:latin typeface="Hanken Grotesk"/>
                          <a:ea typeface="Hanken Grotesk"/>
                          <a:cs typeface="Hanken Grotesk"/>
                        </a:rPr>
                        <a:t>task k</a:t>
                      </a:r>
                    </a:p>
                  </a:txBody>
                  <a:tcPr marL="91440" marR="91440" marT="45720" marB="45720" anchor="ctr">
                    <a:solidFill>
                      <a:srgbClr val="F7F3EB"/>
                    </a:solidFill>
                  </a:tcPr>
                </a:tc>
              </a:tr>
            </a:tbl>
          </a:graphicData>
        </a:graphic>
      </p:graphicFrame>
      <p:sp>
        <p:nvSpPr>
          <p:cNvPr id="12" name="Same task">
            <a:extLst xmlns:a="http://schemas.openxmlformats.org/drawingml/2006/main">
              <a:ext uri="{FF2B5EF4-FFF2-40B4-BE49-F238E27FC236}">
                <a16:creationId xmlns:a16="http://schemas.microsoft.com/office/drawing/2014/main" id="{661EE1BF-39BB-4098-934A-805E891E2BBD}"/>
              </a:ext>
            </a:extLst>
          </p:cNvPr>
          <p:cNvSpPr>
            <a:spLocks xmlns:a="http://schemas.openxmlformats.org/drawingml/2006/main" noGrp="1"/>
          </p:cNvSpPr>
          <p:nvPr/>
        </p:nvSpPr>
        <p:spPr>
          <a:xfrm xmlns:a="http://schemas.openxmlformats.org/drawingml/2006/main">
            <a:off x="4429125" y="32385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241B13"/>
                </a:solidFill>
                <a:latin typeface="Hanken Grotesk"/>
                <a:ea typeface="Hanken Grotesk"/>
                <a:cs typeface="Hanken Grotesk"/>
              </a:defRPr>
            </a:defPPr>
          </a:lstStyle>
          <a:p xmlns:a="http://schemas.openxmlformats.org/drawingml/2006/main">
            <a:pPr algn="l">
              <a:lnSpc>
                <a:spcPct val="110000"/>
              </a:lnSpc>
              <a:buNone/>
              <a:defRPr sz="1800" b="0">
                <a:solidFill>
                  <a:srgbClr val="241B13"/>
                </a:solidFill>
                <a:latin typeface="Hanken Grotesk"/>
                <a:ea typeface="Hanken Grotesk"/>
                <a:cs typeface="Hanken Grotesk"/>
              </a:defRPr>
            </a:pPr>
            <a:r>
              <a:rPr sz="1800" b="0">
                <a:solidFill>
                  <a:srgbClr val="241B13"/>
                </a:solidFill>
                <a:latin typeface="Hanken Grotesk"/>
                <a:ea typeface="Hanken Grotesk"/>
                <a:cs typeface="Hanken Grotesk"/>
              </a:rPr>
              <a:t>Same task</a:t>
            </a:r>
          </a:p>
        </p:txBody>
      </p:sp>
      <p:sp>
        <p:nvSpPr>
          <p:cNvPr id="13" name="run 1">
            <a:extLst xmlns:a="http://schemas.openxmlformats.org/drawingml/2006/main">
              <a:ext uri="{FF2B5EF4-FFF2-40B4-BE49-F238E27FC236}">
                <a16:creationId xmlns:a16="http://schemas.microsoft.com/office/drawing/2014/main" id="{51E5F2AB-3264-48B3-9C9A-7F84A16D7CAB}"/>
              </a:ext>
            </a:extLst>
          </p:cNvPr>
          <p:cNvSpPr>
            <a:spLocks xmlns:a="http://schemas.openxmlformats.org/drawingml/2006/main" noGrp="1"/>
          </p:cNvSpPr>
          <p:nvPr/>
        </p:nvSpPr>
        <p:spPr>
          <a:xfrm xmlns:a="http://schemas.openxmlformats.org/drawingml/2006/main">
            <a:off x="6257925" y="3238500"/>
            <a:ext cx="1400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C75E00"/>
                </a:solidFill>
                <a:latin typeface="Hanken Grotesk"/>
                <a:ea typeface="Hanken Grotesk"/>
                <a:cs typeface="Hanken Grotesk"/>
              </a:defRPr>
            </a:defPPr>
          </a:lstStyle>
          <a:p xmlns:a="http://schemas.openxmlformats.org/drawingml/2006/main">
            <a:pPr algn="l">
              <a:lnSpc>
                <a:spcPct val="110000"/>
              </a:lnSpc>
              <a:buNone/>
              <a:defRPr sz="1800" b="0">
                <a:solidFill>
                  <a:srgbClr val="C75E00"/>
                </a:solidFill>
                <a:latin typeface="Hanken Grotesk"/>
                <a:ea typeface="Hanken Grotesk"/>
                <a:cs typeface="Hanken Grotesk"/>
              </a:defRPr>
            </a:pPr>
            <a:r>
              <a:rPr sz="1800" b="0">
                <a:solidFill>
                  <a:srgbClr val="C75E00"/>
                </a:solidFill>
                <a:latin typeface="Hanken Grotesk"/>
                <a:ea typeface="Hanken Grotesk"/>
                <a:cs typeface="Hanken Grotesk"/>
              </a:rPr>
              <a:t>run 1</a:t>
            </a:r>
          </a:p>
        </p:txBody>
      </p:sp>
      <p:sp>
        <p:nvSpPr>
          <p:cNvPr id="14" name="">
            <a:extLst xmlns:a="http://schemas.openxmlformats.org/drawingml/2006/main">
              <a:ext uri="{FF2B5EF4-FFF2-40B4-BE49-F238E27FC236}">
                <a16:creationId xmlns:a16="http://schemas.microsoft.com/office/drawing/2014/main" id="{1D265B1C-F8B9-4E2F-A8FF-A84195349EFB}"/>
              </a:ext>
            </a:extLst>
          </p:cNvPr>
          <p:cNvSpPr>
            <a:spLocks xmlns:a="http://schemas.openxmlformats.org/drawingml/2006/main" noGrp="1"/>
          </p:cNvSpPr>
          <p:nvPr/>
        </p:nvSpPr>
        <p:spPr>
          <a:xfrm xmlns:a="http://schemas.openxmlformats.org/drawingml/2006/main">
            <a:off x="4429125" y="3695700"/>
            <a:ext cx="3190875"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5" name="Same task">
            <a:extLst xmlns:a="http://schemas.openxmlformats.org/drawingml/2006/main">
              <a:ext uri="{FF2B5EF4-FFF2-40B4-BE49-F238E27FC236}">
                <a16:creationId xmlns:a16="http://schemas.microsoft.com/office/drawing/2014/main" id="{659DD044-62C6-4C7E-80F0-48B115D154AE}"/>
              </a:ext>
            </a:extLst>
          </p:cNvPr>
          <p:cNvSpPr>
            <a:spLocks xmlns:a="http://schemas.openxmlformats.org/drawingml/2006/main" noGrp="1"/>
          </p:cNvSpPr>
          <p:nvPr/>
        </p:nvSpPr>
        <p:spPr>
          <a:xfrm xmlns:a="http://schemas.openxmlformats.org/drawingml/2006/main">
            <a:off x="4429125" y="38385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241B13"/>
                </a:solidFill>
                <a:latin typeface="Hanken Grotesk"/>
                <a:ea typeface="Hanken Grotesk"/>
                <a:cs typeface="Hanken Grotesk"/>
              </a:defRPr>
            </a:defPPr>
          </a:lstStyle>
          <a:p xmlns:a="http://schemas.openxmlformats.org/drawingml/2006/main">
            <a:pPr algn="l">
              <a:lnSpc>
                <a:spcPct val="110000"/>
              </a:lnSpc>
              <a:buNone/>
              <a:defRPr sz="1800" b="0">
                <a:solidFill>
                  <a:srgbClr val="241B13"/>
                </a:solidFill>
                <a:latin typeface="Hanken Grotesk"/>
                <a:ea typeface="Hanken Grotesk"/>
                <a:cs typeface="Hanken Grotesk"/>
              </a:defRPr>
            </a:pPr>
            <a:r>
              <a:rPr sz="1800" b="0">
                <a:solidFill>
                  <a:srgbClr val="241B13"/>
                </a:solidFill>
                <a:latin typeface="Hanken Grotesk"/>
                <a:ea typeface="Hanken Grotesk"/>
                <a:cs typeface="Hanken Grotesk"/>
              </a:rPr>
              <a:t>Same task</a:t>
            </a:r>
          </a:p>
        </p:txBody>
      </p:sp>
      <p:sp>
        <p:nvSpPr>
          <p:cNvPr id="16" name="run 2">
            <a:extLst xmlns:a="http://schemas.openxmlformats.org/drawingml/2006/main">
              <a:ext uri="{FF2B5EF4-FFF2-40B4-BE49-F238E27FC236}">
                <a16:creationId xmlns:a16="http://schemas.microsoft.com/office/drawing/2014/main" id="{FE6B0E28-33C2-47D5-B371-2614F883152D}"/>
              </a:ext>
            </a:extLst>
          </p:cNvPr>
          <p:cNvSpPr>
            <a:spLocks xmlns:a="http://schemas.openxmlformats.org/drawingml/2006/main" noGrp="1"/>
          </p:cNvSpPr>
          <p:nvPr/>
        </p:nvSpPr>
        <p:spPr>
          <a:xfrm xmlns:a="http://schemas.openxmlformats.org/drawingml/2006/main">
            <a:off x="6257925" y="3838575"/>
            <a:ext cx="1400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C75E00"/>
                </a:solidFill>
                <a:latin typeface="Hanken Grotesk"/>
                <a:ea typeface="Hanken Grotesk"/>
                <a:cs typeface="Hanken Grotesk"/>
              </a:defRPr>
            </a:defPPr>
          </a:lstStyle>
          <a:p xmlns:a="http://schemas.openxmlformats.org/drawingml/2006/main">
            <a:pPr algn="l">
              <a:lnSpc>
                <a:spcPct val="110000"/>
              </a:lnSpc>
              <a:buNone/>
              <a:defRPr sz="1800" b="0">
                <a:solidFill>
                  <a:srgbClr val="C75E00"/>
                </a:solidFill>
                <a:latin typeface="Hanken Grotesk"/>
                <a:ea typeface="Hanken Grotesk"/>
                <a:cs typeface="Hanken Grotesk"/>
              </a:defRPr>
            </a:pPr>
            <a:r>
              <a:rPr sz="1800" b="0">
                <a:solidFill>
                  <a:srgbClr val="C75E00"/>
                </a:solidFill>
                <a:latin typeface="Hanken Grotesk"/>
                <a:ea typeface="Hanken Grotesk"/>
                <a:cs typeface="Hanken Grotesk"/>
              </a:rPr>
              <a:t>run 2</a:t>
            </a:r>
          </a:p>
        </p:txBody>
      </p:sp>
      <p:sp>
        <p:nvSpPr>
          <p:cNvPr id="17" name="">
            <a:extLst xmlns:a="http://schemas.openxmlformats.org/drawingml/2006/main">
              <a:ext uri="{FF2B5EF4-FFF2-40B4-BE49-F238E27FC236}">
                <a16:creationId xmlns:a16="http://schemas.microsoft.com/office/drawing/2014/main" id="{ADF9FEE8-525E-4087-A853-7CFD10EB2AB8}"/>
              </a:ext>
            </a:extLst>
          </p:cNvPr>
          <p:cNvSpPr>
            <a:spLocks xmlns:a="http://schemas.openxmlformats.org/drawingml/2006/main" noGrp="1"/>
          </p:cNvSpPr>
          <p:nvPr/>
        </p:nvSpPr>
        <p:spPr>
          <a:xfrm xmlns:a="http://schemas.openxmlformats.org/drawingml/2006/main">
            <a:off x="4429125" y="4295775"/>
            <a:ext cx="3190875"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8" name="Same task">
            <a:extLst xmlns:a="http://schemas.openxmlformats.org/drawingml/2006/main">
              <a:ext uri="{FF2B5EF4-FFF2-40B4-BE49-F238E27FC236}">
                <a16:creationId xmlns:a16="http://schemas.microsoft.com/office/drawing/2014/main" id="{ED408146-0A5A-4E12-AC93-C6D456E2620F}"/>
              </a:ext>
            </a:extLst>
          </p:cNvPr>
          <p:cNvSpPr>
            <a:spLocks xmlns:a="http://schemas.openxmlformats.org/drawingml/2006/main" noGrp="1"/>
          </p:cNvSpPr>
          <p:nvPr/>
        </p:nvSpPr>
        <p:spPr>
          <a:xfrm xmlns:a="http://schemas.openxmlformats.org/drawingml/2006/main">
            <a:off x="4429125" y="44386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241B13"/>
                </a:solidFill>
                <a:latin typeface="Hanken Grotesk"/>
                <a:ea typeface="Hanken Grotesk"/>
                <a:cs typeface="Hanken Grotesk"/>
              </a:defRPr>
            </a:defPPr>
          </a:lstStyle>
          <a:p xmlns:a="http://schemas.openxmlformats.org/drawingml/2006/main">
            <a:pPr algn="l">
              <a:lnSpc>
                <a:spcPct val="110000"/>
              </a:lnSpc>
              <a:buNone/>
              <a:defRPr sz="1800" b="0">
                <a:solidFill>
                  <a:srgbClr val="241B13"/>
                </a:solidFill>
                <a:latin typeface="Hanken Grotesk"/>
                <a:ea typeface="Hanken Grotesk"/>
                <a:cs typeface="Hanken Grotesk"/>
              </a:defRPr>
            </a:pPr>
            <a:r>
              <a:rPr sz="1800" b="0">
                <a:solidFill>
                  <a:srgbClr val="241B13"/>
                </a:solidFill>
                <a:latin typeface="Hanken Grotesk"/>
                <a:ea typeface="Hanken Grotesk"/>
                <a:cs typeface="Hanken Grotesk"/>
              </a:rPr>
              <a:t>Same task</a:t>
            </a:r>
          </a:p>
        </p:txBody>
      </p:sp>
      <p:sp>
        <p:nvSpPr>
          <p:cNvPr id="19" name="run 3">
            <a:extLst xmlns:a="http://schemas.openxmlformats.org/drawingml/2006/main">
              <a:ext uri="{FF2B5EF4-FFF2-40B4-BE49-F238E27FC236}">
                <a16:creationId xmlns:a16="http://schemas.microsoft.com/office/drawing/2014/main" id="{7A8DA3E7-91E6-4D95-ADE6-7A27E1BB2342}"/>
              </a:ext>
            </a:extLst>
          </p:cNvPr>
          <p:cNvSpPr>
            <a:spLocks xmlns:a="http://schemas.openxmlformats.org/drawingml/2006/main" noGrp="1"/>
          </p:cNvSpPr>
          <p:nvPr/>
        </p:nvSpPr>
        <p:spPr>
          <a:xfrm xmlns:a="http://schemas.openxmlformats.org/drawingml/2006/main">
            <a:off x="6257925" y="4438650"/>
            <a:ext cx="1400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C75E00"/>
                </a:solidFill>
                <a:latin typeface="Hanken Grotesk"/>
                <a:ea typeface="Hanken Grotesk"/>
                <a:cs typeface="Hanken Grotesk"/>
              </a:defRPr>
            </a:defPPr>
          </a:lstStyle>
          <a:p xmlns:a="http://schemas.openxmlformats.org/drawingml/2006/main">
            <a:pPr algn="l">
              <a:lnSpc>
                <a:spcPct val="110000"/>
              </a:lnSpc>
              <a:buNone/>
              <a:defRPr sz="1800" b="0">
                <a:solidFill>
                  <a:srgbClr val="C75E00"/>
                </a:solidFill>
                <a:latin typeface="Hanken Grotesk"/>
                <a:ea typeface="Hanken Grotesk"/>
                <a:cs typeface="Hanken Grotesk"/>
              </a:defRPr>
            </a:pPr>
            <a:r>
              <a:rPr sz="1800" b="0">
                <a:solidFill>
                  <a:srgbClr val="C75E00"/>
                </a:solidFill>
                <a:latin typeface="Hanken Grotesk"/>
                <a:ea typeface="Hanken Grotesk"/>
                <a:cs typeface="Hanken Grotesk"/>
              </a:rPr>
              <a:t>run 3</a:t>
            </a:r>
          </a:p>
        </p:txBody>
      </p:sp>
      <p:graphicFrame>
        <p:nvGraphicFramePr>
          <p:cNvPr id="20" name="">
            <a:extLst xmlns:a="http://schemas.openxmlformats.org/drawingml/2006/main">
              <a:ext uri="{FF2B5EF4-FFF2-40B4-BE49-F238E27FC236}">
                <a16:creationId xmlns:a16="http://schemas.microsoft.com/office/drawing/2014/main" id="{DD7F67E3-756A-4BDF-874F-FF3D6BB1E78E}"/>
              </a:ext>
            </a:extLst>
          </p:cNvPr>
          <p:cNvGraphicFramePr/>
          <p:nvPr/>
        </p:nvGraphicFramePr>
        <p:xfrm>
          <a:off xmlns:a="http://schemas.openxmlformats.org/drawingml/2006/main" x="8248650" y="3190875"/>
          <a:ext xmlns:a="http://schemas.openxmlformats.org/drawingml/2006/main" cx="3333750" cy="1666875"/>
        </p:xfrm>
        <a:graphic xmlns:a="http://schemas.openxmlformats.org/drawingml/2006/main">
          <a:graphicData uri="http://schemas.openxmlformats.org/drawingml/2006/table">
            <a:tbl>
              <a:tblPr firstRow="0" bandRow="0"/>
              <a:tblGrid>
                <a:gridCol w="1066800"/>
                <a:gridCol w="1133475"/>
                <a:gridCol w="1133475"/>
              </a:tblGrid>
              <a:tr h="555625">
                <a:tc>
                  <a:txBody>
                    <a:bodyPr lIns="114300" tIns="114300" rIns="114300" bIns="114300"/>
                    <a:lstStyle/>
                    <a:p>
                      <a:r>
                        <a:rPr sz="1575" b="1">
                          <a:solidFill>
                            <a:srgbClr val="4A4039"/>
                          </a:solidFill>
                          <a:latin typeface="Hanken Grotesk"/>
                          <a:ea typeface="Hanken Grotesk"/>
                          <a:cs typeface="Hanken Grotesk"/>
                        </a:rPr>
                        <a:t/>
                      </a:r>
                    </a:p>
                  </a:txBody>
                  <a:tcPr marL="91440" marR="91440" marT="45720" marB="45720" anchor="ctr">
                    <a:solidFill>
                      <a:srgbClr val="EBE6DC"/>
                    </a:solidFill>
                  </a:tcPr>
                </a:tc>
                <a:tc>
                  <a:txBody>
                    <a:bodyPr lIns="114300" tIns="114300" rIns="114300" bIns="114300"/>
                    <a:lstStyle/>
                    <a:p>
                      <a:pPr algn="l"/>
                      <a:r>
                        <a:rPr sz="1575" b="1">
                          <a:solidFill>
                            <a:srgbClr val="4A4039"/>
                          </a:solidFill>
                          <a:latin typeface="Hanken Grotesk"/>
                          <a:ea typeface="Hanken Grotesk"/>
                          <a:cs typeface="Hanken Grotesk"/>
                        </a:rPr>
                        <a:t>Harness A</a:t>
                      </a:r>
                    </a:p>
                  </a:txBody>
                  <a:tcPr marL="91440" marR="91440" marT="45720" marB="45720" anchor="ctr">
                    <a:solidFill>
                      <a:srgbClr val="EBE6DC"/>
                    </a:solidFill>
                  </a:tcPr>
                </a:tc>
                <a:tc>
                  <a:txBody>
                    <a:bodyPr lIns="114300" tIns="114300" rIns="114300" bIns="114300"/>
                    <a:lstStyle/>
                    <a:p>
                      <a:pPr algn="l"/>
                      <a:r>
                        <a:rPr sz="1575" b="1">
                          <a:solidFill>
                            <a:srgbClr val="4A4039"/>
                          </a:solidFill>
                          <a:latin typeface="Hanken Grotesk"/>
                          <a:ea typeface="Hanken Grotesk"/>
                          <a:cs typeface="Hanken Grotesk"/>
                        </a:rPr>
                        <a:t>Harness B</a:t>
                      </a:r>
                    </a:p>
                  </a:txBody>
                  <a:tcPr marL="91440" marR="91440" marT="45720" marB="45720" anchor="ctr">
                    <a:solidFill>
                      <a:srgbClr val="EBE6DC"/>
                    </a:solidFill>
                  </a:tcPr>
                </a:tc>
              </a:tr>
              <a:tr h="555625">
                <a:tc>
                  <a:txBody>
                    <a:bodyPr lIns="114300" tIns="114300" rIns="114300" bIns="114300"/>
                    <a:lstStyle/>
                    <a:p>
                      <a:pPr algn="l"/>
                      <a:r>
                        <a:rPr sz="1575" b="0">
                          <a:solidFill>
                            <a:srgbClr val="241B13"/>
                          </a:solidFill>
                          <a:latin typeface="Hanken Grotesk"/>
                          <a:ea typeface="Hanken Grotesk"/>
                          <a:cs typeface="Hanken Grotesk"/>
                        </a:rPr>
                        <a:t>Model A</a:t>
                      </a:r>
                    </a:p>
                  </a:txBody>
                  <a:tcPr marL="91440" marR="91440" marT="45720" marB="45720" anchor="ctr">
                    <a:solidFill>
                      <a:srgbClr val="F7F3EB"/>
                    </a:solidFill>
                  </a:tcPr>
                </a:tc>
                <a:tc>
                  <a:txBody>
                    <a:bodyPr lIns="114300" tIns="114300" rIns="114300" bIns="114300"/>
                    <a:lstStyle/>
                    <a:p>
                      <a:pPr algn="l"/>
                      <a:r>
                        <a:rPr sz="1575" b="0">
                          <a:solidFill>
                            <a:srgbClr val="241B13"/>
                          </a:solidFill>
                          <a:latin typeface="Hanken Grotesk"/>
                          <a:ea typeface="Hanken Grotesk"/>
                          <a:cs typeface="Hanken Grotesk"/>
                        </a:rPr>
                        <a:t>A × A</a:t>
                      </a:r>
                    </a:p>
                  </a:txBody>
                  <a:tcPr marL="91440" marR="91440" marT="45720" marB="45720" anchor="ctr">
                    <a:solidFill>
                      <a:srgbClr val="F7F3EB"/>
                    </a:solidFill>
                  </a:tcPr>
                </a:tc>
                <a:tc>
                  <a:txBody>
                    <a:bodyPr lIns="114300" tIns="114300" rIns="114300" bIns="114300"/>
                    <a:lstStyle/>
                    <a:p>
                      <a:pPr algn="l"/>
                      <a:r>
                        <a:rPr sz="1575" b="0">
                          <a:solidFill>
                            <a:srgbClr val="241B13"/>
                          </a:solidFill>
                          <a:latin typeface="Hanken Grotesk"/>
                          <a:ea typeface="Hanken Grotesk"/>
                          <a:cs typeface="Hanken Grotesk"/>
                        </a:rPr>
                        <a:t>A × B</a:t>
                      </a:r>
                    </a:p>
                  </a:txBody>
                  <a:tcPr marL="91440" marR="91440" marT="45720" marB="45720" anchor="ctr">
                    <a:solidFill>
                      <a:srgbClr val="F7F3EB"/>
                    </a:solidFill>
                  </a:tcPr>
                </a:tc>
              </a:tr>
              <a:tr h="555625">
                <a:tc>
                  <a:txBody>
                    <a:bodyPr lIns="114300" tIns="114300" rIns="114300" bIns="114300"/>
                    <a:lstStyle/>
                    <a:p>
                      <a:pPr algn="l"/>
                      <a:r>
                        <a:rPr sz="1575" b="0">
                          <a:solidFill>
                            <a:srgbClr val="241B13"/>
                          </a:solidFill>
                          <a:latin typeface="Hanken Grotesk"/>
                          <a:ea typeface="Hanken Grotesk"/>
                          <a:cs typeface="Hanken Grotesk"/>
                        </a:rPr>
                        <a:t>Model B</a:t>
                      </a:r>
                    </a:p>
                  </a:txBody>
                  <a:tcPr marL="91440" marR="91440" marT="45720" marB="45720" anchor="ctr">
                    <a:solidFill>
                      <a:srgbClr val="F7F3EB"/>
                    </a:solidFill>
                  </a:tcPr>
                </a:tc>
                <a:tc>
                  <a:txBody>
                    <a:bodyPr lIns="114300" tIns="114300" rIns="114300" bIns="114300"/>
                    <a:lstStyle/>
                    <a:p>
                      <a:pPr algn="l"/>
                      <a:r>
                        <a:rPr sz="1575" b="0">
                          <a:solidFill>
                            <a:srgbClr val="241B13"/>
                          </a:solidFill>
                          <a:latin typeface="Hanken Grotesk"/>
                          <a:ea typeface="Hanken Grotesk"/>
                          <a:cs typeface="Hanken Grotesk"/>
                        </a:rPr>
                        <a:t>B × A</a:t>
                      </a:r>
                    </a:p>
                  </a:txBody>
                  <a:tcPr marL="91440" marR="91440" marT="45720" marB="45720" anchor="ctr">
                    <a:solidFill>
                      <a:srgbClr val="F7F3EB"/>
                    </a:solidFill>
                  </a:tcPr>
                </a:tc>
                <a:tc>
                  <a:txBody>
                    <a:bodyPr lIns="114300" tIns="114300" rIns="114300" bIns="114300"/>
                    <a:lstStyle/>
                    <a:p>
                      <a:pPr algn="l"/>
                      <a:r>
                        <a:rPr sz="1575" b="0">
                          <a:solidFill>
                            <a:srgbClr val="241B13"/>
                          </a:solidFill>
                          <a:latin typeface="Hanken Grotesk"/>
                          <a:ea typeface="Hanken Grotesk"/>
                          <a:cs typeface="Hanken Grotesk"/>
                        </a:rPr>
                        <a:t>B × B</a:t>
                      </a:r>
                    </a:p>
                  </a:txBody>
                  <a:tcPr marL="91440" marR="91440" marT="45720" marB="45720" anchor="ctr">
                    <a:solidFill>
                      <a:srgbClr val="F7F3EB"/>
                    </a:solidFill>
                  </a:tcPr>
                </a:tc>
              </a:tr>
            </a:tbl>
          </a:graphicData>
        </a:graphic>
      </p:graphicFrame>
      <p:sp>
        <p:nvSpPr>
          <p:cNvPr id="21" name="">
            <a:extLst xmlns:a="http://schemas.openxmlformats.org/drawingml/2006/main">
              <a:ext uri="{FF2B5EF4-FFF2-40B4-BE49-F238E27FC236}">
                <a16:creationId xmlns:a16="http://schemas.microsoft.com/office/drawing/2014/main" id="{9345518D-E5ED-44C2-A8DA-2E09C406B13A}"/>
              </a:ext>
            </a:extLst>
          </p:cNvPr>
          <p:cNvSpPr>
            <a:spLocks xmlns:a="http://schemas.openxmlformats.org/drawingml/2006/main" noGrp="1"/>
          </p:cNvSpPr>
          <p:nvPr/>
        </p:nvSpPr>
        <p:spPr>
          <a:xfrm xmlns:a="http://schemas.openxmlformats.org/drawingml/2006/main">
            <a:off x="609600" y="5305425"/>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22" name="Total operating cost">
            <a:extLst xmlns:a="http://schemas.openxmlformats.org/drawingml/2006/main">
              <a:ext uri="{FF2B5EF4-FFF2-40B4-BE49-F238E27FC236}">
                <a16:creationId xmlns:a16="http://schemas.microsoft.com/office/drawing/2014/main" id="{9F52B206-EB7B-4C6E-B5B6-226782C7132C}"/>
              </a:ext>
            </a:extLst>
          </p:cNvPr>
          <p:cNvSpPr>
            <a:spLocks xmlns:a="http://schemas.openxmlformats.org/drawingml/2006/main" noGrp="1"/>
          </p:cNvSpPr>
          <p:nvPr/>
        </p:nvSpPr>
        <p:spPr>
          <a:xfrm xmlns:a="http://schemas.openxmlformats.org/drawingml/2006/main">
            <a:off x="609600" y="5562600"/>
            <a:ext cx="491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41B13"/>
                </a:solidFill>
                <a:latin typeface="Literata"/>
                <a:ea typeface="Literata"/>
                <a:cs typeface="Literata"/>
              </a:defRPr>
            </a:defPPr>
          </a:lstStyle>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Total operating cost</a:t>
            </a:r>
          </a:p>
        </p:txBody>
      </p:sp>
      <p:sp>
        <p:nvSpPr>
          <p:cNvPr id="23" name="Independently accepted outcomes">
            <a:extLst xmlns:a="http://schemas.openxmlformats.org/drawingml/2006/main">
              <a:ext uri="{FF2B5EF4-FFF2-40B4-BE49-F238E27FC236}">
                <a16:creationId xmlns:a16="http://schemas.microsoft.com/office/drawing/2014/main" id="{D720DC5C-F22C-452A-A212-C1850DE06943}"/>
              </a:ext>
            </a:extLst>
          </p:cNvPr>
          <p:cNvSpPr>
            <a:spLocks xmlns:a="http://schemas.openxmlformats.org/drawingml/2006/main" noGrp="1"/>
          </p:cNvSpPr>
          <p:nvPr/>
        </p:nvSpPr>
        <p:spPr>
          <a:xfrm xmlns:a="http://schemas.openxmlformats.org/drawingml/2006/main">
            <a:off x="6191250" y="556260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41B13"/>
                </a:solidFill>
                <a:latin typeface="Literata"/>
                <a:ea typeface="Literata"/>
                <a:cs typeface="Literata"/>
              </a:defRPr>
            </a:defPPr>
          </a:lstStyle>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Independently accepted outcomes</a:t>
            </a:r>
          </a:p>
        </p:txBody>
      </p:sp>
      <p:sp>
        <p:nvSpPr>
          <p:cNvPr id="24" name="÷">
            <a:extLst xmlns:a="http://schemas.openxmlformats.org/drawingml/2006/main">
              <a:ext uri="{FF2B5EF4-FFF2-40B4-BE49-F238E27FC236}">
                <a16:creationId xmlns:a16="http://schemas.microsoft.com/office/drawing/2014/main" id="{B9F9B6CE-ED9D-4D5F-9504-BDC404B34DD6}"/>
              </a:ext>
            </a:extLst>
          </p:cNvPr>
          <p:cNvSpPr>
            <a:spLocks xmlns:a="http://schemas.openxmlformats.org/drawingml/2006/main" noGrp="1"/>
          </p:cNvSpPr>
          <p:nvPr/>
        </p:nvSpPr>
        <p:spPr>
          <a:xfrm xmlns:a="http://schemas.openxmlformats.org/drawingml/2006/main">
            <a:off x="5715000" y="546735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75" b="0">
                <a:solidFill>
                  <a:srgbClr val="C75E00"/>
                </a:solidFill>
                <a:latin typeface="Hanken Grotesk"/>
                <a:ea typeface="Hanken Grotesk"/>
                <a:cs typeface="Hanken Grotesk"/>
              </a:defRPr>
            </a:defPPr>
          </a:lstStyle>
          <a:p xmlns:a="http://schemas.openxmlformats.org/drawingml/2006/main">
            <a:pPr algn="l">
              <a:lnSpc>
                <a:spcPct val="110000"/>
              </a:lnSpc>
              <a:buNone/>
              <a:defRPr sz="3375" b="0">
                <a:solidFill>
                  <a:srgbClr val="C75E00"/>
                </a:solidFill>
                <a:latin typeface="Hanken Grotesk"/>
                <a:ea typeface="Hanken Grotesk"/>
                <a:cs typeface="Hanken Grotesk"/>
              </a:defRPr>
            </a:pPr>
            <a:r>
              <a:rPr sz="3375" b="0">
                <a:solidFill>
                  <a:srgbClr val="C75E00"/>
                </a:solidFill>
                <a:latin typeface="Hanken Grotesk"/>
                <a:ea typeface="Hanken Grotesk"/>
                <a:cs typeface="Hanken Grotesk"/>
              </a:rPr>
              <a:t>÷</a:t>
            </a:r>
          </a:p>
        </p:txBody>
      </p:sp>
      <p:sp>
        <p:nvSpPr>
          <p:cNvPr id="26" name="Clarity cue">
            <a:extLst xmlns:a="http://schemas.openxmlformats.org/drawingml/2006/main">
              <a:ext uri="{FF2B5EF4-FFF2-40B4-BE49-F238E27FC236}">
                <a16:creationId xmlns:a16="http://schemas.microsoft.com/office/drawing/2014/main" id="{E7DCC2C9-B879-4275-903F-3B44C7CCD588}"/>
              </a:ext>
            </a:extLst>
          </p:cNvPr>
          <p:cNvSpPr>
            <a:spLocks xmlns:a="http://schemas.openxmlformats.org/drawingml/2006/main" noGrp="1"/>
          </p:cNvSpPr>
          <p:nvPr/>
        </p:nvSpPr>
        <p:spPr>
          <a:xfrm xmlns:a="http://schemas.openxmlformats.org/drawingml/2006/main">
            <a:off x="609600" y="1466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a:solidFill>
                  <a:srgbClr val="4A4039"/>
                </a:solidFill>
                <a:latin typeface="Hanken Grotesk"/>
                <a:ea typeface="Hanken Grotesk"/>
                <a:cs typeface="Hanken Grotesk"/>
              </a:defRPr>
            </a:defPPr>
          </a:lstStyle>
          <a:p xmlns:a="http://schemas.openxmlformats.org/drawingml/2006/main">
            <a:pPr>
              <a:defRPr sz="1650">
                <a:solidFill>
                  <a:srgbClr val="4A4039"/>
                </a:solidFill>
                <a:latin typeface="Hanken Grotesk"/>
                <a:ea typeface="Hanken Grotesk"/>
                <a:cs typeface="Hanken Grotesk"/>
              </a:defRPr>
            </a:pPr>
            <a:r>
              <a:rPr sz="1650">
                <a:solidFill>
                  <a:srgbClr val="4A4039"/>
                </a:solidFill>
                <a:latin typeface="Hanken Grotesk"/>
                <a:ea typeface="Hanken Grotesk"/>
                <a:cs typeface="Hanken Grotesk"/>
              </a:rPr>
              <a:t>Report quality, reliability, people’s time and total cost together.</a:t>
            </a:r>
          </a:p>
        </p:txBody>
      </p:sp>
    </p:spTree>
    <p:extLst>
      <p:ext uri="{BB962C8B-B14F-4D97-AF65-F5344CB8AC3E}">
        <p14:creationId xmlns:p14="http://schemas.microsoft.com/office/powerpoint/2010/main" val="1996792125"/>
      </p:ext>
    </p:extLst>
  </p:cSld>
</p:sld>
</file>

<file path=ppt/slides/slide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AB5F888-72B5-415F-A335-B2224245D67B}"/>
              </a:ext>
            </a:extLst>
          </p:cNvPr>
          <p:cNvCxnSpPr>
            <a:stCxn xmlns:a="http://schemas.openxmlformats.org/drawingml/2006/main" id="8" idx="3"/>
            <a:endCxn xmlns:a="http://schemas.openxmlformats.org/drawingml/2006/main" id="10" idx="1"/>
          </p:cNvCxnSpPr>
          <p:nvPr/>
        </p:nvCxnSpPr>
        <p:spPr>
          <a:xfrm xmlns:a="http://schemas.openxmlformats.org/drawingml/2006/main">
            <a:off x="8686800" y="2524125"/>
            <a:ext cx="609600" cy="0"/>
          </a:xfrm>
          <a:prstGeom xmlns:a="http://schemas.openxmlformats.org/drawingml/2006/main" prst="straightConnector1">
            <a:avLst/>
          </a:prstGeom>
          <a:ln xmlns:a="http://schemas.openxmlformats.org/drawingml/2006/main" w="23813">
            <a:solidFill>
              <a:srgbClr val="C75E0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4CF84AD5-E97B-4F7F-A0BF-D8DC2C461C30}"/>
              </a:ext>
            </a:extLst>
          </p:cNvPr>
          <p:cNvCxnSpPr>
            <a:stCxn xmlns:a="http://schemas.openxmlformats.org/drawingml/2006/main" id="6" idx="3"/>
            <a:endCxn xmlns:a="http://schemas.openxmlformats.org/drawingml/2006/main" id="8" idx="1"/>
          </p:cNvCxnSpPr>
          <p:nvPr/>
        </p:nvCxnSpPr>
        <p:spPr>
          <a:xfrm xmlns:a="http://schemas.openxmlformats.org/drawingml/2006/main">
            <a:off x="5791200" y="2524125"/>
            <a:ext cx="6096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84F5E6C3-3CBA-45D1-973D-4067B0A66E71}"/>
              </a:ext>
            </a:extLst>
          </p:cNvPr>
          <p:cNvCxnSpPr>
            <a:stCxn xmlns:a="http://schemas.openxmlformats.org/drawingml/2006/main" id="5" idx="3"/>
            <a:endCxn xmlns:a="http://schemas.openxmlformats.org/drawingml/2006/main" id="6" idx="1"/>
          </p:cNvCxnSpPr>
          <p:nvPr/>
        </p:nvCxnSpPr>
        <p:spPr>
          <a:xfrm xmlns:a="http://schemas.openxmlformats.org/drawingml/2006/main">
            <a:off x="2895600" y="2524125"/>
            <a:ext cx="6096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sp>
        <p:nvSpPr>
          <p:cNvPr id="21" name="Trace where evidence becomes a conclusion">
            <a:extLst xmlns:a="http://schemas.openxmlformats.org/drawingml/2006/main">
              <a:ext uri="{FF2B5EF4-FFF2-40B4-BE49-F238E27FC236}">
                <a16:creationId xmlns:a16="http://schemas.microsoft.com/office/drawing/2014/main" id="{356F5D19-9931-4E64-94CA-028F86EA7DCA}"/>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Trace where evidence becomes a conclusion</a:t>
            </a:r>
          </a:p>
        </p:txBody>
      </p:sp>
      <p:sp>
        <p:nvSpPr>
          <p:cNvPr id="2" name="A trace tells us where to investigate. These proposed tests ">
            <a:extLst xmlns:a="http://schemas.openxmlformats.org/drawingml/2006/main">
              <a:ext uri="{FF2B5EF4-FFF2-40B4-BE49-F238E27FC236}">
                <a16:creationId xmlns:a16="http://schemas.microsoft.com/office/drawing/2014/main" id="{741DF217-7A15-4756-899B-C31465592591}"/>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A trace tells us where to investigate. These proposed tests have not yet demonstrated a repair.</a:t>
            </a:r>
          </a:p>
        </p:txBody>
      </p:sp>
      <p:sp>
        <p:nvSpPr>
          <p:cNvPr id="3" name="Jarmak · Engineering Reliable Coding Agents, chs. 2 &amp; 18">
            <a:extLst xmlns:a="http://schemas.openxmlformats.org/drawingml/2006/main">
              <a:ext uri="{FF2B5EF4-FFF2-40B4-BE49-F238E27FC236}">
                <a16:creationId xmlns:a16="http://schemas.microsoft.com/office/drawing/2014/main" id="{55722066-DB51-489B-8D77-83418E9798D9}"/>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f5338c6c29164163"/>
              </a:rPr>
              <a:t>Jarmak · Engineering Reliable Coding Agents, chs. 2 &amp; 18</a:t>
            </a:r>
          </a:p>
        </p:txBody>
      </p:sp>
      <p:sp>
        <p:nvSpPr>
          <p:cNvPr id="4" name="06">
            <a:extLst xmlns:a="http://schemas.openxmlformats.org/drawingml/2006/main">
              <a:ext uri="{FF2B5EF4-FFF2-40B4-BE49-F238E27FC236}">
                <a16:creationId xmlns:a16="http://schemas.microsoft.com/office/drawing/2014/main" id="{A4576C14-0D1B-4428-BE80-DC81D13AA0CD}"/>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06</a:t>
            </a:r>
          </a:p>
        </p:txBody>
      </p:sp>
      <p:sp>
        <p:nvSpPr>
          <p:cNvPr id="5" name="Available">
            <a:extLst xmlns:a="http://schemas.openxmlformats.org/drawingml/2006/main">
              <a:ext uri="{FF2B5EF4-FFF2-40B4-BE49-F238E27FC236}">
                <a16:creationId xmlns:a16="http://schemas.microsoft.com/office/drawing/2014/main" id="{B4BCF118-E639-4242-B856-37C0E8C2732B}"/>
              </a:ext>
            </a:extLst>
          </p:cNvPr>
          <p:cNvSpPr>
            <a:spLocks xmlns:a="http://schemas.openxmlformats.org/drawingml/2006/main" noGrp="1"/>
          </p:cNvSpPr>
          <p:nvPr/>
        </p:nvSpPr>
        <p:spPr>
          <a:xfrm xmlns:a="http://schemas.openxmlformats.org/drawingml/2006/main">
            <a:off x="609600" y="2114550"/>
            <a:ext cx="2286000" cy="8191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250" b="0">
                <a:solidFill>
                  <a:srgbClr val="241B13"/>
                </a:solidFill>
                <a:latin typeface="Hanken Grotesk"/>
                <a:ea typeface="Hanken Grotesk"/>
                <a:cs typeface="Hanken Grotesk"/>
              </a:defRPr>
            </a:defPPr>
          </a:lstStyle>
          <a:p xmlns:a="http://schemas.openxmlformats.org/drawingml/2006/main">
            <a:pPr algn="ctr">
              <a:lnSpc>
                <a:spcPct val="110000"/>
              </a:lnSpc>
              <a:buNone/>
              <a:defRPr sz="2250" b="0">
                <a:solidFill>
                  <a:srgbClr val="241B13"/>
                </a:solidFill>
                <a:latin typeface="Hanken Grotesk"/>
                <a:ea typeface="Hanken Grotesk"/>
                <a:cs typeface="Hanken Grotesk"/>
              </a:defRPr>
            </a:pPr>
            <a:r>
              <a:rPr sz="2250" b="0">
                <a:solidFill>
                  <a:srgbClr val="241B13"/>
                </a:solidFill>
                <a:latin typeface="Hanken Grotesk"/>
                <a:ea typeface="Hanken Grotesk"/>
                <a:cs typeface="Hanken Grotesk"/>
              </a:rPr>
              <a:t>Available</a:t>
            </a:r>
          </a:p>
        </p:txBody>
      </p:sp>
      <p:sp>
        <p:nvSpPr>
          <p:cNvPr id="6" name="Called">
            <a:extLst xmlns:a="http://schemas.openxmlformats.org/drawingml/2006/main">
              <a:ext uri="{FF2B5EF4-FFF2-40B4-BE49-F238E27FC236}">
                <a16:creationId xmlns:a16="http://schemas.microsoft.com/office/drawing/2014/main" id="{28FFD616-4F12-4080-92BB-D7C38538ECD2}"/>
              </a:ext>
            </a:extLst>
          </p:cNvPr>
          <p:cNvSpPr>
            <a:spLocks xmlns:a="http://schemas.openxmlformats.org/drawingml/2006/main" noGrp="1"/>
          </p:cNvSpPr>
          <p:nvPr/>
        </p:nvSpPr>
        <p:spPr>
          <a:xfrm xmlns:a="http://schemas.openxmlformats.org/drawingml/2006/main">
            <a:off x="3505200" y="2114550"/>
            <a:ext cx="2286000" cy="8191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250" b="0">
                <a:solidFill>
                  <a:srgbClr val="241B13"/>
                </a:solidFill>
                <a:latin typeface="Hanken Grotesk"/>
                <a:ea typeface="Hanken Grotesk"/>
                <a:cs typeface="Hanken Grotesk"/>
              </a:defRPr>
            </a:defPPr>
          </a:lstStyle>
          <a:p xmlns:a="http://schemas.openxmlformats.org/drawingml/2006/main">
            <a:pPr algn="ctr">
              <a:lnSpc>
                <a:spcPct val="110000"/>
              </a:lnSpc>
              <a:buNone/>
              <a:defRPr sz="2250" b="0">
                <a:solidFill>
                  <a:srgbClr val="241B13"/>
                </a:solidFill>
                <a:latin typeface="Hanken Grotesk"/>
                <a:ea typeface="Hanken Grotesk"/>
                <a:cs typeface="Hanken Grotesk"/>
              </a:defRPr>
            </a:pPr>
            <a:r>
              <a:rPr sz="2250" b="0">
                <a:solidFill>
                  <a:srgbClr val="241B13"/>
                </a:solidFill>
                <a:latin typeface="Hanken Grotesk"/>
                <a:ea typeface="Hanken Grotesk"/>
                <a:cs typeface="Hanken Grotesk"/>
              </a:rPr>
              <a:t>Called</a:t>
            </a:r>
          </a:p>
        </p:txBody>
      </p:sp>
      <p:sp>
        <p:nvSpPr>
          <p:cNvPr id="8" name="Returned">
            <a:extLst xmlns:a="http://schemas.openxmlformats.org/drawingml/2006/main">
              <a:ext uri="{FF2B5EF4-FFF2-40B4-BE49-F238E27FC236}">
                <a16:creationId xmlns:a16="http://schemas.microsoft.com/office/drawing/2014/main" id="{B2EA3B35-93C8-418C-B928-74CD8B20C30D}"/>
              </a:ext>
            </a:extLst>
          </p:cNvPr>
          <p:cNvSpPr>
            <a:spLocks xmlns:a="http://schemas.openxmlformats.org/drawingml/2006/main" noGrp="1"/>
          </p:cNvSpPr>
          <p:nvPr/>
        </p:nvSpPr>
        <p:spPr>
          <a:xfrm xmlns:a="http://schemas.openxmlformats.org/drawingml/2006/main">
            <a:off x="6400800" y="2114550"/>
            <a:ext cx="2286000" cy="819150"/>
          </a:xfrm>
          <a:prstGeom xmlns:a="http://schemas.openxmlformats.org/drawingml/2006/main" prst="rect">
            <a:avLst/>
          </a:prstGeom>
          <a:solidFill xmlns:a="http://schemas.openxmlformats.org/drawingml/2006/main">
            <a:srgbClr val="FDFAF4"/>
          </a:solidFill>
          <a:ln xmlns:a="http://schemas.openxmlformats.org/drawingml/2006/main" w="14288">
            <a:solidFill>
              <a:srgbClr val="C75E00"/>
            </a:solidFill>
          </a:ln>
        </p:spPr>
        <p:txBody>
          <a:bodyPr xmlns:a="http://schemas.openxmlformats.org/drawingml/2006/main" wrap="none" lIns="76200" tIns="76200" rIns="76200" bIns="76200" anchor="ctr">
            <a:noAutofit/>
          </a:bodyPr>
          <a:lstStyle xmlns:a="http://schemas.openxmlformats.org/drawingml/2006/main">
            <a:defPPr algn="ctr">
              <a:defRPr sz="2250" b="0">
                <a:solidFill>
                  <a:srgbClr val="241B13"/>
                </a:solidFill>
                <a:latin typeface="Hanken Grotesk"/>
                <a:ea typeface="Hanken Grotesk"/>
                <a:cs typeface="Hanken Grotesk"/>
              </a:defRPr>
            </a:defPPr>
          </a:lstStyle>
          <a:p xmlns:a="http://schemas.openxmlformats.org/drawingml/2006/main">
            <a:pPr algn="ctr">
              <a:lnSpc>
                <a:spcPct val="110000"/>
              </a:lnSpc>
              <a:buNone/>
              <a:defRPr sz="2250" b="0">
                <a:solidFill>
                  <a:srgbClr val="241B13"/>
                </a:solidFill>
                <a:latin typeface="Hanken Grotesk"/>
                <a:ea typeface="Hanken Grotesk"/>
                <a:cs typeface="Hanken Grotesk"/>
              </a:defRPr>
            </a:pPr>
            <a:r>
              <a:rPr sz="2250" b="0">
                <a:solidFill>
                  <a:srgbClr val="241B13"/>
                </a:solidFill>
                <a:latin typeface="Hanken Grotesk"/>
                <a:ea typeface="Hanken Grotesk"/>
                <a:cs typeface="Hanken Grotesk"/>
              </a:rPr>
              <a:t>Returned</a:t>
            </a:r>
          </a:p>
        </p:txBody>
      </p:sp>
      <p:sp>
        <p:nvSpPr>
          <p:cNvPr id="10" name="Interpreted">
            <a:extLst xmlns:a="http://schemas.openxmlformats.org/drawingml/2006/main">
              <a:ext uri="{FF2B5EF4-FFF2-40B4-BE49-F238E27FC236}">
                <a16:creationId xmlns:a16="http://schemas.microsoft.com/office/drawing/2014/main" id="{707FDD49-D587-4DA4-BDFC-762397A90456}"/>
              </a:ext>
            </a:extLst>
          </p:cNvPr>
          <p:cNvSpPr>
            <a:spLocks xmlns:a="http://schemas.openxmlformats.org/drawingml/2006/main" noGrp="1"/>
          </p:cNvSpPr>
          <p:nvPr/>
        </p:nvSpPr>
        <p:spPr>
          <a:xfrm xmlns:a="http://schemas.openxmlformats.org/drawingml/2006/main">
            <a:off x="9296400" y="2114550"/>
            <a:ext cx="2286000" cy="819150"/>
          </a:xfrm>
          <a:prstGeom xmlns:a="http://schemas.openxmlformats.org/drawingml/2006/main" prst="rect">
            <a:avLst/>
          </a:prstGeom>
          <a:solidFill xmlns:a="http://schemas.openxmlformats.org/drawingml/2006/main">
            <a:srgbClr val="FDFAF4"/>
          </a:solidFill>
          <a:ln xmlns:a="http://schemas.openxmlformats.org/drawingml/2006/main" w="14288">
            <a:solidFill>
              <a:srgbClr val="C75E00"/>
            </a:solidFill>
          </a:ln>
        </p:spPr>
        <p:txBody>
          <a:bodyPr xmlns:a="http://schemas.openxmlformats.org/drawingml/2006/main" wrap="none" lIns="76200" tIns="76200" rIns="76200" bIns="76200" anchor="ctr">
            <a:noAutofit/>
          </a:bodyPr>
          <a:lstStyle xmlns:a="http://schemas.openxmlformats.org/drawingml/2006/main">
            <a:defPPr algn="ctr">
              <a:defRPr sz="2250" b="0">
                <a:solidFill>
                  <a:srgbClr val="C75E00"/>
                </a:solidFill>
                <a:latin typeface="Hanken Grotesk"/>
                <a:ea typeface="Hanken Grotesk"/>
                <a:cs typeface="Hanken Grotesk"/>
              </a:defRPr>
            </a:defPPr>
          </a:lstStyle>
          <a:p xmlns:a="http://schemas.openxmlformats.org/drawingml/2006/main">
            <a:pPr algn="ctr">
              <a:lnSpc>
                <a:spcPct val="110000"/>
              </a:lnSpc>
              <a:buNone/>
              <a:defRPr sz="2250" b="0">
                <a:solidFill>
                  <a:srgbClr val="C75E00"/>
                </a:solidFill>
                <a:latin typeface="Hanken Grotesk"/>
                <a:ea typeface="Hanken Grotesk"/>
                <a:cs typeface="Hanken Grotesk"/>
              </a:defRPr>
            </a:pPr>
            <a:r>
              <a:rPr sz="2250" b="0">
                <a:solidFill>
                  <a:srgbClr val="C75E00"/>
                </a:solidFill>
                <a:latin typeface="Hanken Grotesk"/>
                <a:ea typeface="Hanken Grotesk"/>
                <a:cs typeface="Hanken Grotesk"/>
              </a:rPr>
              <a:t>Interpreted</a:t>
            </a:r>
          </a:p>
        </p:txBody>
      </p:sp>
      <p:sp>
        <p:nvSpPr>
          <p:cNvPr id="12" name="PRESERVE AT THE HANDOFF">
            <a:extLst xmlns:a="http://schemas.openxmlformats.org/drawingml/2006/main">
              <a:ext uri="{FF2B5EF4-FFF2-40B4-BE49-F238E27FC236}">
                <a16:creationId xmlns:a16="http://schemas.microsoft.com/office/drawing/2014/main" id="{7EE755EF-B099-4331-B322-AB0B093A5675}"/>
              </a:ext>
            </a:extLst>
          </p:cNvPr>
          <p:cNvSpPr>
            <a:spLocks xmlns:a="http://schemas.openxmlformats.org/drawingml/2006/main" noGrp="1"/>
          </p:cNvSpPr>
          <p:nvPr/>
        </p:nvSpPr>
        <p:spPr>
          <a:xfrm xmlns:a="http://schemas.openxmlformats.org/drawingml/2006/main">
            <a:off x="609600" y="3381375"/>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RECORD THE SEARCH</a:t>
            </a:r>
          </a:p>
        </p:txBody>
      </p:sp>
      <p:sp>
        <p:nvSpPr>
          <p:cNvPr id="13" name="Search scope">
            <a:extLst xmlns:a="http://schemas.openxmlformats.org/drawingml/2006/main">
              <a:ext uri="{FF2B5EF4-FFF2-40B4-BE49-F238E27FC236}">
                <a16:creationId xmlns:a16="http://schemas.microsoft.com/office/drawing/2014/main" id="{4160C3EF-B69E-4DFD-811A-AB45400CB74D}"/>
              </a:ext>
            </a:extLst>
          </p:cNvPr>
          <p:cNvSpPr>
            <a:spLocks xmlns:a="http://schemas.openxmlformats.org/drawingml/2006/main" noGrp="1"/>
          </p:cNvSpPr>
          <p:nvPr/>
        </p:nvSpPr>
        <p:spPr>
          <a:xfrm xmlns:a="http://schemas.openxmlformats.org/drawingml/2006/main">
            <a:off x="609600" y="380047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41B13"/>
                </a:solidFill>
                <a:latin typeface="Literata"/>
                <a:ea typeface="Literata"/>
                <a:cs typeface="Literata"/>
              </a:defRPr>
            </a:defPPr>
          </a:lstStyle>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Where and how</a:t>
            </a:r>
          </a:p>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you searched</a:t>
            </a:r>
          </a:p>
        </p:txBody>
      </p:sp>
      <p:sp>
        <p:nvSpPr>
          <p:cNvPr id="14" name="Execution status">
            <a:extLst xmlns:a="http://schemas.openxmlformats.org/drawingml/2006/main">
              <a:ext uri="{FF2B5EF4-FFF2-40B4-BE49-F238E27FC236}">
                <a16:creationId xmlns:a16="http://schemas.microsoft.com/office/drawing/2014/main" id="{72271542-CF49-4174-BDB8-6D48300AD097}"/>
              </a:ext>
            </a:extLst>
          </p:cNvPr>
          <p:cNvSpPr>
            <a:spLocks xmlns:a="http://schemas.openxmlformats.org/drawingml/2006/main" noGrp="1"/>
          </p:cNvSpPr>
          <p:nvPr/>
        </p:nvSpPr>
        <p:spPr>
          <a:xfrm xmlns:a="http://schemas.openxmlformats.org/drawingml/2006/main">
            <a:off x="4343400" y="380047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41B13"/>
                </a:solidFill>
                <a:latin typeface="Literata"/>
                <a:ea typeface="Literata"/>
                <a:cs typeface="Literata"/>
              </a:defRPr>
            </a:defPPr>
          </a:lstStyle>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Gaps or</a:t>
            </a:r>
          </a:p>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incomplete results</a:t>
            </a:r>
          </a:p>
        </p:txBody>
      </p:sp>
      <p:sp>
        <p:nvSpPr>
          <p:cNvPr id="15" name="Remaining uncertainty">
            <a:extLst xmlns:a="http://schemas.openxmlformats.org/drawingml/2006/main">
              <a:ext uri="{FF2B5EF4-FFF2-40B4-BE49-F238E27FC236}">
                <a16:creationId xmlns:a16="http://schemas.microsoft.com/office/drawing/2014/main" id="{A9E4107D-2E69-40F5-A404-FB10103C7FA7}"/>
              </a:ext>
            </a:extLst>
          </p:cNvPr>
          <p:cNvSpPr>
            <a:spLocks xmlns:a="http://schemas.openxmlformats.org/drawingml/2006/main" noGrp="1"/>
          </p:cNvSpPr>
          <p:nvPr/>
        </p:nvSpPr>
        <p:spPr>
          <a:xfrm xmlns:a="http://schemas.openxmlformats.org/drawingml/2006/main">
            <a:off x="8077200" y="3800475"/>
            <a:ext cx="35052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41B13"/>
                </a:solidFill>
                <a:latin typeface="Literata"/>
                <a:ea typeface="Literata"/>
                <a:cs typeface="Literata"/>
              </a:defRPr>
            </a:defPPr>
          </a:lstStyle>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What you</a:t>
            </a:r>
          </a:p>
          <a:p xmlns:a="http://schemas.openxmlformats.org/drawingml/2006/main">
            <a:pPr algn="l">
              <a:lnSpc>
                <a:spcPct val="110000"/>
              </a:lnSpc>
              <a:buNone/>
              <a:defRPr sz="2250" b="0">
                <a:solidFill>
                  <a:srgbClr val="241B13"/>
                </a:solidFill>
                <a:latin typeface="Literata"/>
                <a:ea typeface="Literata"/>
                <a:cs typeface="Literata"/>
              </a:defRPr>
            </a:pPr>
            <a:r>
              <a:rPr sz="2250" b="0">
                <a:solidFill>
                  <a:srgbClr val="241B13"/>
                </a:solidFill>
                <a:latin typeface="Literata"/>
                <a:ea typeface="Literata"/>
                <a:cs typeface="Literata"/>
              </a:rPr>
              <a:t>couldn’t check</a:t>
            </a:r>
          </a:p>
        </p:txBody>
      </p:sp>
      <p:sp>
        <p:nvSpPr>
          <p:cNvPr id="16" name="">
            <a:extLst xmlns:a="http://schemas.openxmlformats.org/drawingml/2006/main">
              <a:ext uri="{FF2B5EF4-FFF2-40B4-BE49-F238E27FC236}">
                <a16:creationId xmlns:a16="http://schemas.microsoft.com/office/drawing/2014/main" id="{391FB055-CE1D-4F3C-84FE-12D4E40CEF56}"/>
              </a:ext>
            </a:extLst>
          </p:cNvPr>
          <p:cNvSpPr>
            <a:spLocks xmlns:a="http://schemas.openxmlformats.org/drawingml/2006/main" noGrp="1"/>
          </p:cNvSpPr>
          <p:nvPr/>
        </p:nvSpPr>
        <p:spPr>
          <a:xfrm xmlns:a="http://schemas.openxmlformats.org/drawingml/2006/main">
            <a:off x="609600" y="4619625"/>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7" name="STATUS PRESENTATION TEST">
            <a:extLst xmlns:a="http://schemas.openxmlformats.org/drawingml/2006/main">
              <a:ext uri="{FF2B5EF4-FFF2-40B4-BE49-F238E27FC236}">
                <a16:creationId xmlns:a16="http://schemas.microsoft.com/office/drawing/2014/main" id="{55BFB919-B752-443A-A23C-EE441268E2AE}"/>
              </a:ext>
            </a:extLst>
          </p:cNvPr>
          <p:cNvSpPr>
            <a:spLocks xmlns:a="http://schemas.openxmlformats.org/drawingml/2006/main" noGrp="1"/>
          </p:cNvSpPr>
          <p:nvPr/>
        </p:nvSpPr>
        <p:spPr>
          <a:xfrm xmlns:a="http://schemas.openxmlformats.org/drawingml/2006/main">
            <a:off x="609600" y="4943475"/>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SEARCH-LIMITS TEST</a:t>
            </a:r>
          </a:p>
        </p:txBody>
      </p:sp>
      <p:sp>
        <p:nvSpPr>
          <p:cNvPr id="18" name="EVIDENCE TEST">
            <a:extLst xmlns:a="http://schemas.openxmlformats.org/drawingml/2006/main">
              <a:ext uri="{FF2B5EF4-FFF2-40B4-BE49-F238E27FC236}">
                <a16:creationId xmlns:a16="http://schemas.microsoft.com/office/drawing/2014/main" id="{AEA53E30-15AC-4566-A865-A6A13C587B37}"/>
              </a:ext>
            </a:extLst>
          </p:cNvPr>
          <p:cNvSpPr>
            <a:spLocks xmlns:a="http://schemas.openxmlformats.org/drawingml/2006/main" noGrp="1"/>
          </p:cNvSpPr>
          <p:nvPr/>
        </p:nvSpPr>
        <p:spPr>
          <a:xfrm xmlns:a="http://schemas.openxmlformats.org/drawingml/2006/main">
            <a:off x="6210300" y="4943475"/>
            <a:ext cx="5362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EVIDENCE TEST</a:t>
            </a:r>
          </a:p>
        </p:txBody>
      </p:sp>
      <p:sp>
        <p:nvSpPr>
          <p:cNvPr id="19" name="Same retrieved evidence,&#10;different status presentation">
            <a:extLst xmlns:a="http://schemas.openxmlformats.org/drawingml/2006/main">
              <a:ext uri="{FF2B5EF4-FFF2-40B4-BE49-F238E27FC236}">
                <a16:creationId xmlns:a16="http://schemas.microsoft.com/office/drawing/2014/main" id="{BDE5D9C1-7E3F-42AF-A08F-162088126084}"/>
              </a:ext>
            </a:extLst>
          </p:cNvPr>
          <p:cNvSpPr>
            <a:spLocks xmlns:a="http://schemas.openxmlformats.org/drawingml/2006/main" noGrp="1"/>
          </p:cNvSpPr>
          <p:nvPr/>
        </p:nvSpPr>
        <p:spPr>
          <a:xfrm xmlns:a="http://schemas.openxmlformats.org/drawingml/2006/main">
            <a:off x="609600" y="5324475"/>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4A4039"/>
                </a:solidFill>
                <a:latin typeface="Hanken Grotesk"/>
                <a:ea typeface="Hanken Grotesk"/>
                <a:cs typeface="Hanken Grotesk"/>
              </a:defRPr>
            </a:defPPr>
          </a:lstStyle>
          <a:p xmlns:a="http://schemas.openxmlformats.org/drawingml/2006/main">
            <a:pPr algn="l">
              <a:lnSpc>
                <a:spcPct val="110000"/>
              </a:lnSpc>
              <a:buNone/>
              <a:defRPr sz="2100" b="0">
                <a:solidFill>
                  <a:srgbClr val="4A4039"/>
                </a:solidFill>
                <a:latin typeface="Hanken Grotesk"/>
                <a:ea typeface="Hanken Grotesk"/>
                <a:cs typeface="Hanken Grotesk"/>
              </a:defRPr>
            </a:pPr>
            <a:r>
              <a:rPr sz="2100" b="0">
                <a:solidFill>
                  <a:srgbClr val="4A4039"/>
                </a:solidFill>
                <a:latin typeface="Hanken Grotesk"/>
                <a:ea typeface="Hanken Grotesk"/>
                <a:cs typeface="Hanken Grotesk"/>
              </a:rPr>
              <a:t>Same empty result,</a:t>
            </a:r>
          </a:p>
          <a:p xmlns:a="http://schemas.openxmlformats.org/drawingml/2006/main">
            <a:pPr algn="l">
              <a:lnSpc>
                <a:spcPct val="110000"/>
              </a:lnSpc>
              <a:buNone/>
              <a:defRPr sz="2100" b="0">
                <a:solidFill>
                  <a:srgbClr val="4A4039"/>
                </a:solidFill>
                <a:latin typeface="Hanken Grotesk"/>
                <a:ea typeface="Hanken Grotesk"/>
                <a:cs typeface="Hanken Grotesk"/>
              </a:defRPr>
            </a:pPr>
            <a:r>
              <a:rPr sz="2100" b="0">
                <a:solidFill>
                  <a:srgbClr val="4A4039"/>
                </a:solidFill>
                <a:latin typeface="Hanken Grotesk"/>
                <a:ea typeface="Hanken Grotesk"/>
                <a:cs typeface="Hanken Grotesk"/>
              </a:rPr>
              <a:t>make the search limits explicit</a:t>
            </a:r>
          </a:p>
        </p:txBody>
      </p:sp>
      <p:sp>
        <p:nvSpPr>
          <p:cNvPr id="20" name="Same component using the evidence,&#10;different retrieved evide">
            <a:extLst xmlns:a="http://schemas.openxmlformats.org/drawingml/2006/main">
              <a:ext uri="{FF2B5EF4-FFF2-40B4-BE49-F238E27FC236}">
                <a16:creationId xmlns:a16="http://schemas.microsoft.com/office/drawing/2014/main" id="{04C05FBF-899C-40E3-A1AC-4F5B774C818E}"/>
              </a:ext>
            </a:extLst>
          </p:cNvPr>
          <p:cNvSpPr>
            <a:spLocks xmlns:a="http://schemas.openxmlformats.org/drawingml/2006/main" noGrp="1"/>
          </p:cNvSpPr>
          <p:nvPr/>
        </p:nvSpPr>
        <p:spPr>
          <a:xfrm xmlns:a="http://schemas.openxmlformats.org/drawingml/2006/main">
            <a:off x="6210300" y="5324475"/>
            <a:ext cx="53625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4A4039"/>
                </a:solidFill>
                <a:latin typeface="Hanken Grotesk"/>
                <a:ea typeface="Hanken Grotesk"/>
                <a:cs typeface="Hanken Grotesk"/>
              </a:defRPr>
            </a:defPPr>
          </a:lstStyle>
          <a:p xmlns:a="http://schemas.openxmlformats.org/drawingml/2006/main">
            <a:pPr algn="l">
              <a:lnSpc>
                <a:spcPct val="110000"/>
              </a:lnSpc>
              <a:buNone/>
              <a:defRPr sz="2100" b="0">
                <a:solidFill>
                  <a:srgbClr val="4A4039"/>
                </a:solidFill>
                <a:latin typeface="Hanken Grotesk"/>
                <a:ea typeface="Hanken Grotesk"/>
                <a:cs typeface="Hanken Grotesk"/>
              </a:defRPr>
            </a:pPr>
            <a:r>
              <a:rPr sz="2100" b="0">
                <a:solidFill>
                  <a:srgbClr val="4A4039"/>
                </a:solidFill>
                <a:latin typeface="Hanken Grotesk"/>
                <a:ea typeface="Hanken Grotesk"/>
                <a:cs typeface="Hanken Grotesk"/>
              </a:rPr>
              <a:t>Same agent and settings,</a:t>
            </a:r>
          </a:p>
          <a:p xmlns:a="http://schemas.openxmlformats.org/drawingml/2006/main">
            <a:pPr algn="l">
              <a:lnSpc>
                <a:spcPct val="110000"/>
              </a:lnSpc>
              <a:buNone/>
              <a:defRPr sz="2100" b="0">
                <a:solidFill>
                  <a:srgbClr val="4A4039"/>
                </a:solidFill>
                <a:latin typeface="Hanken Grotesk"/>
                <a:ea typeface="Hanken Grotesk"/>
                <a:cs typeface="Hanken Grotesk"/>
              </a:defRPr>
            </a:pPr>
            <a:r>
              <a:rPr sz="2100" b="0">
                <a:solidFill>
                  <a:srgbClr val="4A4039"/>
                </a:solidFill>
                <a:latin typeface="Hanken Grotesk"/>
                <a:ea typeface="Hanken Grotesk"/>
                <a:cs typeface="Hanken Grotesk"/>
              </a:rPr>
              <a:t>supply known relevant evidence</a:t>
            </a:r>
          </a:p>
        </p:txBody>
      </p:sp>
    </p:spTree>
    <p:extLst>
      <p:ext uri="{BB962C8B-B14F-4D97-AF65-F5344CB8AC3E}">
        <p14:creationId xmlns:p14="http://schemas.microsoft.com/office/powerpoint/2010/main" val="1218382851"/>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F67E603F-6181-4D9F-B4C4-E2A0341E3646}"/>
              </a:ext>
            </a:extLst>
          </p:cNvPr>
          <p:cNvCxnSpPr>
            <a:stCxn xmlns:a="http://schemas.openxmlformats.org/drawingml/2006/main" id="7" idx="3"/>
            <a:endCxn xmlns:a="http://schemas.openxmlformats.org/drawingml/2006/main" id="8" idx="1"/>
          </p:cNvCxnSpPr>
          <p:nvPr/>
        </p:nvCxnSpPr>
        <p:spPr>
          <a:xfrm xmlns:a="http://schemas.openxmlformats.org/drawingml/2006/main">
            <a:off x="7658100" y="3405188"/>
            <a:ext cx="7620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F7AEA8FC-408D-4BBA-B564-B4AD245B605D}"/>
              </a:ext>
            </a:extLst>
          </p:cNvPr>
          <p:cNvCxnSpPr>
            <a:stCxn xmlns:a="http://schemas.openxmlformats.org/drawingml/2006/main" id="6" idx="3"/>
            <a:endCxn xmlns:a="http://schemas.openxmlformats.org/drawingml/2006/main" id="7" idx="1"/>
          </p:cNvCxnSpPr>
          <p:nvPr/>
        </p:nvCxnSpPr>
        <p:spPr>
          <a:xfrm xmlns:a="http://schemas.openxmlformats.org/drawingml/2006/main">
            <a:off x="3752850" y="3405188"/>
            <a:ext cx="7620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sp>
        <p:nvSpPr>
          <p:cNvPr id="18" name="No clear gain can hide&#10;a downstream bottleneck">
            <a:extLst xmlns:a="http://schemas.openxmlformats.org/drawingml/2006/main">
              <a:ext uri="{FF2B5EF4-FFF2-40B4-BE49-F238E27FC236}">
                <a16:creationId xmlns:a16="http://schemas.microsoft.com/office/drawing/2014/main" id="{FE8EB4BB-36E2-4886-8CFD-439D8A9E13B1}"/>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Better evidence can still go unused</a:t>
            </a:r>
          </a:p>
        </p:txBody>
      </p:sp>
      <p:sp>
        <p:nvSpPr>
          <p:cNvPr id="2" name="Simulation result; production effects remain untested. Tool ">
            <a:extLst xmlns:a="http://schemas.openxmlformats.org/drawingml/2006/main">
              <a:ext uri="{FF2B5EF4-FFF2-40B4-BE49-F238E27FC236}">
                <a16:creationId xmlns:a16="http://schemas.microsoft.com/office/drawing/2014/main" id="{139D9A33-AE8D-44E2-8F17-0E7EDB951AC4}"/>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Simulation result; production effects remain untested. Tool use alone does not identify the tool’s causal effect.</a:t>
            </a:r>
          </a:p>
        </p:txBody>
      </p:sp>
      <p:sp>
        <p:nvSpPr>
          <p:cNvPr id="3" name="Alzahrani · Verify Claims, Not Scores   Jarmak · Engineering">
            <a:extLst xmlns:a="http://schemas.openxmlformats.org/drawingml/2006/main">
              <a:ext uri="{FF2B5EF4-FFF2-40B4-BE49-F238E27FC236}">
                <a16:creationId xmlns:a16="http://schemas.microsoft.com/office/drawing/2014/main" id="{669D3F70-90C6-47B5-9605-D147FCA00086}"/>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33e229b918a24b17"/>
              </a:rPr>
              <a:t>Alzahrani · Verify Claims, Not Scores</a:t>
            </a:r>
            <a:r>
              <a:rPr sz="1088" b="0">
                <a:solidFill>
                  <a:srgbClr val="766D62"/>
                </a:solidFill>
                <a:latin typeface="Hanken Grotesk"/>
                <a:ea typeface="Hanken Grotesk"/>
                <a:cs typeface="Hanken Grotesk"/>
              </a:rPr>
              <a:t>   </a:t>
            </a:r>
            <a:r>
              <a:rPr sz="1088" b="0">
                <a:solidFill>
                  <a:srgbClr val="766D62"/>
                </a:solidFill>
                <a:latin typeface="Hanken Grotesk"/>
                <a:ea typeface="Hanken Grotesk"/>
                <a:cs typeface="Hanken Grotesk"/>
                <a:hlinkClick xmlns:r="http://schemas.openxmlformats.org/officeDocument/2006/relationships" r:id="Rc86d0d2d7d5c43aa"/>
              </a:rPr>
              <a:t>Jarmak · Engineering Reliable Coding Agents, ch. 2</a:t>
            </a:r>
          </a:p>
        </p:txBody>
      </p:sp>
      <p:sp>
        <p:nvSpPr>
          <p:cNvPr id="4" name="07">
            <a:extLst xmlns:a="http://schemas.openxmlformats.org/drawingml/2006/main">
              <a:ext uri="{FF2B5EF4-FFF2-40B4-BE49-F238E27FC236}">
                <a16:creationId xmlns:a16="http://schemas.microsoft.com/office/drawing/2014/main" id="{7F4563C8-096E-4145-9784-DF6725A9BD85}"/>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07</a:t>
            </a:r>
          </a:p>
        </p:txBody>
      </p:sp>
      <p:sp>
        <p:nvSpPr>
          <p:cNvPr id="5" name="A component can improve while the system cannot use the gain">
            <a:extLst xmlns:a="http://schemas.openxmlformats.org/drawingml/2006/main">
              <a:ext uri="{FF2B5EF4-FFF2-40B4-BE49-F238E27FC236}">
                <a16:creationId xmlns:a16="http://schemas.microsoft.com/office/drawing/2014/main" id="{C6E3EF1C-6CA8-41DA-A746-682487B4F6B1}"/>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4A4039"/>
                </a:solidFill>
                <a:latin typeface="Hanken Grotesk"/>
                <a:ea typeface="Hanken Grotesk"/>
                <a:cs typeface="Hanken Grotesk"/>
              </a:defRPr>
            </a:defPPr>
          </a:lstStyle>
          <a:p xmlns:a="http://schemas.openxmlformats.org/drawingml/2006/main">
            <a:pPr algn="l">
              <a:lnSpc>
                <a:spcPct val="110000"/>
              </a:lnSpc>
              <a:buNone/>
              <a:defRPr sz="2175" b="0">
                <a:solidFill>
                  <a:srgbClr val="4A4039"/>
                </a:solidFill>
                <a:latin typeface="Hanken Grotesk"/>
                <a:ea typeface="Hanken Grotesk"/>
                <a:cs typeface="Hanken Grotesk"/>
              </a:defRPr>
            </a:pPr>
            <a:r>
              <a:rPr sz="2175" b="0">
                <a:solidFill>
                  <a:srgbClr val="4A4039"/>
                </a:solidFill>
                <a:latin typeface="Hanken Grotesk"/>
                <a:ea typeface="Hanken Grotesk"/>
                <a:cs typeface="Hanken Grotesk"/>
              </a:rPr>
              <a:t>Test the evidence and the agent’s use of it separately.</a:t>
            </a:r>
          </a:p>
        </p:txBody>
      </p:sp>
      <p:sp>
        <p:nvSpPr>
          <p:cNvPr id="6" name="Evidence source">
            <a:extLst xmlns:a="http://schemas.openxmlformats.org/drawingml/2006/main">
              <a:ext uri="{FF2B5EF4-FFF2-40B4-BE49-F238E27FC236}">
                <a16:creationId xmlns:a16="http://schemas.microsoft.com/office/drawing/2014/main" id="{CD0446C6-4441-4325-A3AF-645501AD0B82}"/>
              </a:ext>
            </a:extLst>
          </p:cNvPr>
          <p:cNvSpPr>
            <a:spLocks xmlns:a="http://schemas.openxmlformats.org/drawingml/2006/main" noGrp="1"/>
          </p:cNvSpPr>
          <p:nvPr/>
        </p:nvSpPr>
        <p:spPr>
          <a:xfrm xmlns:a="http://schemas.openxmlformats.org/drawingml/2006/main">
            <a:off x="609600" y="2952750"/>
            <a:ext cx="3143250" cy="9048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325" b="0">
                <a:solidFill>
                  <a:srgbClr val="241B13"/>
                </a:solidFill>
                <a:latin typeface="Hanken Grotesk"/>
                <a:ea typeface="Hanken Grotesk"/>
                <a:cs typeface="Hanken Grotesk"/>
              </a:defRPr>
            </a:defPPr>
          </a:lstStyle>
          <a:p xmlns:a="http://schemas.openxmlformats.org/drawingml/2006/main">
            <a:pPr algn="ctr">
              <a:lnSpc>
                <a:spcPct val="110000"/>
              </a:lnSpc>
              <a:buNone/>
              <a:defRPr sz="2325" b="0">
                <a:solidFill>
                  <a:srgbClr val="241B13"/>
                </a:solidFill>
                <a:latin typeface="Hanken Grotesk"/>
                <a:ea typeface="Hanken Grotesk"/>
                <a:cs typeface="Hanken Grotesk"/>
              </a:defRPr>
            </a:pPr>
            <a:r>
              <a:rPr sz="2325" b="0">
                <a:solidFill>
                  <a:srgbClr val="241B13"/>
                </a:solidFill>
                <a:latin typeface="Hanken Grotesk"/>
                <a:ea typeface="Hanken Grotesk"/>
                <a:cs typeface="Hanken Grotesk"/>
              </a:rPr>
              <a:t>Evidence source</a:t>
            </a:r>
          </a:p>
        </p:txBody>
      </p:sp>
      <p:sp>
        <p:nvSpPr>
          <p:cNvPr id="7" name="Component using the evidence">
            <a:extLst xmlns:a="http://schemas.openxmlformats.org/drawingml/2006/main">
              <a:ext uri="{FF2B5EF4-FFF2-40B4-BE49-F238E27FC236}">
                <a16:creationId xmlns:a16="http://schemas.microsoft.com/office/drawing/2014/main" id="{0A84DCDE-D6E1-472E-91D7-83C00B37A386}"/>
              </a:ext>
            </a:extLst>
          </p:cNvPr>
          <p:cNvSpPr>
            <a:spLocks xmlns:a="http://schemas.openxmlformats.org/drawingml/2006/main" noGrp="1"/>
          </p:cNvSpPr>
          <p:nvPr/>
        </p:nvSpPr>
        <p:spPr>
          <a:xfrm xmlns:a="http://schemas.openxmlformats.org/drawingml/2006/main">
            <a:off x="4514850" y="2952750"/>
            <a:ext cx="3143250" cy="9048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325" b="0">
                <a:solidFill>
                  <a:srgbClr val="241B13"/>
                </a:solidFill>
                <a:latin typeface="Hanken Grotesk"/>
                <a:ea typeface="Hanken Grotesk"/>
                <a:cs typeface="Hanken Grotesk"/>
              </a:defRPr>
            </a:defPPr>
          </a:lstStyle>
          <a:p xmlns:a="http://schemas.openxmlformats.org/drawingml/2006/main">
            <a:pPr algn="ctr">
              <a:lnSpc>
                <a:spcPct val="110000"/>
              </a:lnSpc>
              <a:buNone/>
              <a:defRPr sz="2325" b="0">
                <a:solidFill>
                  <a:srgbClr val="241B13"/>
                </a:solidFill>
                <a:latin typeface="Hanken Grotesk"/>
                <a:ea typeface="Hanken Grotesk"/>
                <a:cs typeface="Hanken Grotesk"/>
              </a:defRPr>
            </a:pPr>
            <a:r>
              <a:rPr sz="2325" b="0">
                <a:solidFill>
                  <a:srgbClr val="241B13"/>
                </a:solidFill>
                <a:latin typeface="Hanken Grotesk"/>
                <a:ea typeface="Hanken Grotesk"/>
                <a:cs typeface="Hanken Grotesk"/>
              </a:rPr>
              <a:t>Component using</a:t>
            </a:r>
          </a:p>
          <a:p xmlns:a="http://schemas.openxmlformats.org/drawingml/2006/main">
            <a:pPr algn="ctr">
              <a:lnSpc>
                <a:spcPct val="110000"/>
              </a:lnSpc>
              <a:buNone/>
              <a:defRPr sz="2325" b="0">
                <a:solidFill>
                  <a:srgbClr val="241B13"/>
                </a:solidFill>
                <a:latin typeface="Hanken Grotesk"/>
                <a:ea typeface="Hanken Grotesk"/>
                <a:cs typeface="Hanken Grotesk"/>
              </a:defRPr>
            </a:pPr>
            <a:r>
              <a:rPr sz="2325" b="0">
                <a:solidFill>
                  <a:srgbClr val="241B13"/>
                </a:solidFill>
                <a:latin typeface="Hanken Grotesk"/>
                <a:ea typeface="Hanken Grotesk"/>
                <a:cs typeface="Hanken Grotesk"/>
              </a:rPr>
              <a:t>the evidence</a:t>
            </a:r>
          </a:p>
        </p:txBody>
      </p:sp>
      <p:sp>
        <p:nvSpPr>
          <p:cNvPr id="8" name="Outcome">
            <a:extLst xmlns:a="http://schemas.openxmlformats.org/drawingml/2006/main">
              <a:ext uri="{FF2B5EF4-FFF2-40B4-BE49-F238E27FC236}">
                <a16:creationId xmlns:a16="http://schemas.microsoft.com/office/drawing/2014/main" id="{9B5279AD-E78B-449A-AF93-AF7E52F9F0CC}"/>
              </a:ext>
            </a:extLst>
          </p:cNvPr>
          <p:cNvSpPr>
            <a:spLocks xmlns:a="http://schemas.openxmlformats.org/drawingml/2006/main" noGrp="1"/>
          </p:cNvSpPr>
          <p:nvPr/>
        </p:nvSpPr>
        <p:spPr>
          <a:xfrm xmlns:a="http://schemas.openxmlformats.org/drawingml/2006/main">
            <a:off x="8420100" y="2952750"/>
            <a:ext cx="3143250" cy="9048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325" b="0">
                <a:solidFill>
                  <a:srgbClr val="241B13"/>
                </a:solidFill>
                <a:latin typeface="Hanken Grotesk"/>
                <a:ea typeface="Hanken Grotesk"/>
                <a:cs typeface="Hanken Grotesk"/>
              </a:defRPr>
            </a:defPPr>
          </a:lstStyle>
          <a:p xmlns:a="http://schemas.openxmlformats.org/drawingml/2006/main">
            <a:pPr algn="ctr">
              <a:lnSpc>
                <a:spcPct val="110000"/>
              </a:lnSpc>
              <a:buNone/>
              <a:defRPr sz="2325" b="0">
                <a:solidFill>
                  <a:srgbClr val="241B13"/>
                </a:solidFill>
                <a:latin typeface="Hanken Grotesk"/>
                <a:ea typeface="Hanken Grotesk"/>
                <a:cs typeface="Hanken Grotesk"/>
              </a:defRPr>
            </a:pPr>
            <a:r>
              <a:rPr sz="2325" b="0">
                <a:solidFill>
                  <a:srgbClr val="241B13"/>
                </a:solidFill>
                <a:latin typeface="Hanken Grotesk"/>
                <a:ea typeface="Hanken Grotesk"/>
                <a:cs typeface="Hanken Grotesk"/>
              </a:rPr>
              <a:t>Outcome</a:t>
            </a:r>
          </a:p>
        </p:txBody>
      </p:sp>
      <p:sp>
        <p:nvSpPr>
          <p:cNvPr id="11" name="CONTROL A">
            <a:extLst xmlns:a="http://schemas.openxmlformats.org/drawingml/2006/main">
              <a:ext uri="{FF2B5EF4-FFF2-40B4-BE49-F238E27FC236}">
                <a16:creationId xmlns:a16="http://schemas.microsoft.com/office/drawing/2014/main" id="{10A7EBAB-C103-4649-9937-BEED29AEE761}"/>
              </a:ext>
            </a:extLst>
          </p:cNvPr>
          <p:cNvSpPr>
            <a:spLocks xmlns:a="http://schemas.openxmlformats.org/drawingml/2006/main" noGrp="1"/>
          </p:cNvSpPr>
          <p:nvPr/>
        </p:nvSpPr>
        <p:spPr>
          <a:xfrm xmlns:a="http://schemas.openxmlformats.org/drawingml/2006/main">
            <a:off x="609600" y="2343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CONTROL A</a:t>
            </a:r>
          </a:p>
        </p:txBody>
      </p:sp>
      <p:sp>
        <p:nvSpPr>
          <p:cNvPr id="12" name="Substitute trusted information">
            <a:extLst xmlns:a="http://schemas.openxmlformats.org/drawingml/2006/main">
              <a:ext uri="{FF2B5EF4-FFF2-40B4-BE49-F238E27FC236}">
                <a16:creationId xmlns:a16="http://schemas.microsoft.com/office/drawing/2014/main" id="{0561DBF5-53E3-448A-B9F1-348AEF89B8E8}"/>
              </a:ext>
            </a:extLst>
          </p:cNvPr>
          <p:cNvSpPr>
            <a:spLocks xmlns:a="http://schemas.openxmlformats.org/drawingml/2006/main" noGrp="1"/>
          </p:cNvSpPr>
          <p:nvPr/>
        </p:nvSpPr>
        <p:spPr>
          <a:xfrm xmlns:a="http://schemas.openxmlformats.org/drawingml/2006/main">
            <a:off x="609600" y="4114800"/>
            <a:ext cx="340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C75E00"/>
                </a:solidFill>
                <a:latin typeface="Hanken Grotesk"/>
                <a:ea typeface="Hanken Grotesk"/>
                <a:cs typeface="Hanken Grotesk"/>
              </a:defRPr>
            </a:defPPr>
          </a:lstStyle>
          <a:p xmlns:a="http://schemas.openxmlformats.org/drawingml/2006/main">
            <a:pPr algn="l">
              <a:lnSpc>
                <a:spcPct val="110000"/>
              </a:lnSpc>
              <a:buNone/>
              <a:defRPr sz="1950" b="0">
                <a:solidFill>
                  <a:srgbClr val="C75E00"/>
                </a:solidFill>
                <a:latin typeface="Hanken Grotesk"/>
                <a:ea typeface="Hanken Grotesk"/>
                <a:cs typeface="Hanken Grotesk"/>
              </a:defRPr>
            </a:pPr>
            <a:r>
              <a:rPr sz="1950" b="0">
                <a:solidFill>
                  <a:srgbClr val="C75E00"/>
                </a:solidFill>
                <a:latin typeface="Hanken Grotesk"/>
                <a:ea typeface="Hanken Grotesk"/>
                <a:cs typeface="Hanken Grotesk"/>
              </a:rPr>
              <a:t>Substitute trusted information</a:t>
            </a:r>
          </a:p>
        </p:txBody>
      </p:sp>
      <p:sp>
        <p:nvSpPr>
          <p:cNvPr id="13" name="CONTROL B">
            <a:extLst xmlns:a="http://schemas.openxmlformats.org/drawingml/2006/main">
              <a:ext uri="{FF2B5EF4-FFF2-40B4-BE49-F238E27FC236}">
                <a16:creationId xmlns:a16="http://schemas.microsoft.com/office/drawing/2014/main" id="{509C1222-5774-42F3-B56D-60EF07BE2CB6}"/>
              </a:ext>
            </a:extLst>
          </p:cNvPr>
          <p:cNvSpPr>
            <a:spLocks xmlns:a="http://schemas.openxmlformats.org/drawingml/2006/main" noGrp="1"/>
          </p:cNvSpPr>
          <p:nvPr/>
        </p:nvSpPr>
        <p:spPr>
          <a:xfrm xmlns:a="http://schemas.openxmlformats.org/drawingml/2006/main">
            <a:off x="4514850" y="2343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CONTROL B</a:t>
            </a:r>
          </a:p>
        </p:txBody>
      </p:sp>
      <p:sp>
        <p:nvSpPr>
          <p:cNvPr id="14" name="Bypass the component&#10;using the evidence">
            <a:extLst xmlns:a="http://schemas.openxmlformats.org/drawingml/2006/main">
              <a:ext uri="{FF2B5EF4-FFF2-40B4-BE49-F238E27FC236}">
                <a16:creationId xmlns:a16="http://schemas.microsoft.com/office/drawing/2014/main" id="{F4ECF44C-BDF0-43F1-BCFC-E8681D0BB5A8}"/>
              </a:ext>
            </a:extLst>
          </p:cNvPr>
          <p:cNvSpPr>
            <a:spLocks xmlns:a="http://schemas.openxmlformats.org/drawingml/2006/main" noGrp="1"/>
          </p:cNvSpPr>
          <p:nvPr/>
        </p:nvSpPr>
        <p:spPr>
          <a:xfrm xmlns:a="http://schemas.openxmlformats.org/drawingml/2006/main">
            <a:off x="4514850" y="411480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C75E00"/>
                </a:solidFill>
                <a:latin typeface="Hanken Grotesk"/>
                <a:ea typeface="Hanken Grotesk"/>
                <a:cs typeface="Hanken Grotesk"/>
              </a:defRPr>
            </a:defPPr>
          </a:lstStyle>
          <a:p xmlns:a="http://schemas.openxmlformats.org/drawingml/2006/main">
            <a:pPr algn="l">
              <a:lnSpc>
                <a:spcPct val="110000"/>
              </a:lnSpc>
              <a:buNone/>
              <a:defRPr sz="1950" b="0">
                <a:solidFill>
                  <a:srgbClr val="C75E00"/>
                </a:solidFill>
                <a:latin typeface="Hanken Grotesk"/>
                <a:ea typeface="Hanken Grotesk"/>
                <a:cs typeface="Hanken Grotesk"/>
              </a:defRPr>
            </a:pPr>
            <a:r>
              <a:rPr sz="1950" b="0">
                <a:solidFill>
                  <a:srgbClr val="C75E00"/>
                </a:solidFill>
                <a:latin typeface="Hanken Grotesk"/>
                <a:ea typeface="Hanken Grotesk"/>
                <a:cs typeface="Hanken Grotesk"/>
              </a:rPr>
              <a:t>Bypass the component</a:t>
            </a:r>
          </a:p>
          <a:p xmlns:a="http://schemas.openxmlformats.org/drawingml/2006/main">
            <a:pPr algn="l">
              <a:lnSpc>
                <a:spcPct val="110000"/>
              </a:lnSpc>
              <a:buNone/>
              <a:defRPr sz="1950" b="0">
                <a:solidFill>
                  <a:srgbClr val="C75E00"/>
                </a:solidFill>
                <a:latin typeface="Hanken Grotesk"/>
                <a:ea typeface="Hanken Grotesk"/>
                <a:cs typeface="Hanken Grotesk"/>
              </a:defRPr>
            </a:pPr>
            <a:r>
              <a:rPr sz="1950" b="0">
                <a:solidFill>
                  <a:srgbClr val="C75E00"/>
                </a:solidFill>
                <a:latin typeface="Hanken Grotesk"/>
                <a:ea typeface="Hanken Grotesk"/>
                <a:cs typeface="Hanken Grotesk"/>
              </a:rPr>
              <a:t>using the evidence</a:t>
            </a:r>
          </a:p>
        </p:txBody>
      </p:sp>
      <p:sp>
        <p:nvSpPr>
          <p:cNvPr id="15" name="">
            <a:extLst xmlns:a="http://schemas.openxmlformats.org/drawingml/2006/main">
              <a:ext uri="{FF2B5EF4-FFF2-40B4-BE49-F238E27FC236}">
                <a16:creationId xmlns:a16="http://schemas.microsoft.com/office/drawing/2014/main" id="{6114D068-9227-4A90-884B-6CC58D901DB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6" name="Deployment comparison">
            <a:extLst xmlns:a="http://schemas.openxmlformats.org/drawingml/2006/main">
              <a:ext uri="{FF2B5EF4-FFF2-40B4-BE49-F238E27FC236}">
                <a16:creationId xmlns:a16="http://schemas.microsoft.com/office/drawing/2014/main" id="{0F939E34-8E49-4DA6-BFC6-90716F235FD3}"/>
              </a:ext>
            </a:extLst>
          </p:cNvPr>
          <p:cNvSpPr>
            <a:spLocks xmlns:a="http://schemas.openxmlformats.org/drawingml/2006/main" noGrp="1"/>
          </p:cNvSpPr>
          <p:nvPr/>
        </p:nvSpPr>
        <p:spPr>
          <a:xfrm xmlns:a="http://schemas.openxmlformats.org/drawingml/2006/main">
            <a:off x="609600" y="5553075"/>
            <a:ext cx="3705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241B13"/>
                </a:solidFill>
                <a:latin typeface="Literata"/>
                <a:ea typeface="Literata"/>
                <a:cs typeface="Literata"/>
              </a:defRPr>
            </a:defPPr>
          </a:lstStyle>
          <a:p xmlns:a="http://schemas.openxmlformats.org/drawingml/2006/main">
            <a:pPr algn="l">
              <a:lnSpc>
                <a:spcPct val="110000"/>
              </a:lnSpc>
              <a:buNone/>
              <a:defRPr sz="2100" b="0">
                <a:solidFill>
                  <a:srgbClr val="241B13"/>
                </a:solidFill>
                <a:latin typeface="Literata"/>
                <a:ea typeface="Literata"/>
                <a:cs typeface="Literata"/>
              </a:defRPr>
            </a:pPr>
            <a:r>
              <a:rPr sz="2100" b="0">
                <a:solidFill>
                  <a:srgbClr val="241B13"/>
                </a:solidFill>
                <a:latin typeface="Literata"/>
                <a:ea typeface="Literata"/>
                <a:cs typeface="Literata"/>
              </a:rPr>
              <a:t>Deployment comparison</a:t>
            </a:r>
          </a:p>
        </p:txBody>
      </p:sp>
      <p:sp>
        <p:nvSpPr>
          <p:cNvPr id="17" name="Keep non-use and failed attempts in the result.">
            <a:extLst xmlns:a="http://schemas.openxmlformats.org/drawingml/2006/main">
              <a:ext uri="{FF2B5EF4-FFF2-40B4-BE49-F238E27FC236}">
                <a16:creationId xmlns:a16="http://schemas.microsoft.com/office/drawing/2014/main" id="{43190AFA-79BC-47D5-A2F6-C09396405EBC}"/>
              </a:ext>
            </a:extLst>
          </p:cNvPr>
          <p:cNvSpPr>
            <a:spLocks xmlns:a="http://schemas.openxmlformats.org/drawingml/2006/main" noGrp="1"/>
          </p:cNvSpPr>
          <p:nvPr/>
        </p:nvSpPr>
        <p:spPr>
          <a:xfrm xmlns:a="http://schemas.openxmlformats.org/drawingml/2006/main">
            <a:off x="4514850" y="5553075"/>
            <a:ext cx="7038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4A4039"/>
                </a:solidFill>
                <a:latin typeface="Hanken Grotesk"/>
                <a:ea typeface="Hanken Grotesk"/>
                <a:cs typeface="Hanken Grotesk"/>
              </a:defRPr>
            </a:defPPr>
          </a:lstStyle>
          <a:p xmlns:a="http://schemas.openxmlformats.org/drawingml/2006/main">
            <a:pPr algn="l">
              <a:lnSpc>
                <a:spcPct val="110000"/>
              </a:lnSpc>
              <a:buNone/>
              <a:defRPr sz="2100" b="0">
                <a:solidFill>
                  <a:srgbClr val="4A4039"/>
                </a:solidFill>
                <a:latin typeface="Hanken Grotesk"/>
                <a:ea typeface="Hanken Grotesk"/>
                <a:cs typeface="Hanken Grotesk"/>
              </a:defRPr>
            </a:pPr>
            <a:r>
              <a:rPr sz="2100" b="0">
                <a:solidFill>
                  <a:srgbClr val="4A4039"/>
                </a:solidFill>
                <a:latin typeface="Hanken Grotesk"/>
                <a:ea typeface="Hanken Grotesk"/>
                <a:cs typeface="Hanken Grotesk"/>
              </a:rPr>
              <a:t>Keep non-use and failed attempts in the result.</a:t>
            </a:r>
          </a:p>
        </p:txBody>
      </p:sp>
    </p:spTree>
    <p:extLst>
      <p:ext uri="{BB962C8B-B14F-4D97-AF65-F5344CB8AC3E}">
        <p14:creationId xmlns:p14="http://schemas.microsoft.com/office/powerpoint/2010/main" val="1918308250"/>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31" name="Audit the scoring rule and the answer key">
            <a:extLst xmlns:a="http://schemas.openxmlformats.org/drawingml/2006/main">
              <a:ext uri="{FF2B5EF4-FFF2-40B4-BE49-F238E27FC236}">
                <a16:creationId xmlns:a16="http://schemas.microsoft.com/office/drawing/2014/main" id="{428C3634-397D-48D7-9A01-BFCE9F4E8F50}"/>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Audit the scoring rule and the answer key</a:t>
            </a:r>
          </a:p>
        </p:txBody>
      </p:sp>
      <p:sp>
        <p:nvSpPr>
          <p:cNvPr id="2" name="One output, measured against one reference set. The score wa">
            <a:extLst xmlns:a="http://schemas.openxmlformats.org/drawingml/2006/main">
              <a:ext uri="{FF2B5EF4-FFF2-40B4-BE49-F238E27FC236}">
                <a16:creationId xmlns:a16="http://schemas.microsoft.com/office/drawing/2014/main" id="{81446139-DABF-4631-A870-D6510EF69E73}"/>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One output, measured against one reference set. The score was precision-sensitive; intent and prevalence are not established.</a:t>
            </a:r>
          </a:p>
        </p:txBody>
      </p:sp>
      <p:sp>
        <p:nvSpPr>
          <p:cNvPr id="3" name="Jarmak · CodeProbe trial e5d7a4e7 / commit 2495927">
            <a:extLst xmlns:a="http://schemas.openxmlformats.org/drawingml/2006/main">
              <a:ext uri="{FF2B5EF4-FFF2-40B4-BE49-F238E27FC236}">
                <a16:creationId xmlns:a16="http://schemas.microsoft.com/office/drawing/2014/main" id="{EDABF8B4-B36B-400D-AAA9-AC2B5EF30F4F}"/>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cd4ef88c05434085"/>
              </a:rPr>
              <a:t>Jarmak · CodeProbe trial e5d7a4e7 / commit 2495927</a:t>
            </a:r>
          </a:p>
        </p:txBody>
      </p:sp>
      <p:sp>
        <p:nvSpPr>
          <p:cNvPr id="4" name="08">
            <a:extLst xmlns:a="http://schemas.openxmlformats.org/drawingml/2006/main">
              <a:ext uri="{FF2B5EF4-FFF2-40B4-BE49-F238E27FC236}">
                <a16:creationId xmlns:a16="http://schemas.microsoft.com/office/drawing/2014/main" id="{D6E31FA1-E678-4707-A1E7-D2E3C941195C}"/>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08</a:t>
            </a:r>
          </a:p>
        </p:txBody>
      </p:sp>
      <p:sp>
        <p:nvSpPr>
          <p:cNvPr id="5" name="RECORDED OUTPUT">
            <a:extLst xmlns:a="http://schemas.openxmlformats.org/drawingml/2006/main">
              <a:ext uri="{FF2B5EF4-FFF2-40B4-BE49-F238E27FC236}">
                <a16:creationId xmlns:a16="http://schemas.microsoft.com/office/drawing/2014/main" id="{02B25A67-894C-4B79-A527-EB8A5C93EFA1}"/>
              </a:ext>
            </a:extLst>
          </p:cNvPr>
          <p:cNvSpPr>
            <a:spLocks xmlns:a="http://schemas.openxmlformats.org/drawingml/2006/main" noGrp="1"/>
          </p:cNvSpPr>
          <p:nvPr/>
        </p:nvSpPr>
        <p:spPr>
          <a:xfrm xmlns:a="http://schemas.openxmlformats.org/drawingml/2006/main">
            <a:off x="609600" y="183832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RECORDED OUTPUT</a:t>
            </a:r>
          </a:p>
        </p:txBody>
      </p:sp>
      <p:sp>
        <p:nvSpPr>
          <p:cNvPr id="6" name="SCORING RULE">
            <a:extLst xmlns:a="http://schemas.openxmlformats.org/drawingml/2006/main">
              <a:ext uri="{FF2B5EF4-FFF2-40B4-BE49-F238E27FC236}">
                <a16:creationId xmlns:a16="http://schemas.microsoft.com/office/drawing/2014/main" id="{93DC2BBB-CCC0-4FC2-9B21-6E9FA96B9E1E}"/>
              </a:ext>
            </a:extLst>
          </p:cNvPr>
          <p:cNvSpPr>
            <a:spLocks xmlns:a="http://schemas.openxmlformats.org/drawingml/2006/main" noGrp="1"/>
          </p:cNvSpPr>
          <p:nvPr/>
        </p:nvSpPr>
        <p:spPr>
          <a:xfrm xmlns:a="http://schemas.openxmlformats.org/drawingml/2006/main">
            <a:off x="4314825" y="183832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SCORING RULE</a:t>
            </a:r>
          </a:p>
        </p:txBody>
      </p:sp>
      <p:sp>
        <p:nvSpPr>
          <p:cNvPr id="7" name="PROPOSED CHALLENGES">
            <a:extLst xmlns:a="http://schemas.openxmlformats.org/drawingml/2006/main">
              <a:ext uri="{FF2B5EF4-FFF2-40B4-BE49-F238E27FC236}">
                <a16:creationId xmlns:a16="http://schemas.microsoft.com/office/drawing/2014/main" id="{EA83D005-F22D-4DA3-B3C8-812EC9F8D8F7}"/>
              </a:ext>
            </a:extLst>
          </p:cNvPr>
          <p:cNvSpPr>
            <a:spLocks xmlns:a="http://schemas.openxmlformats.org/drawingml/2006/main" noGrp="1"/>
          </p:cNvSpPr>
          <p:nvPr/>
        </p:nvSpPr>
        <p:spPr>
          <a:xfrm xmlns:a="http://schemas.openxmlformats.org/drawingml/2006/main">
            <a:off x="8020050" y="1838325"/>
            <a:ext cx="3562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PROPOSED CHALLENGES</a:t>
            </a:r>
          </a:p>
        </p:txBody>
      </p:sp>
      <p:sp>
        <p:nvSpPr>
          <p:cNvPr id="8" name="295">
            <a:extLst xmlns:a="http://schemas.openxmlformats.org/drawingml/2006/main">
              <a:ext uri="{FF2B5EF4-FFF2-40B4-BE49-F238E27FC236}">
                <a16:creationId xmlns:a16="http://schemas.microsoft.com/office/drawing/2014/main" id="{D1A5C708-63FA-4669-926B-7E247D04363C}"/>
              </a:ext>
            </a:extLst>
          </p:cNvPr>
          <p:cNvSpPr>
            <a:spLocks xmlns:a="http://schemas.openxmlformats.org/drawingml/2006/main" noGrp="1"/>
          </p:cNvSpPr>
          <p:nvPr/>
        </p:nvSpPr>
        <p:spPr>
          <a:xfrm xmlns:a="http://schemas.openxmlformats.org/drawingml/2006/main">
            <a:off x="609600" y="2257425"/>
            <a:ext cx="3286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550" b="0">
                <a:solidFill>
                  <a:srgbClr val="241B13"/>
                </a:solidFill>
                <a:latin typeface="Hanken Grotesk"/>
                <a:ea typeface="Hanken Grotesk"/>
                <a:cs typeface="Hanken Grotesk"/>
              </a:defRPr>
            </a:defPPr>
          </a:lstStyle>
          <a:p xmlns:a="http://schemas.openxmlformats.org/drawingml/2006/main">
            <a:pPr algn="l">
              <a:lnSpc>
                <a:spcPct val="110000"/>
              </a:lnSpc>
              <a:buNone/>
              <a:defRPr sz="5550" b="0">
                <a:solidFill>
                  <a:srgbClr val="241B13"/>
                </a:solidFill>
                <a:latin typeface="Hanken Grotesk"/>
                <a:ea typeface="Hanken Grotesk"/>
                <a:cs typeface="Hanken Grotesk"/>
              </a:defRPr>
            </a:pPr>
            <a:r>
              <a:rPr sz="5550" b="0">
                <a:solidFill>
                  <a:srgbClr val="241B13"/>
                </a:solidFill>
                <a:latin typeface="Hanken Grotesk"/>
                <a:ea typeface="Hanken Grotesk"/>
                <a:cs typeface="Hanken Grotesk"/>
              </a:rPr>
              <a:t>295</a:t>
            </a:r>
          </a:p>
        </p:txBody>
      </p:sp>
      <p:sp>
        <p:nvSpPr>
          <p:cNvPr id="9" name="files returned">
            <a:extLst xmlns:a="http://schemas.openxmlformats.org/drawingml/2006/main">
              <a:ext uri="{FF2B5EF4-FFF2-40B4-BE49-F238E27FC236}">
                <a16:creationId xmlns:a16="http://schemas.microsoft.com/office/drawing/2014/main" id="{3E3E72FB-D98E-4BCF-940B-10B304626531}"/>
              </a:ext>
            </a:extLst>
          </p:cNvPr>
          <p:cNvSpPr>
            <a:spLocks xmlns:a="http://schemas.openxmlformats.org/drawingml/2006/main" noGrp="1"/>
          </p:cNvSpPr>
          <p:nvPr/>
        </p:nvSpPr>
        <p:spPr>
          <a:xfrm xmlns:a="http://schemas.openxmlformats.org/drawingml/2006/main">
            <a:off x="609600" y="31146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A4039"/>
                </a:solidFill>
                <a:latin typeface="Hanken Grotesk"/>
                <a:ea typeface="Hanken Grotesk"/>
                <a:cs typeface="Hanken Grotesk"/>
              </a:defRPr>
            </a:defPPr>
          </a:lstStyle>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files returned</a:t>
            </a:r>
          </a:p>
        </p:txBody>
      </p:sp>
      <p:sp>
        <p:nvSpPr>
          <p:cNvPr id="10" name="">
            <a:extLst xmlns:a="http://schemas.openxmlformats.org/drawingml/2006/main">
              <a:ext uri="{FF2B5EF4-FFF2-40B4-BE49-F238E27FC236}">
                <a16:creationId xmlns:a16="http://schemas.microsoft.com/office/drawing/2014/main" id="{B8D0C225-21E2-4899-9CAB-D4291EACADE5}"/>
              </a:ext>
            </a:extLst>
          </p:cNvPr>
          <p:cNvSpPr>
            <a:spLocks xmlns:a="http://schemas.openxmlformats.org/drawingml/2006/main" noGrp="1"/>
          </p:cNvSpPr>
          <p:nvPr/>
        </p:nvSpPr>
        <p:spPr>
          <a:xfrm xmlns:a="http://schemas.openxmlformats.org/drawingml/2006/main">
            <a:off x="609600" y="3743325"/>
            <a:ext cx="3219450" cy="20478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025" b="0">
                <a:solidFill>
                  <a:srgbClr val="241B13"/>
                </a:solidFill>
                <a:latin typeface="Hanken Grotesk"/>
                <a:ea typeface="Hanken Grotesk"/>
                <a:cs typeface="Hanken Grotesk"/>
              </a:defRPr>
            </a:defPPr>
          </a:lstStyle>
          <a:p xmlns:a="http://schemas.openxmlformats.org/drawingml/2006/main">
            <a:r>
              <a:t/>
            </a:r>
          </a:p>
        </p:txBody>
      </p:sp>
      <p:sp>
        <p:nvSpPr>
          <p:cNvPr id="11" name="CodeProbe reference file 1">
            <a:extLst xmlns:a="http://schemas.openxmlformats.org/drawingml/2006/main">
              <a:ext uri="{FF2B5EF4-FFF2-40B4-BE49-F238E27FC236}">
                <a16:creationId xmlns:a16="http://schemas.microsoft.com/office/drawing/2014/main" id="{894087FB-FC52-451C-94B9-4ABD0B36DCCC}"/>
              </a:ext>
            </a:extLst>
          </p:cNvPr>
          <p:cNvSpPr>
            <a:spLocks xmlns:a="http://schemas.openxmlformats.org/drawingml/2006/main" noGrp="1"/>
          </p:cNvSpPr>
          <p:nvPr/>
        </p:nvSpPr>
        <p:spPr>
          <a:xfrm xmlns:a="http://schemas.openxmlformats.org/drawingml/2006/main">
            <a:off x="828675" y="3990975"/>
            <a:ext cx="266700" cy="266700"/>
          </a:xfrm>
          <a:prstGeom xmlns:a="http://schemas.openxmlformats.org/drawingml/2006/main" prst="rect">
            <a:avLst/>
          </a:prstGeom>
          <a:solidFill xmlns:a="http://schemas.openxmlformats.org/drawingml/2006/main">
            <a:srgbClr val="C75E00"/>
          </a:solidFill>
          <a:ln xmlns:a="http://schemas.openxmlformats.org/drawingml/2006/main" w="0">
            <a:solidFill>
              <a:srgbClr val="C75E00"/>
            </a:solidFill>
          </a:ln>
        </p:spPr>
      </p:sp>
      <p:sp>
        <p:nvSpPr>
          <p:cNvPr id="12" name="CodeProbe reference file 2">
            <a:extLst xmlns:a="http://schemas.openxmlformats.org/drawingml/2006/main">
              <a:ext uri="{FF2B5EF4-FFF2-40B4-BE49-F238E27FC236}">
                <a16:creationId xmlns:a16="http://schemas.microsoft.com/office/drawing/2014/main" id="{E07687B3-47CB-4E89-BF65-0975BC83AD3A}"/>
              </a:ext>
            </a:extLst>
          </p:cNvPr>
          <p:cNvSpPr>
            <a:spLocks xmlns:a="http://schemas.openxmlformats.org/drawingml/2006/main" noGrp="1"/>
          </p:cNvSpPr>
          <p:nvPr/>
        </p:nvSpPr>
        <p:spPr>
          <a:xfrm xmlns:a="http://schemas.openxmlformats.org/drawingml/2006/main">
            <a:off x="1276350" y="3990975"/>
            <a:ext cx="266700" cy="266700"/>
          </a:xfrm>
          <a:prstGeom xmlns:a="http://schemas.openxmlformats.org/drawingml/2006/main" prst="rect">
            <a:avLst/>
          </a:prstGeom>
          <a:solidFill xmlns:a="http://schemas.openxmlformats.org/drawingml/2006/main">
            <a:srgbClr val="C75E00"/>
          </a:solidFill>
          <a:ln xmlns:a="http://schemas.openxmlformats.org/drawingml/2006/main" w="0">
            <a:solidFill>
              <a:srgbClr val="C75E00"/>
            </a:solidFill>
          </a:ln>
        </p:spPr>
      </p:sp>
      <p:sp>
        <p:nvSpPr>
          <p:cNvPr id="13" name="CodeProbe reference file 3">
            <a:extLst xmlns:a="http://schemas.openxmlformats.org/drawingml/2006/main">
              <a:ext uri="{FF2B5EF4-FFF2-40B4-BE49-F238E27FC236}">
                <a16:creationId xmlns:a16="http://schemas.microsoft.com/office/drawing/2014/main" id="{2BF8C1D2-CC7B-41B6-9736-467F708D322C}"/>
              </a:ext>
            </a:extLst>
          </p:cNvPr>
          <p:cNvSpPr>
            <a:spLocks xmlns:a="http://schemas.openxmlformats.org/drawingml/2006/main" noGrp="1"/>
          </p:cNvSpPr>
          <p:nvPr/>
        </p:nvSpPr>
        <p:spPr>
          <a:xfrm xmlns:a="http://schemas.openxmlformats.org/drawingml/2006/main">
            <a:off x="1724025" y="3990975"/>
            <a:ext cx="266700" cy="266700"/>
          </a:xfrm>
          <a:prstGeom xmlns:a="http://schemas.openxmlformats.org/drawingml/2006/main" prst="rect">
            <a:avLst/>
          </a:prstGeom>
          <a:solidFill xmlns:a="http://schemas.openxmlformats.org/drawingml/2006/main">
            <a:srgbClr val="C75E00"/>
          </a:solidFill>
          <a:ln xmlns:a="http://schemas.openxmlformats.org/drawingml/2006/main" w="0">
            <a:solidFill>
              <a:srgbClr val="C75E00"/>
            </a:solidFill>
          </a:ln>
        </p:spPr>
      </p:sp>
      <p:sp>
        <p:nvSpPr>
          <p:cNvPr id="14" name="CodeProbe reference file 4">
            <a:extLst xmlns:a="http://schemas.openxmlformats.org/drawingml/2006/main">
              <a:ext uri="{FF2B5EF4-FFF2-40B4-BE49-F238E27FC236}">
                <a16:creationId xmlns:a16="http://schemas.microsoft.com/office/drawing/2014/main" id="{12769E36-89FD-4658-8466-474439A9F370}"/>
              </a:ext>
            </a:extLst>
          </p:cNvPr>
          <p:cNvSpPr>
            <a:spLocks xmlns:a="http://schemas.openxmlformats.org/drawingml/2006/main" noGrp="1"/>
          </p:cNvSpPr>
          <p:nvPr/>
        </p:nvSpPr>
        <p:spPr>
          <a:xfrm xmlns:a="http://schemas.openxmlformats.org/drawingml/2006/main">
            <a:off x="828675" y="4410075"/>
            <a:ext cx="266700" cy="266700"/>
          </a:xfrm>
          <a:prstGeom xmlns:a="http://schemas.openxmlformats.org/drawingml/2006/main" prst="rect">
            <a:avLst/>
          </a:prstGeom>
          <a:solidFill xmlns:a="http://schemas.openxmlformats.org/drawingml/2006/main">
            <a:srgbClr val="C75E00"/>
          </a:solidFill>
          <a:ln xmlns:a="http://schemas.openxmlformats.org/drawingml/2006/main" w="0">
            <a:solidFill>
              <a:srgbClr val="C75E00"/>
            </a:solidFill>
          </a:ln>
        </p:spPr>
      </p:sp>
      <p:sp>
        <p:nvSpPr>
          <p:cNvPr id="15" name="CodeProbe reference file 5">
            <a:extLst xmlns:a="http://schemas.openxmlformats.org/drawingml/2006/main">
              <a:ext uri="{FF2B5EF4-FFF2-40B4-BE49-F238E27FC236}">
                <a16:creationId xmlns:a16="http://schemas.microsoft.com/office/drawing/2014/main" id="{7C8567A8-2045-4F03-B855-5F6581F31E2A}"/>
              </a:ext>
            </a:extLst>
          </p:cNvPr>
          <p:cNvSpPr>
            <a:spLocks xmlns:a="http://schemas.openxmlformats.org/drawingml/2006/main" noGrp="1"/>
          </p:cNvSpPr>
          <p:nvPr/>
        </p:nvSpPr>
        <p:spPr>
          <a:xfrm xmlns:a="http://schemas.openxmlformats.org/drawingml/2006/main">
            <a:off x="1276350" y="4410075"/>
            <a:ext cx="266700" cy="266700"/>
          </a:xfrm>
          <a:prstGeom xmlns:a="http://schemas.openxmlformats.org/drawingml/2006/main" prst="rect">
            <a:avLst/>
          </a:prstGeom>
          <a:solidFill xmlns:a="http://schemas.openxmlformats.org/drawingml/2006/main">
            <a:srgbClr val="C75E00"/>
          </a:solidFill>
          <a:ln xmlns:a="http://schemas.openxmlformats.org/drawingml/2006/main" w="0">
            <a:solidFill>
              <a:srgbClr val="C75E00"/>
            </a:solidFill>
          </a:ln>
        </p:spPr>
      </p:sp>
      <p:sp>
        <p:nvSpPr>
          <p:cNvPr id="16" name="CodeProbe reference file 6">
            <a:extLst xmlns:a="http://schemas.openxmlformats.org/drawingml/2006/main">
              <a:ext uri="{FF2B5EF4-FFF2-40B4-BE49-F238E27FC236}">
                <a16:creationId xmlns:a16="http://schemas.microsoft.com/office/drawing/2014/main" id="{8C5F973C-E139-4964-A918-7DC399C4E34E}"/>
              </a:ext>
            </a:extLst>
          </p:cNvPr>
          <p:cNvSpPr>
            <a:spLocks xmlns:a="http://schemas.openxmlformats.org/drawingml/2006/main" noGrp="1"/>
          </p:cNvSpPr>
          <p:nvPr/>
        </p:nvSpPr>
        <p:spPr>
          <a:xfrm xmlns:a="http://schemas.openxmlformats.org/drawingml/2006/main">
            <a:off x="1724025" y="4410075"/>
            <a:ext cx="266700" cy="266700"/>
          </a:xfrm>
          <a:prstGeom xmlns:a="http://schemas.openxmlformats.org/drawingml/2006/main" prst="rect">
            <a:avLst/>
          </a:prstGeom>
          <a:solidFill xmlns:a="http://schemas.openxmlformats.org/drawingml/2006/main">
            <a:srgbClr val="C75E00"/>
          </a:solidFill>
          <a:ln xmlns:a="http://schemas.openxmlformats.org/drawingml/2006/main" w="0">
            <a:solidFill>
              <a:srgbClr val="C75E00"/>
            </a:solidFill>
          </a:ln>
        </p:spPr>
      </p:sp>
      <p:sp>
        <p:nvSpPr>
          <p:cNvPr id="17" name="6 reference&#10;files found">
            <a:extLst xmlns:a="http://schemas.openxmlformats.org/drawingml/2006/main">
              <a:ext uri="{FF2B5EF4-FFF2-40B4-BE49-F238E27FC236}">
                <a16:creationId xmlns:a16="http://schemas.microsoft.com/office/drawing/2014/main" id="{89D61E91-9349-4E7E-9EC5-B377851D543E}"/>
              </a:ext>
            </a:extLst>
          </p:cNvPr>
          <p:cNvSpPr>
            <a:spLocks xmlns:a="http://schemas.openxmlformats.org/drawingml/2006/main" noGrp="1"/>
          </p:cNvSpPr>
          <p:nvPr/>
        </p:nvSpPr>
        <p:spPr>
          <a:xfrm xmlns:a="http://schemas.openxmlformats.org/drawingml/2006/main">
            <a:off x="2333625" y="4019550"/>
            <a:ext cx="1323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C75E00"/>
                </a:solidFill>
                <a:latin typeface="Hanken Grotesk"/>
                <a:ea typeface="Hanken Grotesk"/>
                <a:cs typeface="Hanken Grotesk"/>
              </a:defRPr>
            </a:defPPr>
          </a:lstStyle>
          <a:p xmlns:a="http://schemas.openxmlformats.org/drawingml/2006/main">
            <a:pPr algn="l">
              <a:lnSpc>
                <a:spcPct val="110000"/>
              </a:lnSpc>
              <a:buNone/>
              <a:defRPr sz="1650" b="0">
                <a:solidFill>
                  <a:srgbClr val="C75E00"/>
                </a:solidFill>
                <a:latin typeface="Hanken Grotesk"/>
                <a:ea typeface="Hanken Grotesk"/>
                <a:cs typeface="Hanken Grotesk"/>
              </a:defRPr>
            </a:pPr>
            <a:r>
              <a:rPr sz="1650" b="0">
                <a:solidFill>
                  <a:srgbClr val="C75E00"/>
                </a:solidFill>
                <a:latin typeface="Hanken Grotesk"/>
                <a:ea typeface="Hanken Grotesk"/>
                <a:cs typeface="Hanken Grotesk"/>
              </a:rPr>
              <a:t>6 reference</a:t>
            </a:r>
          </a:p>
          <a:p xmlns:a="http://schemas.openxmlformats.org/drawingml/2006/main">
            <a:pPr algn="l">
              <a:lnSpc>
                <a:spcPct val="110000"/>
              </a:lnSpc>
              <a:buNone/>
              <a:defRPr sz="1650" b="0">
                <a:solidFill>
                  <a:srgbClr val="C75E00"/>
                </a:solidFill>
                <a:latin typeface="Hanken Grotesk"/>
                <a:ea typeface="Hanken Grotesk"/>
                <a:cs typeface="Hanken Grotesk"/>
              </a:defRPr>
            </a:pPr>
            <a:r>
              <a:rPr sz="1650" b="0">
                <a:solidFill>
                  <a:srgbClr val="C75E00"/>
                </a:solidFill>
                <a:latin typeface="Hanken Grotesk"/>
                <a:ea typeface="Hanken Grotesk"/>
                <a:cs typeface="Hanken Grotesk"/>
              </a:rPr>
              <a:t>files found</a:t>
            </a:r>
          </a:p>
        </p:txBody>
      </p:sp>
      <p:sp>
        <p:nvSpPr>
          <p:cNvPr id="18" name="289 outside the&#10;reference set">
            <a:extLst xmlns:a="http://schemas.openxmlformats.org/drawingml/2006/main">
              <a:ext uri="{FF2B5EF4-FFF2-40B4-BE49-F238E27FC236}">
                <a16:creationId xmlns:a16="http://schemas.microsoft.com/office/drawing/2014/main" id="{C4BE0D94-C81B-4942-8A95-282A029D6683}"/>
              </a:ext>
            </a:extLst>
          </p:cNvPr>
          <p:cNvSpPr>
            <a:spLocks xmlns:a="http://schemas.openxmlformats.org/drawingml/2006/main" noGrp="1"/>
          </p:cNvSpPr>
          <p:nvPr/>
        </p:nvSpPr>
        <p:spPr>
          <a:xfrm xmlns:a="http://schemas.openxmlformats.org/drawingml/2006/main">
            <a:off x="838200" y="5010150"/>
            <a:ext cx="2733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4A4039"/>
                </a:solidFill>
                <a:latin typeface="Hanken Grotesk"/>
                <a:ea typeface="Hanken Grotesk"/>
                <a:cs typeface="Hanken Grotesk"/>
              </a:defRPr>
            </a:defPPr>
          </a:lstStyle>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289 outside the</a:t>
            </a:r>
          </a:p>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reference set</a:t>
            </a:r>
          </a:p>
        </p:txBody>
      </p:sp>
      <p:sp>
        <p:nvSpPr>
          <p:cNvPr id="19" name="RECALL">
            <a:extLst xmlns:a="http://schemas.openxmlformats.org/drawingml/2006/main">
              <a:ext uri="{FF2B5EF4-FFF2-40B4-BE49-F238E27FC236}">
                <a16:creationId xmlns:a16="http://schemas.microsoft.com/office/drawing/2014/main" id="{46294239-C9D3-4FBF-B173-11B5E131D088}"/>
              </a:ext>
            </a:extLst>
          </p:cNvPr>
          <p:cNvSpPr>
            <a:spLocks xmlns:a="http://schemas.openxmlformats.org/drawingml/2006/main" noGrp="1"/>
          </p:cNvSpPr>
          <p:nvPr/>
        </p:nvSpPr>
        <p:spPr>
          <a:xfrm xmlns:a="http://schemas.openxmlformats.org/drawingml/2006/main">
            <a:off x="4314825" y="233362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C75E00"/>
                </a:solidFill>
                <a:latin typeface="Hanken Grotesk"/>
                <a:ea typeface="Hanken Grotesk"/>
                <a:cs typeface="Hanken Grotesk"/>
              </a:defRPr>
            </a:defPPr>
          </a:lstStyle>
          <a:p xmlns:a="http://schemas.openxmlformats.org/drawingml/2006/main">
            <a:pPr algn="l">
              <a:lnSpc>
                <a:spcPct val="110000"/>
              </a:lnSpc>
              <a:buNone/>
              <a:defRPr sz="1275" b="1">
                <a:solidFill>
                  <a:srgbClr val="C75E00"/>
                </a:solidFill>
                <a:latin typeface="Hanken Grotesk"/>
                <a:ea typeface="Hanken Grotesk"/>
                <a:cs typeface="Hanken Grotesk"/>
              </a:defRPr>
            </a:pPr>
            <a:r>
              <a:rPr sz="1275" b="1">
                <a:solidFill>
                  <a:srgbClr val="C75E00"/>
                </a:solidFill>
                <a:latin typeface="Hanken Grotesk"/>
                <a:ea typeface="Hanken Grotesk"/>
                <a:cs typeface="Hanken Grotesk"/>
              </a:rPr>
              <a:t>RECALL</a:t>
            </a:r>
          </a:p>
        </p:txBody>
      </p:sp>
      <p:sp>
        <p:nvSpPr>
          <p:cNvPr id="20" name="1.0">
            <a:extLst xmlns:a="http://schemas.openxmlformats.org/drawingml/2006/main">
              <a:ext uri="{FF2B5EF4-FFF2-40B4-BE49-F238E27FC236}">
                <a16:creationId xmlns:a16="http://schemas.microsoft.com/office/drawing/2014/main" id="{943955FF-A451-4A88-9332-177DE4A1D7F1}"/>
              </a:ext>
            </a:extLst>
          </p:cNvPr>
          <p:cNvSpPr>
            <a:spLocks xmlns:a="http://schemas.openxmlformats.org/drawingml/2006/main" noGrp="1"/>
          </p:cNvSpPr>
          <p:nvPr/>
        </p:nvSpPr>
        <p:spPr>
          <a:xfrm xmlns:a="http://schemas.openxmlformats.org/drawingml/2006/main">
            <a:off x="4314825" y="2628900"/>
            <a:ext cx="3381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0">
                <a:solidFill>
                  <a:srgbClr val="241B13"/>
                </a:solidFill>
                <a:latin typeface="Hanken Grotesk"/>
                <a:ea typeface="Hanken Grotesk"/>
                <a:cs typeface="Hanken Grotesk"/>
              </a:defRPr>
            </a:defPPr>
          </a:lstStyle>
          <a:p xmlns:a="http://schemas.openxmlformats.org/drawingml/2006/main">
            <a:pPr algn="l">
              <a:lnSpc>
                <a:spcPct val="110000"/>
              </a:lnSpc>
              <a:buNone/>
              <a:defRPr sz="3900" b="0">
                <a:solidFill>
                  <a:srgbClr val="241B13"/>
                </a:solidFill>
                <a:latin typeface="Hanken Grotesk"/>
                <a:ea typeface="Hanken Grotesk"/>
                <a:cs typeface="Hanken Grotesk"/>
              </a:defRPr>
            </a:pPr>
            <a:r>
              <a:rPr sz="3900" b="0">
                <a:solidFill>
                  <a:srgbClr val="241B13"/>
                </a:solidFill>
                <a:latin typeface="Hanken Grotesk"/>
                <a:ea typeface="Hanken Grotesk"/>
                <a:cs typeface="Hanken Grotesk"/>
              </a:rPr>
              <a:t>1.0</a:t>
            </a:r>
          </a:p>
        </p:txBody>
      </p:sp>
      <p:sp>
        <p:nvSpPr>
          <p:cNvPr id="21" name="PRECISION">
            <a:extLst xmlns:a="http://schemas.openxmlformats.org/drawingml/2006/main">
              <a:ext uri="{FF2B5EF4-FFF2-40B4-BE49-F238E27FC236}">
                <a16:creationId xmlns:a16="http://schemas.microsoft.com/office/drawing/2014/main" id="{74F0B2CD-0579-4932-9F5C-E99CBF12529F}"/>
              </a:ext>
            </a:extLst>
          </p:cNvPr>
          <p:cNvSpPr>
            <a:spLocks xmlns:a="http://schemas.openxmlformats.org/drawingml/2006/main" noGrp="1"/>
          </p:cNvSpPr>
          <p:nvPr/>
        </p:nvSpPr>
        <p:spPr>
          <a:xfrm xmlns:a="http://schemas.openxmlformats.org/drawingml/2006/main">
            <a:off x="4314825" y="343852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C75E00"/>
                </a:solidFill>
                <a:latin typeface="Hanken Grotesk"/>
                <a:ea typeface="Hanken Grotesk"/>
                <a:cs typeface="Hanken Grotesk"/>
              </a:defRPr>
            </a:defPPr>
          </a:lstStyle>
          <a:p xmlns:a="http://schemas.openxmlformats.org/drawingml/2006/main">
            <a:pPr algn="l">
              <a:lnSpc>
                <a:spcPct val="110000"/>
              </a:lnSpc>
              <a:buNone/>
              <a:defRPr sz="1275" b="1">
                <a:solidFill>
                  <a:srgbClr val="C75E00"/>
                </a:solidFill>
                <a:latin typeface="Hanken Grotesk"/>
                <a:ea typeface="Hanken Grotesk"/>
                <a:cs typeface="Hanken Grotesk"/>
              </a:defRPr>
            </a:pPr>
            <a:r>
              <a:rPr sz="1275" b="1">
                <a:solidFill>
                  <a:srgbClr val="C75E00"/>
                </a:solidFill>
                <a:latin typeface="Hanken Grotesk"/>
                <a:ea typeface="Hanken Grotesk"/>
                <a:cs typeface="Hanken Grotesk"/>
              </a:rPr>
              <a:t>PRECISION</a:t>
            </a:r>
          </a:p>
        </p:txBody>
      </p:sp>
      <p:sp>
        <p:nvSpPr>
          <p:cNvPr id="22" name="0.020339">
            <a:extLst xmlns:a="http://schemas.openxmlformats.org/drawingml/2006/main">
              <a:ext uri="{FF2B5EF4-FFF2-40B4-BE49-F238E27FC236}">
                <a16:creationId xmlns:a16="http://schemas.microsoft.com/office/drawing/2014/main" id="{1E1EA027-2D9D-4E0A-BBD2-B22BA1FDD4A7}"/>
              </a:ext>
            </a:extLst>
          </p:cNvPr>
          <p:cNvSpPr>
            <a:spLocks xmlns:a="http://schemas.openxmlformats.org/drawingml/2006/main" noGrp="1"/>
          </p:cNvSpPr>
          <p:nvPr/>
        </p:nvSpPr>
        <p:spPr>
          <a:xfrm xmlns:a="http://schemas.openxmlformats.org/drawingml/2006/main">
            <a:off x="4314825" y="3733800"/>
            <a:ext cx="3381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241B13"/>
                </a:solidFill>
                <a:latin typeface="Hanken Grotesk"/>
                <a:ea typeface="Hanken Grotesk"/>
                <a:cs typeface="Hanken Grotesk"/>
              </a:defRPr>
            </a:defPPr>
          </a:lstStyle>
          <a:p xmlns:a="http://schemas.openxmlformats.org/drawingml/2006/main">
            <a:pPr algn="l">
              <a:lnSpc>
                <a:spcPct val="110000"/>
              </a:lnSpc>
              <a:buNone/>
              <a:defRPr sz="3150" b="0">
                <a:solidFill>
                  <a:srgbClr val="241B13"/>
                </a:solidFill>
                <a:latin typeface="Hanken Grotesk"/>
                <a:ea typeface="Hanken Grotesk"/>
                <a:cs typeface="Hanken Grotesk"/>
              </a:defRPr>
            </a:pPr>
            <a:r>
              <a:rPr sz="3150" b="0">
                <a:solidFill>
                  <a:srgbClr val="241B13"/>
                </a:solidFill>
                <a:latin typeface="Hanken Grotesk"/>
                <a:ea typeface="Hanken Grotesk"/>
                <a:cs typeface="Hanken Grotesk"/>
              </a:rPr>
              <a:t>0.020339</a:t>
            </a:r>
          </a:p>
        </p:txBody>
      </p:sp>
      <p:sp>
        <p:nvSpPr>
          <p:cNvPr id="23" name="about 2.0%">
            <a:extLst xmlns:a="http://schemas.openxmlformats.org/drawingml/2006/main">
              <a:ext uri="{FF2B5EF4-FFF2-40B4-BE49-F238E27FC236}">
                <a16:creationId xmlns:a16="http://schemas.microsoft.com/office/drawing/2014/main" id="{FC41A966-7353-42A0-B2D4-452B8162BD61}"/>
              </a:ext>
            </a:extLst>
          </p:cNvPr>
          <p:cNvSpPr>
            <a:spLocks xmlns:a="http://schemas.openxmlformats.org/drawingml/2006/main" noGrp="1"/>
          </p:cNvSpPr>
          <p:nvPr/>
        </p:nvSpPr>
        <p:spPr>
          <a:xfrm xmlns:a="http://schemas.openxmlformats.org/drawingml/2006/main">
            <a:off x="4314825" y="433387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A4039"/>
                </a:solidFill>
                <a:latin typeface="Hanken Grotesk"/>
                <a:ea typeface="Hanken Grotesk"/>
                <a:cs typeface="Hanken Grotesk"/>
              </a:defRPr>
            </a:defPPr>
          </a:lstStyle>
          <a:p xmlns:a="http://schemas.openxmlformats.org/drawingml/2006/main">
            <a:pPr algn="l">
              <a:lnSpc>
                <a:spcPct val="110000"/>
              </a:lnSpc>
              <a:buNone/>
              <a:defRPr sz="1800" b="0">
                <a:solidFill>
                  <a:srgbClr val="4A4039"/>
                </a:solidFill>
                <a:latin typeface="Hanken Grotesk"/>
                <a:ea typeface="Hanken Grotesk"/>
                <a:cs typeface="Hanken Grotesk"/>
              </a:defRPr>
            </a:pPr>
            <a:r>
              <a:rPr sz="1800" b="0">
                <a:solidFill>
                  <a:srgbClr val="4A4039"/>
                </a:solidFill>
                <a:latin typeface="Hanken Grotesk"/>
                <a:ea typeface="Hanken Grotesk"/>
                <a:cs typeface="Hanken Grotesk"/>
              </a:rPr>
              <a:t>about 2.0%</a:t>
            </a:r>
          </a:p>
        </p:txBody>
      </p:sp>
      <p:sp>
        <p:nvSpPr>
          <p:cNvPr id="24" name="ACTUAL F-BETA SCORE">
            <a:extLst xmlns:a="http://schemas.openxmlformats.org/drawingml/2006/main">
              <a:ext uri="{FF2B5EF4-FFF2-40B4-BE49-F238E27FC236}">
                <a16:creationId xmlns:a16="http://schemas.microsoft.com/office/drawing/2014/main" id="{3977EEA1-E692-4189-B2A8-04FE611B2C95}"/>
              </a:ext>
            </a:extLst>
          </p:cNvPr>
          <p:cNvSpPr>
            <a:spLocks xmlns:a="http://schemas.openxmlformats.org/drawingml/2006/main" noGrp="1"/>
          </p:cNvSpPr>
          <p:nvPr/>
        </p:nvSpPr>
        <p:spPr>
          <a:xfrm xmlns:a="http://schemas.openxmlformats.org/drawingml/2006/main">
            <a:off x="4314825" y="49530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C75E00"/>
                </a:solidFill>
                <a:latin typeface="Hanken Grotesk"/>
                <a:ea typeface="Hanken Grotesk"/>
                <a:cs typeface="Hanken Grotesk"/>
              </a:defRPr>
            </a:defPPr>
          </a:lstStyle>
          <a:p xmlns:a="http://schemas.openxmlformats.org/drawingml/2006/main">
            <a:pPr algn="l">
              <a:lnSpc>
                <a:spcPct val="110000"/>
              </a:lnSpc>
              <a:buNone/>
              <a:defRPr sz="1275" b="1">
                <a:solidFill>
                  <a:srgbClr val="C75E00"/>
                </a:solidFill>
                <a:latin typeface="Hanken Grotesk"/>
                <a:ea typeface="Hanken Grotesk"/>
                <a:cs typeface="Hanken Grotesk"/>
              </a:defRPr>
            </a:pPr>
            <a:r>
              <a:rPr sz="1275" b="1">
                <a:solidFill>
                  <a:srgbClr val="C75E00"/>
                </a:solidFill>
                <a:latin typeface="Hanken Grotesk"/>
                <a:ea typeface="Hanken Grotesk"/>
                <a:cs typeface="Hanken Grotesk"/>
              </a:rPr>
              <a:t>ACTUAL F-BETA SCORE</a:t>
            </a:r>
          </a:p>
        </p:txBody>
      </p:sp>
      <p:sp>
        <p:nvSpPr>
          <p:cNvPr id="25" name="0.025295">
            <a:extLst xmlns:a="http://schemas.openxmlformats.org/drawingml/2006/main">
              <a:ext uri="{FF2B5EF4-FFF2-40B4-BE49-F238E27FC236}">
                <a16:creationId xmlns:a16="http://schemas.microsoft.com/office/drawing/2014/main" id="{2124C488-2B15-4475-8870-7C047DC8E227}"/>
              </a:ext>
            </a:extLst>
          </p:cNvPr>
          <p:cNvSpPr>
            <a:spLocks xmlns:a="http://schemas.openxmlformats.org/drawingml/2006/main" noGrp="1"/>
          </p:cNvSpPr>
          <p:nvPr/>
        </p:nvSpPr>
        <p:spPr>
          <a:xfrm xmlns:a="http://schemas.openxmlformats.org/drawingml/2006/main">
            <a:off x="4314825" y="5219700"/>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C75E00"/>
                </a:solidFill>
                <a:latin typeface="Hanken Grotesk"/>
                <a:ea typeface="Hanken Grotesk"/>
                <a:cs typeface="Hanken Grotesk"/>
              </a:defRPr>
            </a:defPPr>
          </a:lstStyle>
          <a:p xmlns:a="http://schemas.openxmlformats.org/drawingml/2006/main">
            <a:pPr algn="l">
              <a:lnSpc>
                <a:spcPct val="110000"/>
              </a:lnSpc>
              <a:buNone/>
              <a:defRPr sz="3150" b="0">
                <a:solidFill>
                  <a:srgbClr val="C75E00"/>
                </a:solidFill>
                <a:latin typeface="Hanken Grotesk"/>
                <a:ea typeface="Hanken Grotesk"/>
                <a:cs typeface="Hanken Grotesk"/>
              </a:defRPr>
            </a:pPr>
            <a:r>
              <a:rPr sz="3150" b="0">
                <a:solidFill>
                  <a:srgbClr val="C75E00"/>
                </a:solidFill>
                <a:latin typeface="Hanken Grotesk"/>
                <a:ea typeface="Hanken Grotesk"/>
                <a:cs typeface="Hanken Grotesk"/>
              </a:rPr>
              <a:t>0.025295</a:t>
            </a:r>
          </a:p>
        </p:txBody>
      </p:sp>
      <p:sp>
        <p:nvSpPr>
          <p:cNvPr id="26" name="beta = 0.5">
            <a:extLst xmlns:a="http://schemas.openxmlformats.org/drawingml/2006/main">
              <a:ext uri="{FF2B5EF4-FFF2-40B4-BE49-F238E27FC236}">
                <a16:creationId xmlns:a16="http://schemas.microsoft.com/office/drawing/2014/main" id="{E4460D02-E37D-4ED7-B363-E76C3141C3A8}"/>
              </a:ext>
            </a:extLst>
          </p:cNvPr>
          <p:cNvSpPr>
            <a:spLocks xmlns:a="http://schemas.openxmlformats.org/drawingml/2006/main" noGrp="1"/>
          </p:cNvSpPr>
          <p:nvPr/>
        </p:nvSpPr>
        <p:spPr>
          <a:xfrm xmlns:a="http://schemas.openxmlformats.org/drawingml/2006/main">
            <a:off x="4314825" y="58293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A4039"/>
                </a:solidFill>
                <a:latin typeface="Hanken Grotesk"/>
                <a:ea typeface="Hanken Grotesk"/>
                <a:cs typeface="Hanken Grotesk"/>
              </a:defRPr>
            </a:defPPr>
          </a:lstStyle>
          <a:p xmlns:a="http://schemas.openxmlformats.org/drawingml/2006/main">
            <a:pPr algn="l">
              <a:lnSpc>
                <a:spcPct val="110000"/>
              </a:lnSpc>
              <a:buNone/>
              <a:defRPr sz="1500" b="0">
                <a:solidFill>
                  <a:srgbClr val="4A4039"/>
                </a:solidFill>
                <a:latin typeface="Hanken Grotesk"/>
                <a:ea typeface="Hanken Grotesk"/>
                <a:cs typeface="Hanken Grotesk"/>
              </a:defRPr>
            </a:pPr>
            <a:r>
              <a:rPr sz="1500" b="0">
                <a:solidFill>
                  <a:srgbClr val="4A4039"/>
                </a:solidFill>
                <a:latin typeface="Hanken Grotesk"/>
                <a:ea typeface="Hanken Grotesk"/>
                <a:cs typeface="Hanken Grotesk"/>
              </a:rPr>
              <a:t>beta = 0.5</a:t>
            </a:r>
          </a:p>
        </p:txBody>
      </p:sp>
      <p:sp>
        <p:nvSpPr>
          <p:cNvPr id="27" name="Known-good answer&#10;Empty answer&#10;Return-everything answer&#10;Vali">
            <a:extLst xmlns:a="http://schemas.openxmlformats.org/drawingml/2006/main">
              <a:ext uri="{FF2B5EF4-FFF2-40B4-BE49-F238E27FC236}">
                <a16:creationId xmlns:a16="http://schemas.microsoft.com/office/drawing/2014/main" id="{880A51F6-C440-4698-8873-69D84EA4FAD9}"/>
              </a:ext>
            </a:extLst>
          </p:cNvPr>
          <p:cNvSpPr>
            <a:spLocks xmlns:a="http://schemas.openxmlformats.org/drawingml/2006/main" noGrp="1"/>
          </p:cNvSpPr>
          <p:nvPr/>
        </p:nvSpPr>
        <p:spPr>
          <a:xfrm xmlns:a="http://schemas.openxmlformats.org/drawingml/2006/main">
            <a:off x="8020050" y="2381250"/>
            <a:ext cx="35623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41B13"/>
                </a:solidFill>
                <a:latin typeface="Hanken Grotesk"/>
                <a:ea typeface="Hanken Grotesk"/>
                <a:cs typeface="Hanken Grotesk"/>
              </a:defRPr>
            </a:defPPr>
          </a:lstStyle>
          <a:p xmlns:a="http://schemas.openxmlformats.org/drawingml/2006/main">
            <a:pPr algn="l">
              <a:lnSpc>
                <a:spcPct val="135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Known-good answer</a:t>
            </a:r>
          </a:p>
          <a:p xmlns:a="http://schemas.openxmlformats.org/drawingml/2006/main">
            <a:pPr algn="l">
              <a:lnSpc>
                <a:spcPct val="135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Empty answer</a:t>
            </a:r>
          </a:p>
          <a:p xmlns:a="http://schemas.openxmlformats.org/drawingml/2006/main">
            <a:pPr algn="l">
              <a:lnSpc>
                <a:spcPct val="135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Return-everything answer</a:t>
            </a:r>
          </a:p>
          <a:p xmlns:a="http://schemas.openxmlformats.org/drawingml/2006/main">
            <a:pPr algn="l">
              <a:lnSpc>
                <a:spcPct val="135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Valid alternative absent</a:t>
            </a:r>
          </a:p>
          <a:p xmlns:a="http://schemas.openxmlformats.org/drawingml/2006/main">
            <a:pPr algn="l">
              <a:lnSpc>
                <a:spcPct val="135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from the key</a:t>
            </a:r>
          </a:p>
        </p:txBody>
      </p:sp>
      <p:sp>
        <p:nvSpPr>
          <p:cNvPr id="28" name="">
            <a:extLst xmlns:a="http://schemas.openxmlformats.org/drawingml/2006/main">
              <a:ext uri="{FF2B5EF4-FFF2-40B4-BE49-F238E27FC236}">
                <a16:creationId xmlns:a16="http://schemas.microsoft.com/office/drawing/2014/main" id="{C0AD615B-5FE5-45EC-94BA-FE7B79CFF284}"/>
              </a:ext>
            </a:extLst>
          </p:cNvPr>
          <p:cNvSpPr>
            <a:spLocks xmlns:a="http://schemas.openxmlformats.org/drawingml/2006/main" noGrp="1"/>
          </p:cNvSpPr>
          <p:nvPr/>
        </p:nvSpPr>
        <p:spPr>
          <a:xfrm xmlns:a="http://schemas.openxmlformats.org/drawingml/2006/main">
            <a:off x="8020050" y="4762500"/>
            <a:ext cx="356235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29" name="AUDITABLE RESULT RECORD">
            <a:extLst xmlns:a="http://schemas.openxmlformats.org/drawingml/2006/main">
              <a:ext uri="{FF2B5EF4-FFF2-40B4-BE49-F238E27FC236}">
                <a16:creationId xmlns:a16="http://schemas.microsoft.com/office/drawing/2014/main" id="{F7B09128-D4DA-419F-BE43-8A9842864635}"/>
              </a:ext>
            </a:extLst>
          </p:cNvPr>
          <p:cNvSpPr>
            <a:spLocks xmlns:a="http://schemas.openxmlformats.org/drawingml/2006/main" noGrp="1"/>
          </p:cNvSpPr>
          <p:nvPr/>
        </p:nvSpPr>
        <p:spPr>
          <a:xfrm xmlns:a="http://schemas.openxmlformats.org/drawingml/2006/main">
            <a:off x="8020050" y="5010150"/>
            <a:ext cx="3562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C75E00"/>
                </a:solidFill>
                <a:latin typeface="Hanken Grotesk"/>
                <a:ea typeface="Hanken Grotesk"/>
                <a:cs typeface="Hanken Grotesk"/>
              </a:defRPr>
            </a:defPPr>
          </a:lstStyle>
          <a:p xmlns:a="http://schemas.openxmlformats.org/drawingml/2006/main">
            <a:pPr algn="l">
              <a:lnSpc>
                <a:spcPct val="110000"/>
              </a:lnSpc>
              <a:buNone/>
              <a:defRPr sz="1275" b="1">
                <a:solidFill>
                  <a:srgbClr val="C75E00"/>
                </a:solidFill>
                <a:latin typeface="Hanken Grotesk"/>
                <a:ea typeface="Hanken Grotesk"/>
                <a:cs typeface="Hanken Grotesk"/>
              </a:defRPr>
            </a:pPr>
            <a:r>
              <a:rPr sz="1275" b="1">
                <a:solidFill>
                  <a:srgbClr val="C75E00"/>
                </a:solidFill>
                <a:latin typeface="Hanken Grotesk"/>
                <a:ea typeface="Hanken Grotesk"/>
                <a:cs typeface="Hanken Grotesk"/>
              </a:rPr>
              <a:t>AUDITABLE RESULT RECORD</a:t>
            </a:r>
          </a:p>
        </p:txBody>
      </p:sp>
      <p:sp>
        <p:nvSpPr>
          <p:cNvPr id="30" name="Scoring rule&#10;Reference version&#10;Run identity">
            <a:extLst xmlns:a="http://schemas.openxmlformats.org/drawingml/2006/main">
              <a:ext uri="{FF2B5EF4-FFF2-40B4-BE49-F238E27FC236}">
                <a16:creationId xmlns:a16="http://schemas.microsoft.com/office/drawing/2014/main" id="{B8A5D11A-A858-4C5B-A5AC-F3FD8CDAC7E0}"/>
              </a:ext>
            </a:extLst>
          </p:cNvPr>
          <p:cNvSpPr>
            <a:spLocks xmlns:a="http://schemas.openxmlformats.org/drawingml/2006/main" noGrp="1"/>
          </p:cNvSpPr>
          <p:nvPr/>
        </p:nvSpPr>
        <p:spPr>
          <a:xfrm xmlns:a="http://schemas.openxmlformats.org/drawingml/2006/main">
            <a:off x="8020050" y="5343525"/>
            <a:ext cx="3562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4A4039"/>
                </a:solidFill>
                <a:latin typeface="Hanken Grotesk"/>
                <a:ea typeface="Hanken Grotesk"/>
                <a:cs typeface="Hanken Grotesk"/>
              </a:defRPr>
            </a:defPPr>
          </a:lstStyle>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Scoring rule</a:t>
            </a:r>
          </a:p>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Reference version</a:t>
            </a:r>
          </a:p>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Run identity</a:t>
            </a:r>
          </a:p>
        </p:txBody>
      </p:sp>
    </p:spTree>
    <p:extLst>
      <p:ext uri="{BB962C8B-B14F-4D97-AF65-F5344CB8AC3E}">
        <p14:creationId xmlns:p14="http://schemas.microsoft.com/office/powerpoint/2010/main" val="2053350784"/>
      </p:ext>
    </p:extLst>
  </p:cSld>
</p:sld>
</file>

<file path=ppt/slides/slide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380E46D-B62E-4C2E-BF98-7D4F6A1E91DA}"/>
              </a:ext>
            </a:extLst>
          </p:cNvPr>
          <p:cNvCxnSpPr>
            <a:stCxn xmlns:a="http://schemas.openxmlformats.org/drawingml/2006/main" id="10" idx="3"/>
            <a:endCxn xmlns:a="http://schemas.openxmlformats.org/drawingml/2006/main" id="12" idx="1"/>
          </p:cNvCxnSpPr>
          <p:nvPr/>
        </p:nvCxnSpPr>
        <p:spPr>
          <a:xfrm xmlns:a="http://schemas.openxmlformats.org/drawingml/2006/main">
            <a:off x="8686800" y="3009900"/>
            <a:ext cx="6096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FF85E037-5960-4633-BF58-71C618CD0424}"/>
              </a:ext>
            </a:extLst>
          </p:cNvPr>
          <p:cNvCxnSpPr>
            <a:stCxn xmlns:a="http://schemas.openxmlformats.org/drawingml/2006/main" id="8" idx="3"/>
            <a:endCxn xmlns:a="http://schemas.openxmlformats.org/drawingml/2006/main" id="10" idx="1"/>
          </p:cNvCxnSpPr>
          <p:nvPr/>
        </p:nvCxnSpPr>
        <p:spPr>
          <a:xfrm xmlns:a="http://schemas.openxmlformats.org/drawingml/2006/main">
            <a:off x="5791200" y="3009900"/>
            <a:ext cx="609600" cy="0"/>
          </a:xfrm>
          <a:prstGeom xmlns:a="http://schemas.openxmlformats.org/drawingml/2006/main" prst="straightConnector1">
            <a:avLst/>
          </a:prstGeom>
          <a:ln xmlns:a="http://schemas.openxmlformats.org/drawingml/2006/main" w="23813">
            <a:solidFill>
              <a:srgbClr val="C75E0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C86EB125-4C3B-4FD7-A349-286A1696B775}"/>
              </a:ext>
            </a:extLst>
          </p:cNvPr>
          <p:cNvCxnSpPr>
            <a:stCxn xmlns:a="http://schemas.openxmlformats.org/drawingml/2006/main" id="7" idx="3"/>
            <a:endCxn xmlns:a="http://schemas.openxmlformats.org/drawingml/2006/main" id="8" idx="1"/>
          </p:cNvCxnSpPr>
          <p:nvPr/>
        </p:nvCxnSpPr>
        <p:spPr>
          <a:xfrm xmlns:a="http://schemas.openxmlformats.org/drawingml/2006/main">
            <a:off x="2895600" y="3009900"/>
            <a:ext cx="609600" cy="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sp>
        <p:nvSpPr>
          <p:cNvPr id="23" name="Test whether the gate changes execution">
            <a:extLst xmlns:a="http://schemas.openxmlformats.org/drawingml/2006/main">
              <a:ext uri="{FF2B5EF4-FFF2-40B4-BE49-F238E27FC236}">
                <a16:creationId xmlns:a16="http://schemas.microsoft.com/office/drawing/2014/main" id="{96AE7AD8-FB82-48EB-A4FB-9C5B78FE03FE}"/>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Test whether the gate changes execution</a:t>
            </a:r>
          </a:p>
        </p:txBody>
      </p:sp>
      <p:sp>
        <p:nvSpPr>
          <p:cNvPr id="2" name="Deliberately break a control next. Also measure false blocks">
            <a:extLst xmlns:a="http://schemas.openxmlformats.org/drawingml/2006/main">
              <a:ext uri="{FF2B5EF4-FFF2-40B4-BE49-F238E27FC236}">
                <a16:creationId xmlns:a16="http://schemas.microsoft.com/office/drawing/2014/main" id="{2C47D55E-E14F-4503-AD79-99F8E0EACF71}"/>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Deliberately break a control next. Also measure false blocks on legitimate work; this audit did not establish unauthorized production writes.</a:t>
            </a:r>
          </a:p>
        </p:txBody>
      </p:sp>
      <p:sp>
        <p:nvSpPr>
          <p:cNvPr id="3" name="Jarmak · Engineering Reliable Coding Agents, chs. 4 &amp; 17">
            <a:extLst xmlns:a="http://schemas.openxmlformats.org/drawingml/2006/main">
              <a:ext uri="{FF2B5EF4-FFF2-40B4-BE49-F238E27FC236}">
                <a16:creationId xmlns:a16="http://schemas.microsoft.com/office/drawing/2014/main" id="{6AB0B0DC-EA80-48A3-90E7-706EB0E32160}"/>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19011a26164a4fb0"/>
              </a:rPr>
              <a:t>Jarmak · Engineering Reliable Coding Agents, chs. 4 &amp; 17</a:t>
            </a:r>
          </a:p>
        </p:txBody>
      </p:sp>
      <p:sp>
        <p:nvSpPr>
          <p:cNvPr id="4" name="09">
            <a:extLst xmlns:a="http://schemas.openxmlformats.org/drawingml/2006/main">
              <a:ext uri="{FF2B5EF4-FFF2-40B4-BE49-F238E27FC236}">
                <a16:creationId xmlns:a16="http://schemas.microsoft.com/office/drawing/2014/main" id="{B24F8747-8BFA-4F68-B19A-7775A3B0C4A2}"/>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09</a:t>
            </a:r>
          </a:p>
        </p:txBody>
      </p:sp>
      <p:sp>
        <p:nvSpPr>
          <p:cNvPr id="5" name="My approval-queue audit found paths that allowed execution&#10;w">
            <a:extLst xmlns:a="http://schemas.openxmlformats.org/drawingml/2006/main">
              <a:ext uri="{FF2B5EF4-FFF2-40B4-BE49-F238E27FC236}">
                <a16:creationId xmlns:a16="http://schemas.microsoft.com/office/drawing/2014/main" id="{B570E70A-36C7-4FA7-95BE-4E66DC6EDB24}"/>
              </a:ext>
            </a:extLst>
          </p:cNvPr>
          <p:cNvSpPr>
            <a:spLocks xmlns:a="http://schemas.openxmlformats.org/drawingml/2006/main" noGrp="1"/>
          </p:cNvSpPr>
          <p:nvPr/>
        </p:nvSpPr>
        <p:spPr>
          <a:xfrm xmlns:a="http://schemas.openxmlformats.org/drawingml/2006/main">
            <a:off x="609600" y="14478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A4039"/>
                </a:solidFill>
                <a:latin typeface="Hanken Grotesk"/>
                <a:ea typeface="Hanken Grotesk"/>
                <a:cs typeface="Hanken Grotesk"/>
              </a:defRPr>
            </a:defPPr>
          </a:lstStyle>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My approval-queue audit found paths that allowed execution</a:t>
            </a:r>
          </a:p>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when required components were missing.</a:t>
            </a:r>
          </a:p>
        </p:txBody>
      </p:sp>
      <p:sp>
        <p:nvSpPr>
          <p:cNvPr id="6" name="PROPOSED ENFORCEMENT TEST">
            <a:extLst xmlns:a="http://schemas.openxmlformats.org/drawingml/2006/main">
              <a:ext uri="{FF2B5EF4-FFF2-40B4-BE49-F238E27FC236}">
                <a16:creationId xmlns:a16="http://schemas.microsoft.com/office/drawing/2014/main" id="{8E505F81-5CA2-4DCA-AD03-CE84D91AC6A0}"/>
              </a:ext>
            </a:extLst>
          </p:cNvPr>
          <p:cNvSpPr>
            <a:spLocks xmlns:a="http://schemas.openxmlformats.org/drawingml/2006/main" noGrp="1"/>
          </p:cNvSpPr>
          <p:nvPr/>
        </p:nvSpPr>
        <p:spPr>
          <a:xfrm xmlns:a="http://schemas.openxmlformats.org/drawingml/2006/main">
            <a:off x="609600" y="2133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PROPOSED ENFORCEMENT TEST</a:t>
            </a:r>
          </a:p>
        </p:txBody>
      </p:sp>
      <p:sp>
        <p:nvSpPr>
          <p:cNvPr id="7" name="Request">
            <a:extLst xmlns:a="http://schemas.openxmlformats.org/drawingml/2006/main">
              <a:ext uri="{FF2B5EF4-FFF2-40B4-BE49-F238E27FC236}">
                <a16:creationId xmlns:a16="http://schemas.microsoft.com/office/drawing/2014/main" id="{629A0C9A-755D-4623-996B-C811894D0C14}"/>
              </a:ext>
            </a:extLst>
          </p:cNvPr>
          <p:cNvSpPr>
            <a:spLocks xmlns:a="http://schemas.openxmlformats.org/drawingml/2006/main" noGrp="1"/>
          </p:cNvSpPr>
          <p:nvPr/>
        </p:nvSpPr>
        <p:spPr>
          <a:xfrm xmlns:a="http://schemas.openxmlformats.org/drawingml/2006/main">
            <a:off x="609600" y="2581275"/>
            <a:ext cx="228600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Request</a:t>
            </a:r>
          </a:p>
        </p:txBody>
      </p:sp>
      <p:sp>
        <p:nvSpPr>
          <p:cNvPr id="8" name="Approval + required checks">
            <a:extLst xmlns:a="http://schemas.openxmlformats.org/drawingml/2006/main">
              <a:ext uri="{FF2B5EF4-FFF2-40B4-BE49-F238E27FC236}">
                <a16:creationId xmlns:a16="http://schemas.microsoft.com/office/drawing/2014/main" id="{0F1A643A-3806-49F0-AFF6-DAF7E7FE68D3}"/>
              </a:ext>
            </a:extLst>
          </p:cNvPr>
          <p:cNvSpPr>
            <a:spLocks xmlns:a="http://schemas.openxmlformats.org/drawingml/2006/main" noGrp="1"/>
          </p:cNvSpPr>
          <p:nvPr/>
        </p:nvSpPr>
        <p:spPr>
          <a:xfrm xmlns:a="http://schemas.openxmlformats.org/drawingml/2006/main">
            <a:off x="3505200" y="2581275"/>
            <a:ext cx="228600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C75E00"/>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C75E00"/>
                </a:solidFill>
                <a:latin typeface="Hanken Grotesk"/>
                <a:ea typeface="Hanken Grotesk"/>
                <a:cs typeface="Hanken Grotesk"/>
              </a:defRPr>
            </a:defPPr>
          </a:lstStyle>
          <a:p xmlns:a="http://schemas.openxmlformats.org/drawingml/2006/main">
            <a:pPr algn="ctr">
              <a:lnSpc>
                <a:spcPct val="110000"/>
              </a:lnSpc>
              <a:buNone/>
              <a:defRPr sz="2100" b="0">
                <a:solidFill>
                  <a:srgbClr val="C75E00"/>
                </a:solidFill>
                <a:latin typeface="Hanken Grotesk"/>
                <a:ea typeface="Hanken Grotesk"/>
                <a:cs typeface="Hanken Grotesk"/>
              </a:defRPr>
            </a:pPr>
            <a:r>
              <a:rPr sz="2100" b="0">
                <a:solidFill>
                  <a:srgbClr val="C75E00"/>
                </a:solidFill>
                <a:latin typeface="Hanken Grotesk"/>
                <a:ea typeface="Hanken Grotesk"/>
                <a:cs typeface="Hanken Grotesk"/>
              </a:rPr>
              <a:t>Approval +</a:t>
            </a:r>
          </a:p>
          <a:p xmlns:a="http://schemas.openxmlformats.org/drawingml/2006/main">
            <a:pPr algn="ctr">
              <a:lnSpc>
                <a:spcPct val="110000"/>
              </a:lnSpc>
              <a:buNone/>
              <a:defRPr sz="2100" b="0">
                <a:solidFill>
                  <a:srgbClr val="C75E00"/>
                </a:solidFill>
                <a:latin typeface="Hanken Grotesk"/>
                <a:ea typeface="Hanken Grotesk"/>
                <a:cs typeface="Hanken Grotesk"/>
              </a:defRPr>
            </a:pPr>
            <a:r>
              <a:rPr sz="2100" b="0">
                <a:solidFill>
                  <a:srgbClr val="C75E00"/>
                </a:solidFill>
                <a:latin typeface="Hanken Grotesk"/>
                <a:ea typeface="Hanken Grotesk"/>
                <a:cs typeface="Hanken Grotesk"/>
              </a:rPr>
              <a:t>required checks</a:t>
            </a:r>
          </a:p>
        </p:txBody>
      </p:sp>
      <p:sp>
        <p:nvSpPr>
          <p:cNvPr id="10" name="Execution">
            <a:extLst xmlns:a="http://schemas.openxmlformats.org/drawingml/2006/main">
              <a:ext uri="{FF2B5EF4-FFF2-40B4-BE49-F238E27FC236}">
                <a16:creationId xmlns:a16="http://schemas.microsoft.com/office/drawing/2014/main" id="{0C126991-B0C7-413F-B47B-6A3A734B216A}"/>
              </a:ext>
            </a:extLst>
          </p:cNvPr>
          <p:cNvSpPr>
            <a:spLocks xmlns:a="http://schemas.openxmlformats.org/drawingml/2006/main" noGrp="1"/>
          </p:cNvSpPr>
          <p:nvPr/>
        </p:nvSpPr>
        <p:spPr>
          <a:xfrm xmlns:a="http://schemas.openxmlformats.org/drawingml/2006/main">
            <a:off x="6400800" y="2581275"/>
            <a:ext cx="228600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Execution</a:t>
            </a:r>
          </a:p>
        </p:txBody>
      </p:sp>
      <p:sp>
        <p:nvSpPr>
          <p:cNvPr id="12" name="Observed effect">
            <a:extLst xmlns:a="http://schemas.openxmlformats.org/drawingml/2006/main">
              <a:ext uri="{FF2B5EF4-FFF2-40B4-BE49-F238E27FC236}">
                <a16:creationId xmlns:a16="http://schemas.microsoft.com/office/drawing/2014/main" id="{FB7D9999-5944-4AF8-B688-4C89C4424667}"/>
              </a:ext>
            </a:extLst>
          </p:cNvPr>
          <p:cNvSpPr>
            <a:spLocks xmlns:a="http://schemas.openxmlformats.org/drawingml/2006/main" noGrp="1"/>
          </p:cNvSpPr>
          <p:nvPr/>
        </p:nvSpPr>
        <p:spPr>
          <a:xfrm xmlns:a="http://schemas.openxmlformats.org/drawingml/2006/main">
            <a:off x="9296400" y="2581275"/>
            <a:ext cx="228600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Observed effect</a:t>
            </a:r>
          </a:p>
        </p:txBody>
      </p:sp>
      <p:sp>
        <p:nvSpPr>
          <p:cNvPr id="14" name="DELIBERATELY BREAK A CONTROL">
            <a:extLst xmlns:a="http://schemas.openxmlformats.org/drawingml/2006/main">
              <a:ext uri="{FF2B5EF4-FFF2-40B4-BE49-F238E27FC236}">
                <a16:creationId xmlns:a16="http://schemas.microsoft.com/office/drawing/2014/main" id="{392402C3-11D8-41FF-B8F3-D00AB26913B1}"/>
              </a:ext>
            </a:extLst>
          </p:cNvPr>
          <p:cNvSpPr>
            <a:spLocks xmlns:a="http://schemas.openxmlformats.org/drawingml/2006/main" noGrp="1"/>
          </p:cNvSpPr>
          <p:nvPr/>
        </p:nvSpPr>
        <p:spPr>
          <a:xfrm xmlns:a="http://schemas.openxmlformats.org/drawingml/2006/main">
            <a:off x="609600" y="3829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DELIBERATELY BREAK A CONTROL</a:t>
            </a:r>
          </a:p>
        </p:txBody>
      </p:sp>
      <p:sp>
        <p:nvSpPr>
          <p:cNvPr id="15" name="Reject or cancel">
            <a:extLst xmlns:a="http://schemas.openxmlformats.org/drawingml/2006/main">
              <a:ext uri="{FF2B5EF4-FFF2-40B4-BE49-F238E27FC236}">
                <a16:creationId xmlns:a16="http://schemas.microsoft.com/office/drawing/2014/main" id="{F9BC903F-734E-4831-AD3D-89494044EA1D}"/>
              </a:ext>
            </a:extLst>
          </p:cNvPr>
          <p:cNvSpPr>
            <a:spLocks xmlns:a="http://schemas.openxmlformats.org/drawingml/2006/main" noGrp="1"/>
          </p:cNvSpPr>
          <p:nvPr/>
        </p:nvSpPr>
        <p:spPr>
          <a:xfrm xmlns:a="http://schemas.openxmlformats.org/drawingml/2006/main">
            <a:off x="609600" y="4219575"/>
            <a:ext cx="3286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41B13"/>
                </a:solidFill>
                <a:latin typeface="Literata"/>
                <a:ea typeface="Literata"/>
                <a:cs typeface="Literata"/>
              </a:defRPr>
            </a:defPPr>
          </a:lstStyle>
          <a:p xmlns:a="http://schemas.openxmlformats.org/drawingml/2006/main">
            <a:pPr algn="l">
              <a:lnSpc>
                <a:spcPct val="110000"/>
              </a:lnSpc>
              <a:buNone/>
              <a:defRPr sz="1950" b="0">
                <a:solidFill>
                  <a:srgbClr val="241B13"/>
                </a:solidFill>
                <a:latin typeface="Literata"/>
                <a:ea typeface="Literata"/>
                <a:cs typeface="Literata"/>
              </a:defRPr>
            </a:pPr>
            <a:r>
              <a:rPr sz="1950" b="0">
                <a:solidFill>
                  <a:srgbClr val="241B13"/>
                </a:solidFill>
                <a:latin typeface="Literata"/>
                <a:ea typeface="Literata"/>
                <a:cs typeface="Literata"/>
              </a:rPr>
              <a:t>Reject or cancel</a:t>
            </a:r>
          </a:p>
        </p:txBody>
      </p:sp>
      <p:sp>
        <p:nvSpPr>
          <p:cNvPr id="16" name="Remove a required&#10;component">
            <a:extLst xmlns:a="http://schemas.openxmlformats.org/drawingml/2006/main">
              <a:ext uri="{FF2B5EF4-FFF2-40B4-BE49-F238E27FC236}">
                <a16:creationId xmlns:a16="http://schemas.microsoft.com/office/drawing/2014/main" id="{706CE148-CB53-4B29-BCC6-D6E82932D1B9}"/>
              </a:ext>
            </a:extLst>
          </p:cNvPr>
          <p:cNvSpPr>
            <a:spLocks xmlns:a="http://schemas.openxmlformats.org/drawingml/2006/main" noGrp="1"/>
          </p:cNvSpPr>
          <p:nvPr/>
        </p:nvSpPr>
        <p:spPr>
          <a:xfrm xmlns:a="http://schemas.openxmlformats.org/drawingml/2006/main">
            <a:off x="4324350" y="4219575"/>
            <a:ext cx="3286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41B13"/>
                </a:solidFill>
                <a:latin typeface="Literata"/>
                <a:ea typeface="Literata"/>
                <a:cs typeface="Literata"/>
              </a:defRPr>
            </a:defPPr>
          </a:lstStyle>
          <a:p xmlns:a="http://schemas.openxmlformats.org/drawingml/2006/main">
            <a:pPr algn="l">
              <a:lnSpc>
                <a:spcPct val="110000"/>
              </a:lnSpc>
              <a:buNone/>
              <a:defRPr sz="1950" b="0">
                <a:solidFill>
                  <a:srgbClr val="241B13"/>
                </a:solidFill>
                <a:latin typeface="Literata"/>
                <a:ea typeface="Literata"/>
                <a:cs typeface="Literata"/>
              </a:defRPr>
            </a:pPr>
            <a:r>
              <a:rPr sz="1950" b="0">
                <a:solidFill>
                  <a:srgbClr val="241B13"/>
                </a:solidFill>
                <a:latin typeface="Literata"/>
                <a:ea typeface="Literata"/>
                <a:cs typeface="Literata"/>
              </a:rPr>
              <a:t>Remove a required</a:t>
            </a:r>
          </a:p>
          <a:p xmlns:a="http://schemas.openxmlformats.org/drawingml/2006/main">
            <a:pPr algn="l">
              <a:lnSpc>
                <a:spcPct val="110000"/>
              </a:lnSpc>
              <a:buNone/>
              <a:defRPr sz="1950" b="0">
                <a:solidFill>
                  <a:srgbClr val="241B13"/>
                </a:solidFill>
                <a:latin typeface="Literata"/>
                <a:ea typeface="Literata"/>
                <a:cs typeface="Literata"/>
              </a:defRPr>
            </a:pPr>
            <a:r>
              <a:rPr sz="1950" b="0">
                <a:solidFill>
                  <a:srgbClr val="241B13"/>
                </a:solidFill>
                <a:latin typeface="Literata"/>
                <a:ea typeface="Literata"/>
                <a:cs typeface="Literata"/>
              </a:rPr>
              <a:t>component</a:t>
            </a:r>
          </a:p>
        </p:txBody>
      </p:sp>
      <p:sp>
        <p:nvSpPr>
          <p:cNvPr id="17" name="Change the proposal&#10;after approval">
            <a:extLst xmlns:a="http://schemas.openxmlformats.org/drawingml/2006/main">
              <a:ext uri="{FF2B5EF4-FFF2-40B4-BE49-F238E27FC236}">
                <a16:creationId xmlns:a16="http://schemas.microsoft.com/office/drawing/2014/main" id="{4FEE1058-F1B4-4B06-93FE-544D63469C27}"/>
              </a:ext>
            </a:extLst>
          </p:cNvPr>
          <p:cNvSpPr>
            <a:spLocks xmlns:a="http://schemas.openxmlformats.org/drawingml/2006/main" noGrp="1"/>
          </p:cNvSpPr>
          <p:nvPr/>
        </p:nvSpPr>
        <p:spPr>
          <a:xfrm xmlns:a="http://schemas.openxmlformats.org/drawingml/2006/main">
            <a:off x="8039100" y="4219575"/>
            <a:ext cx="3543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41B13"/>
                </a:solidFill>
                <a:latin typeface="Literata"/>
                <a:ea typeface="Literata"/>
                <a:cs typeface="Literata"/>
              </a:defRPr>
            </a:defPPr>
          </a:lstStyle>
          <a:p xmlns:a="http://schemas.openxmlformats.org/drawingml/2006/main">
            <a:pPr algn="l">
              <a:lnSpc>
                <a:spcPct val="110000"/>
              </a:lnSpc>
              <a:buNone/>
              <a:defRPr sz="1950" b="0">
                <a:solidFill>
                  <a:srgbClr val="241B13"/>
                </a:solidFill>
                <a:latin typeface="Literata"/>
                <a:ea typeface="Literata"/>
                <a:cs typeface="Literata"/>
              </a:defRPr>
            </a:pPr>
            <a:r>
              <a:rPr sz="1950" b="0">
                <a:solidFill>
                  <a:srgbClr val="241B13"/>
                </a:solidFill>
                <a:latin typeface="Literata"/>
                <a:ea typeface="Literata"/>
                <a:cs typeface="Literata"/>
              </a:rPr>
              <a:t>Change the proposal</a:t>
            </a:r>
          </a:p>
          <a:p xmlns:a="http://schemas.openxmlformats.org/drawingml/2006/main">
            <a:pPr algn="l">
              <a:lnSpc>
                <a:spcPct val="110000"/>
              </a:lnSpc>
              <a:buNone/>
              <a:defRPr sz="1950" b="0">
                <a:solidFill>
                  <a:srgbClr val="241B13"/>
                </a:solidFill>
                <a:latin typeface="Literata"/>
                <a:ea typeface="Literata"/>
                <a:cs typeface="Literata"/>
              </a:defRPr>
            </a:pPr>
            <a:r>
              <a:rPr sz="1950" b="0">
                <a:solidFill>
                  <a:srgbClr val="241B13"/>
                </a:solidFill>
                <a:latin typeface="Literata"/>
                <a:ea typeface="Literata"/>
                <a:cs typeface="Literata"/>
              </a:rPr>
              <a:t>after approval</a:t>
            </a:r>
          </a:p>
        </p:txBody>
      </p:sp>
      <p:sp>
        <p:nvSpPr>
          <p:cNvPr id="18" name="">
            <a:extLst xmlns:a="http://schemas.openxmlformats.org/drawingml/2006/main">
              <a:ext uri="{FF2B5EF4-FFF2-40B4-BE49-F238E27FC236}">
                <a16:creationId xmlns:a16="http://schemas.microsoft.com/office/drawing/2014/main" id="{74135D6E-EDFB-453E-9454-EFF937CA37A8}"/>
              </a:ext>
            </a:extLst>
          </p:cNvPr>
          <p:cNvSpPr>
            <a:spLocks xmlns:a="http://schemas.openxmlformats.org/drawingml/2006/main" noGrp="1"/>
          </p:cNvSpPr>
          <p:nvPr/>
        </p:nvSpPr>
        <p:spPr>
          <a:xfrm xmlns:a="http://schemas.openxmlformats.org/drawingml/2006/main">
            <a:off x="609600" y="5153025"/>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9" name="MEASURE OUTCOMES SEPARATELY">
            <a:extLst xmlns:a="http://schemas.openxmlformats.org/drawingml/2006/main">
              <a:ext uri="{FF2B5EF4-FFF2-40B4-BE49-F238E27FC236}">
                <a16:creationId xmlns:a16="http://schemas.microsoft.com/office/drawing/2014/main" id="{C84FAF21-8844-48AC-AA01-8080E63DCEF5}"/>
              </a:ext>
            </a:extLst>
          </p:cNvPr>
          <p:cNvSpPr>
            <a:spLocks xmlns:a="http://schemas.openxmlformats.org/drawingml/2006/main" noGrp="1"/>
          </p:cNvSpPr>
          <p:nvPr/>
        </p:nvSpPr>
        <p:spPr>
          <a:xfrm xmlns:a="http://schemas.openxmlformats.org/drawingml/2006/main">
            <a:off x="609600" y="5353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C75E00"/>
                </a:solidFill>
                <a:latin typeface="Hanken Grotesk"/>
                <a:ea typeface="Hanken Grotesk"/>
                <a:cs typeface="Hanken Grotesk"/>
              </a:defRPr>
            </a:defPPr>
          </a:lstStyle>
          <a:p xmlns:a="http://schemas.openxmlformats.org/drawingml/2006/main">
            <a:pPr algn="l">
              <a:lnSpc>
                <a:spcPct val="110000"/>
              </a:lnSpc>
              <a:buNone/>
              <a:defRPr sz="1275" b="1">
                <a:solidFill>
                  <a:srgbClr val="C75E00"/>
                </a:solidFill>
                <a:latin typeface="Hanken Grotesk"/>
                <a:ea typeface="Hanken Grotesk"/>
                <a:cs typeface="Hanken Grotesk"/>
              </a:defRPr>
            </a:pPr>
            <a:r>
              <a:rPr sz="1275" b="1">
                <a:solidFill>
                  <a:srgbClr val="C75E00"/>
                </a:solidFill>
                <a:latin typeface="Hanken Grotesk"/>
                <a:ea typeface="Hanken Grotesk"/>
                <a:cs typeface="Hanken Grotesk"/>
              </a:rPr>
              <a:t>MEASURE OUTCOMES SEPARATELY</a:t>
            </a:r>
          </a:p>
        </p:txBody>
      </p:sp>
      <p:sp>
        <p:nvSpPr>
          <p:cNvPr id="20" name="Authorized completion">
            <a:extLst xmlns:a="http://schemas.openxmlformats.org/drawingml/2006/main">
              <a:ext uri="{FF2B5EF4-FFF2-40B4-BE49-F238E27FC236}">
                <a16:creationId xmlns:a16="http://schemas.microsoft.com/office/drawing/2014/main" id="{A2301400-0271-4DC0-A2FA-6BB6E2F73F00}"/>
              </a:ext>
            </a:extLst>
          </p:cNvPr>
          <p:cNvSpPr>
            <a:spLocks xmlns:a="http://schemas.openxmlformats.org/drawingml/2006/main" noGrp="1"/>
          </p:cNvSpPr>
          <p:nvPr/>
        </p:nvSpPr>
        <p:spPr>
          <a:xfrm xmlns:a="http://schemas.openxmlformats.org/drawingml/2006/main">
            <a:off x="609600" y="5705475"/>
            <a:ext cx="3276600" cy="4572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1875" b="0">
                <a:solidFill>
                  <a:srgbClr val="241B13"/>
                </a:solidFill>
                <a:latin typeface="Hanken Grotesk"/>
                <a:ea typeface="Hanken Grotesk"/>
                <a:cs typeface="Hanken Grotesk"/>
              </a:defRPr>
            </a:defPPr>
          </a:lstStyle>
          <a:p xmlns:a="http://schemas.openxmlformats.org/drawingml/2006/main">
            <a:pPr algn="ctr">
              <a:lnSpc>
                <a:spcPct val="110000"/>
              </a:lnSpc>
              <a:buNone/>
              <a:defRPr sz="1875" b="0">
                <a:solidFill>
                  <a:srgbClr val="241B13"/>
                </a:solidFill>
                <a:latin typeface="Hanken Grotesk"/>
                <a:ea typeface="Hanken Grotesk"/>
                <a:cs typeface="Hanken Grotesk"/>
              </a:defRPr>
            </a:pPr>
            <a:r>
              <a:rPr sz="1875" b="0">
                <a:solidFill>
                  <a:srgbClr val="241B13"/>
                </a:solidFill>
                <a:latin typeface="Hanken Grotesk"/>
                <a:ea typeface="Hanken Grotesk"/>
                <a:cs typeface="Hanken Grotesk"/>
              </a:rPr>
              <a:t>Authorized completion</a:t>
            </a:r>
          </a:p>
        </p:txBody>
      </p:sp>
      <p:sp>
        <p:nvSpPr>
          <p:cNvPr id="21" name="Safe stop">
            <a:extLst xmlns:a="http://schemas.openxmlformats.org/drawingml/2006/main">
              <a:ext uri="{FF2B5EF4-FFF2-40B4-BE49-F238E27FC236}">
                <a16:creationId xmlns:a16="http://schemas.microsoft.com/office/drawing/2014/main" id="{B4B2E7FA-248C-407A-8844-BB5AB49D379B}"/>
              </a:ext>
            </a:extLst>
          </p:cNvPr>
          <p:cNvSpPr>
            <a:spLocks xmlns:a="http://schemas.openxmlformats.org/drawingml/2006/main" noGrp="1"/>
          </p:cNvSpPr>
          <p:nvPr/>
        </p:nvSpPr>
        <p:spPr>
          <a:xfrm xmlns:a="http://schemas.openxmlformats.org/drawingml/2006/main">
            <a:off x="4457700" y="5705475"/>
            <a:ext cx="3276600" cy="4572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1875" b="0">
                <a:solidFill>
                  <a:srgbClr val="241B13"/>
                </a:solidFill>
                <a:latin typeface="Hanken Grotesk"/>
                <a:ea typeface="Hanken Grotesk"/>
                <a:cs typeface="Hanken Grotesk"/>
              </a:defRPr>
            </a:defPPr>
          </a:lstStyle>
          <a:p xmlns:a="http://schemas.openxmlformats.org/drawingml/2006/main">
            <a:pPr algn="ctr">
              <a:lnSpc>
                <a:spcPct val="110000"/>
              </a:lnSpc>
              <a:buNone/>
              <a:defRPr sz="1875" b="0">
                <a:solidFill>
                  <a:srgbClr val="241B13"/>
                </a:solidFill>
                <a:latin typeface="Hanken Grotesk"/>
                <a:ea typeface="Hanken Grotesk"/>
                <a:cs typeface="Hanken Grotesk"/>
              </a:defRPr>
            </a:pPr>
            <a:r>
              <a:rPr sz="1875" b="0">
                <a:solidFill>
                  <a:srgbClr val="241B13"/>
                </a:solidFill>
                <a:latin typeface="Hanken Grotesk"/>
                <a:ea typeface="Hanken Grotesk"/>
                <a:cs typeface="Hanken Grotesk"/>
              </a:rPr>
              <a:t>Safe stop</a:t>
            </a:r>
          </a:p>
        </p:txBody>
      </p:sp>
      <p:sp>
        <p:nvSpPr>
          <p:cNvPr id="22" name="Human repair">
            <a:extLst xmlns:a="http://schemas.openxmlformats.org/drawingml/2006/main">
              <a:ext uri="{FF2B5EF4-FFF2-40B4-BE49-F238E27FC236}">
                <a16:creationId xmlns:a16="http://schemas.microsoft.com/office/drawing/2014/main" id="{CB84BF70-CA32-4A71-B147-E92CB9D5464E}"/>
              </a:ext>
            </a:extLst>
          </p:cNvPr>
          <p:cNvSpPr>
            <a:spLocks xmlns:a="http://schemas.openxmlformats.org/drawingml/2006/main" noGrp="1"/>
          </p:cNvSpPr>
          <p:nvPr/>
        </p:nvSpPr>
        <p:spPr>
          <a:xfrm xmlns:a="http://schemas.openxmlformats.org/drawingml/2006/main">
            <a:off x="8305800" y="5705475"/>
            <a:ext cx="3276600" cy="4572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1875" b="0">
                <a:solidFill>
                  <a:srgbClr val="241B13"/>
                </a:solidFill>
                <a:latin typeface="Hanken Grotesk"/>
                <a:ea typeface="Hanken Grotesk"/>
                <a:cs typeface="Hanken Grotesk"/>
              </a:defRPr>
            </a:defPPr>
          </a:lstStyle>
          <a:p xmlns:a="http://schemas.openxmlformats.org/drawingml/2006/main">
            <a:pPr algn="ctr">
              <a:lnSpc>
                <a:spcPct val="110000"/>
              </a:lnSpc>
              <a:buNone/>
              <a:defRPr sz="1875" b="0">
                <a:solidFill>
                  <a:srgbClr val="241B13"/>
                </a:solidFill>
                <a:latin typeface="Hanken Grotesk"/>
                <a:ea typeface="Hanken Grotesk"/>
                <a:cs typeface="Hanken Grotesk"/>
              </a:defRPr>
            </a:pPr>
            <a:r>
              <a:rPr sz="1875" b="0">
                <a:solidFill>
                  <a:srgbClr val="241B13"/>
                </a:solidFill>
                <a:latin typeface="Hanken Grotesk"/>
                <a:ea typeface="Hanken Grotesk"/>
                <a:cs typeface="Hanken Grotesk"/>
              </a:rPr>
              <a:t>People’s repair work</a:t>
            </a:r>
          </a:p>
        </p:txBody>
      </p:sp>
    </p:spTree>
    <p:extLst>
      <p:ext uri="{BB962C8B-B14F-4D97-AF65-F5344CB8AC3E}">
        <p14:creationId xmlns:p14="http://schemas.microsoft.com/office/powerpoint/2010/main" val="320207670"/>
      </p:ext>
    </p:extLst>
  </p:cSld>
</p:sld>
</file>

<file path=ppt/slides/slide1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22" name="Choose what runs automatically, then measure it">
            <a:extLst xmlns:a="http://schemas.openxmlformats.org/drawingml/2006/main">
              <a:ext uri="{FF2B5EF4-FFF2-40B4-BE49-F238E27FC236}">
                <a16:creationId xmlns:a16="http://schemas.microsoft.com/office/drawing/2014/main" id="{041E23BA-395D-475B-9BCF-F2358B3AC85B}"/>
              </a:ext>
            </a:extLst>
          </p:cNvPr>
          <p:cNvSpPr>
            <a:spLocks xmlns:a="http://schemas.openxmlformats.org/drawingml/2006/main" noGrp="1"/>
          </p:cNvSpPr>
          <p:nvPr/>
        </p:nvSpPr>
        <p:spPr>
          <a:xfrm xmlns:a="http://schemas.openxmlformats.org/drawingml/2006/main">
            <a:off x="609600" y="5334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Choose what runs automatically, then measure it</a:t>
            </a:r>
          </a:p>
        </p:txBody>
      </p:sp>
      <p:sp>
        <p:nvSpPr>
          <p:cNvPr id="2" name="Worked example, not measured traffic. Samples selected for d">
            <a:extLst xmlns:a="http://schemas.openxmlformats.org/drawingml/2006/main">
              <a:ext uri="{FF2B5EF4-FFF2-40B4-BE49-F238E27FC236}">
                <a16:creationId xmlns:a16="http://schemas.microsoft.com/office/drawing/2014/main" id="{F072A1A3-380E-4D2B-9DDB-B926336F1A46}"/>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Worked example, not measured traffic. Samples enriched for suspected errors do not estimate production error rates.</a:t>
            </a:r>
          </a:p>
        </p:txBody>
      </p:sp>
      <p:sp>
        <p:nvSpPr>
          <p:cNvPr id="3" name="Liu et al. · Auditing and Repairing LLM-as-Judge Failures   ">
            <a:extLst xmlns:a="http://schemas.openxmlformats.org/drawingml/2006/main">
              <a:ext uri="{FF2B5EF4-FFF2-40B4-BE49-F238E27FC236}">
                <a16:creationId xmlns:a16="http://schemas.microsoft.com/office/drawing/2014/main" id="{01641DC5-D190-4C7A-8380-8F2B067E63C5}"/>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5df156aeb16642cf"/>
              </a:rPr>
              <a:t>Liu et al. · Auditing and Repairing LLM-as-Judge Failures</a:t>
            </a:r>
            <a:r>
              <a:rPr sz="1088" b="0">
                <a:solidFill>
                  <a:srgbClr val="766D62"/>
                </a:solidFill>
                <a:latin typeface="Hanken Grotesk"/>
                <a:ea typeface="Hanken Grotesk"/>
                <a:cs typeface="Hanken Grotesk"/>
              </a:rPr>
              <a:t>   </a:t>
            </a:r>
            <a:r>
              <a:rPr sz="1088" b="0">
                <a:solidFill>
                  <a:srgbClr val="766D62"/>
                </a:solidFill>
                <a:latin typeface="Hanken Grotesk"/>
                <a:ea typeface="Hanken Grotesk"/>
                <a:cs typeface="Hanken Grotesk"/>
                <a:hlinkClick xmlns:r="http://schemas.openxmlformats.org/officeDocument/2006/relationships" r:id="R75fda3a5635d43bd"/>
              </a:rPr>
              <a:t>Sehanobish et al. · From Benchmarks to Production (FLINT)</a:t>
            </a:r>
          </a:p>
        </p:txBody>
      </p:sp>
      <p:sp>
        <p:nvSpPr>
          <p:cNvPr id="4" name="10">
            <a:extLst xmlns:a="http://schemas.openxmlformats.org/drawingml/2006/main">
              <a:ext uri="{FF2B5EF4-FFF2-40B4-BE49-F238E27FC236}">
                <a16:creationId xmlns:a16="http://schemas.microsoft.com/office/drawing/2014/main" id="{85AD2A06-5854-4CDD-AB9B-679E07075D8E}"/>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10</a:t>
            </a:r>
          </a:p>
        </p:txBody>
      </p:sp>
      <p:sp>
        <p:nvSpPr>
          <p:cNvPr id="5" name="Retrieve existing rules; clarify unresolved requirements; en">
            <a:extLst xmlns:a="http://schemas.openxmlformats.org/drawingml/2006/main">
              <a:ext uri="{FF2B5EF4-FFF2-40B4-BE49-F238E27FC236}">
                <a16:creationId xmlns:a16="http://schemas.microsoft.com/office/drawing/2014/main" id="{697A9DBE-5709-4A1F-986C-BAEE930871F1}"/>
              </a:ext>
            </a:extLst>
          </p:cNvPr>
          <p:cNvSpPr>
            <a:spLocks xmlns:a="http://schemas.openxmlformats.org/drawingml/2006/main" noGrp="1"/>
          </p:cNvSpPr>
          <p:nvPr/>
        </p:nvSpPr>
        <p:spPr>
          <a:xfrm xmlns:a="http://schemas.openxmlformats.org/drawingml/2006/main">
            <a:off x="609600" y="15144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4A4039"/>
                </a:solidFill>
                <a:latin typeface="Hanken Grotesk"/>
                <a:ea typeface="Hanken Grotesk"/>
                <a:cs typeface="Hanken Grotesk"/>
              </a:defRPr>
            </a:defPPr>
          </a:lstStyle>
          <a:p xmlns:a="http://schemas.openxmlformats.org/drawingml/2006/main">
            <a:pPr algn="l">
              <a:lnSpc>
                <a:spcPct val="110000"/>
              </a:lnSpc>
              <a:buNone/>
              <a:defRPr sz="1650" b="0">
                <a:solidFill>
                  <a:srgbClr val="4A4039"/>
                </a:solidFill>
                <a:latin typeface="Hanken Grotesk"/>
                <a:ea typeface="Hanken Grotesk"/>
                <a:cs typeface="Hanken Grotesk"/>
              </a:defRPr>
            </a:pPr>
            <a:r>
              <a:rPr sz="1650" b="0">
                <a:solidFill>
                  <a:srgbClr val="4A4039"/>
                </a:solidFill>
                <a:latin typeface="Hanken Grotesk"/>
                <a:ea typeface="Hanken Grotesk"/>
                <a:cs typeface="Hanken Grotesk"/>
              </a:rPr>
              <a:t>Retrieve existing rules; clarify unresolved requirements; encode where possible.</a:t>
            </a:r>
          </a:p>
        </p:txBody>
      </p:sp>
      <p:sp>
        <p:nvSpPr>
          <p:cNvPr id="6" name="DEFECT DETECTION">
            <a:extLst xmlns:a="http://schemas.openxmlformats.org/drawingml/2006/main">
              <a:ext uri="{FF2B5EF4-FFF2-40B4-BE49-F238E27FC236}">
                <a16:creationId xmlns:a16="http://schemas.microsoft.com/office/drawing/2014/main" id="{E3382EAC-BE34-49F0-AECD-9A25CD125321}"/>
              </a:ext>
            </a:extLst>
          </p:cNvPr>
          <p:cNvSpPr>
            <a:spLocks xmlns:a="http://schemas.openxmlformats.org/drawingml/2006/main" noGrp="1"/>
          </p:cNvSpPr>
          <p:nvPr/>
        </p:nvSpPr>
        <p:spPr>
          <a:xfrm xmlns:a="http://schemas.openxmlformats.org/drawingml/2006/main">
            <a:off x="609600" y="197167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DEFECT DETECTION</a:t>
            </a:r>
          </a:p>
        </p:txBody>
      </p:sp>
      <p:sp>
        <p:nvSpPr>
          <p:cNvPr id="7" name="REVIEW LOAD">
            <a:extLst xmlns:a="http://schemas.openxmlformats.org/drawingml/2006/main">
              <a:ext uri="{FF2B5EF4-FFF2-40B4-BE49-F238E27FC236}">
                <a16:creationId xmlns:a16="http://schemas.microsoft.com/office/drawing/2014/main" id="{9D71EABF-B058-4C37-AA8C-565B28B49649}"/>
              </a:ext>
            </a:extLst>
          </p:cNvPr>
          <p:cNvSpPr>
            <a:spLocks xmlns:a="http://schemas.openxmlformats.org/drawingml/2006/main" noGrp="1"/>
          </p:cNvSpPr>
          <p:nvPr/>
        </p:nvSpPr>
        <p:spPr>
          <a:xfrm xmlns:a="http://schemas.openxmlformats.org/drawingml/2006/main">
            <a:off x="4457700" y="197167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REVIEW LOAD</a:t>
            </a:r>
          </a:p>
        </p:txBody>
      </p:sp>
      <p:sp>
        <p:nvSpPr>
          <p:cNvPr id="8" name="SHARE HANDLED&#10;AUTOMATICALLY">
            <a:extLst xmlns:a="http://schemas.openxmlformats.org/drawingml/2006/main">
              <a:ext uri="{FF2B5EF4-FFF2-40B4-BE49-F238E27FC236}">
                <a16:creationId xmlns:a16="http://schemas.microsoft.com/office/drawing/2014/main" id="{E168AF00-55E9-4B96-969C-AD2EDFFA703C}"/>
              </a:ext>
            </a:extLst>
          </p:cNvPr>
          <p:cNvSpPr>
            <a:spLocks xmlns:a="http://schemas.openxmlformats.org/drawingml/2006/main" noGrp="1"/>
          </p:cNvSpPr>
          <p:nvPr/>
        </p:nvSpPr>
        <p:spPr>
          <a:xfrm xmlns:a="http://schemas.openxmlformats.org/drawingml/2006/main">
            <a:off x="8305800" y="1914525"/>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SHARE HANDLED</a:t>
            </a:r>
          </a:p>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AUTOMATICALLY</a:t>
            </a:r>
          </a:p>
        </p:txBody>
      </p:sp>
      <p:sp>
        <p:nvSpPr>
          <p:cNvPr id="9" name="What consequential&#10;errors get through?">
            <a:extLst xmlns:a="http://schemas.openxmlformats.org/drawingml/2006/main">
              <a:ext uri="{FF2B5EF4-FFF2-40B4-BE49-F238E27FC236}">
                <a16:creationId xmlns:a16="http://schemas.microsoft.com/office/drawing/2014/main" id="{8D64AAA1-86FC-4880-BAC9-2B8DD91EC640}"/>
              </a:ext>
            </a:extLst>
          </p:cNvPr>
          <p:cNvSpPr>
            <a:spLocks xmlns:a="http://schemas.openxmlformats.org/drawingml/2006/main" noGrp="1"/>
          </p:cNvSpPr>
          <p:nvPr/>
        </p:nvSpPr>
        <p:spPr>
          <a:xfrm xmlns:a="http://schemas.openxmlformats.org/drawingml/2006/main">
            <a:off x="609600" y="2419350"/>
            <a:ext cx="327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41B13"/>
                </a:solidFill>
                <a:latin typeface="Literata"/>
                <a:ea typeface="Literata"/>
                <a:cs typeface="Literata"/>
              </a:defRPr>
            </a:defPPr>
          </a:lstStyle>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What consequential</a:t>
            </a:r>
          </a:p>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errors get through?</a:t>
            </a:r>
          </a:p>
        </p:txBody>
      </p:sp>
      <p:sp>
        <p:nvSpPr>
          <p:cNvPr id="10" name="What good work&#10;goes to review?">
            <a:extLst xmlns:a="http://schemas.openxmlformats.org/drawingml/2006/main">
              <a:ext uri="{FF2B5EF4-FFF2-40B4-BE49-F238E27FC236}">
                <a16:creationId xmlns:a16="http://schemas.microsoft.com/office/drawing/2014/main" id="{D7D470F4-A1E6-4BAF-8BB9-53795EE785AE}"/>
              </a:ext>
            </a:extLst>
          </p:cNvPr>
          <p:cNvSpPr>
            <a:spLocks xmlns:a="http://schemas.openxmlformats.org/drawingml/2006/main" noGrp="1"/>
          </p:cNvSpPr>
          <p:nvPr/>
        </p:nvSpPr>
        <p:spPr>
          <a:xfrm xmlns:a="http://schemas.openxmlformats.org/drawingml/2006/main">
            <a:off x="4457700" y="2419350"/>
            <a:ext cx="327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41B13"/>
                </a:solidFill>
                <a:latin typeface="Literata"/>
                <a:ea typeface="Literata"/>
                <a:cs typeface="Literata"/>
              </a:defRPr>
            </a:defPPr>
          </a:lstStyle>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What good work</a:t>
            </a:r>
          </a:p>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goes to review?</a:t>
            </a:r>
          </a:p>
        </p:txBody>
      </p:sp>
      <p:sp>
        <p:nvSpPr>
          <p:cNvPr id="11" name="What fraction needs&#10;no human review?">
            <a:extLst xmlns:a="http://schemas.openxmlformats.org/drawingml/2006/main">
              <a:ext uri="{FF2B5EF4-FFF2-40B4-BE49-F238E27FC236}">
                <a16:creationId xmlns:a16="http://schemas.microsoft.com/office/drawing/2014/main" id="{7D03B865-F7B2-49E9-B67F-43F8D8724A3A}"/>
              </a:ext>
            </a:extLst>
          </p:cNvPr>
          <p:cNvSpPr>
            <a:spLocks xmlns:a="http://schemas.openxmlformats.org/drawingml/2006/main" noGrp="1"/>
          </p:cNvSpPr>
          <p:nvPr/>
        </p:nvSpPr>
        <p:spPr>
          <a:xfrm xmlns:a="http://schemas.openxmlformats.org/drawingml/2006/main">
            <a:off x="8305800" y="2419350"/>
            <a:ext cx="327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41B13"/>
                </a:solidFill>
                <a:latin typeface="Literata"/>
                <a:ea typeface="Literata"/>
                <a:cs typeface="Literata"/>
              </a:defRPr>
            </a:defPPr>
          </a:lstStyle>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What fraction needs</a:t>
            </a:r>
          </a:p>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no human review?</a:t>
            </a:r>
          </a:p>
        </p:txBody>
      </p:sp>
      <p:sp>
        <p:nvSpPr>
          <p:cNvPr id="12" name="">
            <a:extLst xmlns:a="http://schemas.openxmlformats.org/drawingml/2006/main">
              <a:ext uri="{FF2B5EF4-FFF2-40B4-BE49-F238E27FC236}">
                <a16:creationId xmlns:a16="http://schemas.microsoft.com/office/drawing/2014/main" id="{56543980-7E6C-4F50-B64D-BDA1C96C597F}"/>
              </a:ext>
            </a:extLst>
          </p:cNvPr>
          <p:cNvSpPr>
            <a:spLocks xmlns:a="http://schemas.openxmlformats.org/drawingml/2006/main" noGrp="1"/>
          </p:cNvSpPr>
          <p:nvPr/>
        </p:nvSpPr>
        <p:spPr>
          <a:xfrm xmlns:a="http://schemas.openxmlformats.org/drawingml/2006/main">
            <a:off x="609600" y="4010025"/>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3" name="ONE OPERATING CONSEQUENCE">
            <a:extLst xmlns:a="http://schemas.openxmlformats.org/drawingml/2006/main">
              <a:ext uri="{FF2B5EF4-FFF2-40B4-BE49-F238E27FC236}">
                <a16:creationId xmlns:a16="http://schemas.microsoft.com/office/drawing/2014/main" id="{D6A11912-9197-4165-8484-1779F385D8A6}"/>
              </a:ext>
            </a:extLst>
          </p:cNvPr>
          <p:cNvSpPr>
            <a:spLocks xmlns:a="http://schemas.openxmlformats.org/drawingml/2006/main" noGrp="1"/>
          </p:cNvSpPr>
          <p:nvPr/>
        </p:nvSpPr>
        <p:spPr>
          <a:xfrm xmlns:a="http://schemas.openxmlformats.org/drawingml/2006/main">
            <a:off x="609600" y="4295775"/>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ONE OPERATING CONSEQUENCE</a:t>
            </a:r>
          </a:p>
        </p:txBody>
      </p:sp>
      <p:sp>
        <p:nvSpPr>
          <p:cNvPr id="14" name="1%">
            <a:extLst xmlns:a="http://schemas.openxmlformats.org/drawingml/2006/main">
              <a:ext uri="{FF2B5EF4-FFF2-40B4-BE49-F238E27FC236}">
                <a16:creationId xmlns:a16="http://schemas.microsoft.com/office/drawing/2014/main" id="{B3FDB046-4AD0-4115-A36A-FD64B76C1636}"/>
              </a:ext>
            </a:extLst>
          </p:cNvPr>
          <p:cNvSpPr>
            <a:spLocks xmlns:a="http://schemas.openxmlformats.org/drawingml/2006/main" noGrp="1"/>
          </p:cNvSpPr>
          <p:nvPr/>
        </p:nvSpPr>
        <p:spPr>
          <a:xfrm xmlns:a="http://schemas.openxmlformats.org/drawingml/2006/main">
            <a:off x="609600" y="4724400"/>
            <a:ext cx="1905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550" b="0">
                <a:solidFill>
                  <a:srgbClr val="C75E00"/>
                </a:solidFill>
                <a:latin typeface="Hanken Grotesk"/>
                <a:ea typeface="Hanken Grotesk"/>
                <a:cs typeface="Hanken Grotesk"/>
              </a:defRPr>
            </a:defPPr>
          </a:lstStyle>
          <a:p xmlns:a="http://schemas.openxmlformats.org/drawingml/2006/main">
            <a:pPr algn="l">
              <a:lnSpc>
                <a:spcPct val="110000"/>
              </a:lnSpc>
              <a:buNone/>
              <a:defRPr sz="5550" b="0">
                <a:solidFill>
                  <a:srgbClr val="C75E00"/>
                </a:solidFill>
                <a:latin typeface="Hanken Grotesk"/>
                <a:ea typeface="Hanken Grotesk"/>
                <a:cs typeface="Hanken Grotesk"/>
              </a:defRPr>
            </a:pPr>
            <a:r>
              <a:rPr sz="5550" b="0">
                <a:solidFill>
                  <a:srgbClr val="C75E00"/>
                </a:solidFill>
                <a:latin typeface="Hanken Grotesk"/>
                <a:ea typeface="Hanken Grotesk"/>
                <a:cs typeface="Hanken Grotesk"/>
              </a:rPr>
              <a:t>1%</a:t>
            </a:r>
          </a:p>
        </p:txBody>
      </p:sp>
      <p:sp>
        <p:nvSpPr>
          <p:cNvPr id="15" name="×">
            <a:extLst xmlns:a="http://schemas.openxmlformats.org/drawingml/2006/main">
              <a:ext uri="{FF2B5EF4-FFF2-40B4-BE49-F238E27FC236}">
                <a16:creationId xmlns:a16="http://schemas.microsoft.com/office/drawing/2014/main" id="{CF82C3CD-246D-4AF6-8895-6D0882E776FF}"/>
              </a:ext>
            </a:extLst>
          </p:cNvPr>
          <p:cNvSpPr>
            <a:spLocks xmlns:a="http://schemas.openxmlformats.org/drawingml/2006/main" noGrp="1"/>
          </p:cNvSpPr>
          <p:nvPr/>
        </p:nvSpPr>
        <p:spPr>
          <a:xfrm xmlns:a="http://schemas.openxmlformats.org/drawingml/2006/main">
            <a:off x="2390775" y="4867275"/>
            <a:ext cx="571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766D62"/>
                </a:solidFill>
                <a:latin typeface="Hanken Grotesk"/>
                <a:ea typeface="Hanken Grotesk"/>
                <a:cs typeface="Hanken Grotesk"/>
              </a:defRPr>
            </a:defPPr>
          </a:lstStyle>
          <a:p xmlns:a="http://schemas.openxmlformats.org/drawingml/2006/main">
            <a:pPr algn="l">
              <a:lnSpc>
                <a:spcPct val="110000"/>
              </a:lnSpc>
              <a:buNone/>
              <a:defRPr sz="3600" b="0">
                <a:solidFill>
                  <a:srgbClr val="766D62"/>
                </a:solidFill>
                <a:latin typeface="Hanken Grotesk"/>
                <a:ea typeface="Hanken Grotesk"/>
                <a:cs typeface="Hanken Grotesk"/>
              </a:defRPr>
            </a:pPr>
            <a:r>
              <a:rPr sz="3600" b="0">
                <a:solidFill>
                  <a:srgbClr val="766D62"/>
                </a:solidFill>
                <a:latin typeface="Hanken Grotesk"/>
                <a:ea typeface="Hanken Grotesk"/>
                <a:cs typeface="Hanken Grotesk"/>
              </a:rPr>
              <a:t>×</a:t>
            </a:r>
          </a:p>
        </p:txBody>
      </p:sp>
      <p:sp>
        <p:nvSpPr>
          <p:cNvPr id="16" name="1,000,000">
            <a:extLst xmlns:a="http://schemas.openxmlformats.org/drawingml/2006/main">
              <a:ext uri="{FF2B5EF4-FFF2-40B4-BE49-F238E27FC236}">
                <a16:creationId xmlns:a16="http://schemas.microsoft.com/office/drawing/2014/main" id="{2C4F77CF-3BFE-40AF-81DE-34715B71F76A}"/>
              </a:ext>
            </a:extLst>
          </p:cNvPr>
          <p:cNvSpPr>
            <a:spLocks xmlns:a="http://schemas.openxmlformats.org/drawingml/2006/main" noGrp="1"/>
          </p:cNvSpPr>
          <p:nvPr/>
        </p:nvSpPr>
        <p:spPr>
          <a:xfrm xmlns:a="http://schemas.openxmlformats.org/drawingml/2006/main">
            <a:off x="3305175" y="4724400"/>
            <a:ext cx="38290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0">
                <a:solidFill>
                  <a:srgbClr val="241B13"/>
                </a:solidFill>
                <a:latin typeface="Hanken Grotesk"/>
                <a:ea typeface="Hanken Grotesk"/>
                <a:cs typeface="Hanken Grotesk"/>
              </a:defRPr>
            </a:defPPr>
          </a:lstStyle>
          <a:p xmlns:a="http://schemas.openxmlformats.org/drawingml/2006/main">
            <a:pPr algn="l">
              <a:lnSpc>
                <a:spcPct val="110000"/>
              </a:lnSpc>
              <a:buNone/>
              <a:defRPr sz="5100" b="0">
                <a:solidFill>
                  <a:srgbClr val="241B13"/>
                </a:solidFill>
                <a:latin typeface="Hanken Grotesk"/>
                <a:ea typeface="Hanken Grotesk"/>
                <a:cs typeface="Hanken Grotesk"/>
              </a:defRPr>
            </a:pPr>
            <a:r>
              <a:rPr sz="5100" b="0">
                <a:solidFill>
                  <a:srgbClr val="241B13"/>
                </a:solidFill>
                <a:latin typeface="Hanken Grotesk"/>
                <a:ea typeface="Hanken Grotesk"/>
                <a:cs typeface="Hanken Grotesk"/>
              </a:rPr>
              <a:t>1,000,000</a:t>
            </a:r>
          </a:p>
        </p:txBody>
      </p:sp>
      <p:sp>
        <p:nvSpPr>
          <p:cNvPr id="17" name="=">
            <a:extLst xmlns:a="http://schemas.openxmlformats.org/drawingml/2006/main">
              <a:ext uri="{FF2B5EF4-FFF2-40B4-BE49-F238E27FC236}">
                <a16:creationId xmlns:a16="http://schemas.microsoft.com/office/drawing/2014/main" id="{C831A66F-82CC-4262-9E9C-C2E979727E89}"/>
              </a:ext>
            </a:extLst>
          </p:cNvPr>
          <p:cNvSpPr>
            <a:spLocks xmlns:a="http://schemas.openxmlformats.org/drawingml/2006/main" noGrp="1"/>
          </p:cNvSpPr>
          <p:nvPr/>
        </p:nvSpPr>
        <p:spPr>
          <a:xfrm xmlns:a="http://schemas.openxmlformats.org/drawingml/2006/main">
            <a:off x="7305675" y="4867275"/>
            <a:ext cx="5905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766D62"/>
                </a:solidFill>
                <a:latin typeface="Hanken Grotesk"/>
                <a:ea typeface="Hanken Grotesk"/>
                <a:cs typeface="Hanken Grotesk"/>
              </a:defRPr>
            </a:defPPr>
          </a:lstStyle>
          <a:p xmlns:a="http://schemas.openxmlformats.org/drawingml/2006/main">
            <a:pPr algn="l">
              <a:lnSpc>
                <a:spcPct val="110000"/>
              </a:lnSpc>
              <a:buNone/>
              <a:defRPr sz="3600" b="0">
                <a:solidFill>
                  <a:srgbClr val="766D62"/>
                </a:solidFill>
                <a:latin typeface="Hanken Grotesk"/>
                <a:ea typeface="Hanken Grotesk"/>
                <a:cs typeface="Hanken Grotesk"/>
              </a:defRPr>
            </a:pPr>
            <a:r>
              <a:rPr sz="3600" b="0">
                <a:solidFill>
                  <a:srgbClr val="766D62"/>
                </a:solidFill>
                <a:latin typeface="Hanken Grotesk"/>
                <a:ea typeface="Hanken Grotesk"/>
                <a:cs typeface="Hanken Grotesk"/>
              </a:rPr>
              <a:t>=</a:t>
            </a:r>
          </a:p>
        </p:txBody>
      </p:sp>
      <p:sp>
        <p:nvSpPr>
          <p:cNvPr id="18" name="10,000">
            <a:extLst xmlns:a="http://schemas.openxmlformats.org/drawingml/2006/main">
              <a:ext uri="{FF2B5EF4-FFF2-40B4-BE49-F238E27FC236}">
                <a16:creationId xmlns:a16="http://schemas.microsoft.com/office/drawing/2014/main" id="{441A5A4D-F3D7-4901-8265-AA6A5E60C535}"/>
              </a:ext>
            </a:extLst>
          </p:cNvPr>
          <p:cNvSpPr>
            <a:spLocks xmlns:a="http://schemas.openxmlformats.org/drawingml/2006/main" noGrp="1"/>
          </p:cNvSpPr>
          <p:nvPr/>
        </p:nvSpPr>
        <p:spPr>
          <a:xfrm xmlns:a="http://schemas.openxmlformats.org/drawingml/2006/main">
            <a:off x="8353425" y="4724400"/>
            <a:ext cx="32289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550" b="0">
                <a:solidFill>
                  <a:srgbClr val="C75E00"/>
                </a:solidFill>
                <a:latin typeface="Hanken Grotesk"/>
                <a:ea typeface="Hanken Grotesk"/>
                <a:cs typeface="Hanken Grotesk"/>
              </a:defRPr>
            </a:defPPr>
          </a:lstStyle>
          <a:p xmlns:a="http://schemas.openxmlformats.org/drawingml/2006/main">
            <a:pPr algn="l">
              <a:lnSpc>
                <a:spcPct val="110000"/>
              </a:lnSpc>
              <a:buNone/>
              <a:defRPr sz="5550" b="0">
                <a:solidFill>
                  <a:srgbClr val="C75E00"/>
                </a:solidFill>
                <a:latin typeface="Hanken Grotesk"/>
                <a:ea typeface="Hanken Grotesk"/>
                <a:cs typeface="Hanken Grotesk"/>
              </a:defRPr>
            </a:pPr>
            <a:r>
              <a:rPr sz="5550" b="0">
                <a:solidFill>
                  <a:srgbClr val="C75E00"/>
                </a:solidFill>
                <a:latin typeface="Hanken Grotesk"/>
                <a:ea typeface="Hanken Grotesk"/>
                <a:cs typeface="Hanken Grotesk"/>
              </a:rPr>
              <a:t>10,000</a:t>
            </a:r>
          </a:p>
        </p:txBody>
      </p:sp>
      <p:sp>
        <p:nvSpPr>
          <p:cNvPr id="19" name="false-alarm rate">
            <a:extLst xmlns:a="http://schemas.openxmlformats.org/drawingml/2006/main">
              <a:ext uri="{FF2B5EF4-FFF2-40B4-BE49-F238E27FC236}">
                <a16:creationId xmlns:a16="http://schemas.microsoft.com/office/drawing/2014/main" id="{16F86277-3119-4BA1-8C65-185B8AA83B2D}"/>
              </a:ext>
            </a:extLst>
          </p:cNvPr>
          <p:cNvSpPr>
            <a:spLocks xmlns:a="http://schemas.openxmlformats.org/drawingml/2006/main" noGrp="1"/>
          </p:cNvSpPr>
          <p:nvPr/>
        </p:nvSpPr>
        <p:spPr>
          <a:xfrm xmlns:a="http://schemas.openxmlformats.org/drawingml/2006/main">
            <a:off x="609600" y="57340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A4039"/>
                </a:solidFill>
                <a:latin typeface="Hanken Grotesk"/>
                <a:ea typeface="Hanken Grotesk"/>
                <a:cs typeface="Hanken Grotesk"/>
              </a:defRPr>
            </a:defPPr>
          </a:lstStyle>
          <a:p xmlns:a="http://schemas.openxmlformats.org/drawingml/2006/main">
            <a:pPr algn="l">
              <a:lnSpc>
                <a:spcPct val="110000"/>
              </a:lnSpc>
              <a:buNone/>
              <a:defRPr sz="1800" b="0">
                <a:solidFill>
                  <a:srgbClr val="4A4039"/>
                </a:solidFill>
                <a:latin typeface="Hanken Grotesk"/>
                <a:ea typeface="Hanken Grotesk"/>
                <a:cs typeface="Hanken Grotesk"/>
              </a:defRPr>
            </a:pPr>
            <a:r>
              <a:rPr sz="1800" b="0">
                <a:solidFill>
                  <a:srgbClr val="4A4039"/>
                </a:solidFill>
                <a:latin typeface="Hanken Grotesk"/>
                <a:ea typeface="Hanken Grotesk"/>
                <a:cs typeface="Hanken Grotesk"/>
              </a:rPr>
              <a:t>false-alarm rate</a:t>
            </a:r>
          </a:p>
        </p:txBody>
      </p:sp>
      <p:sp>
        <p:nvSpPr>
          <p:cNvPr id="20" name="legitimate actions">
            <a:extLst xmlns:a="http://schemas.openxmlformats.org/drawingml/2006/main">
              <a:ext uri="{FF2B5EF4-FFF2-40B4-BE49-F238E27FC236}">
                <a16:creationId xmlns:a16="http://schemas.microsoft.com/office/drawing/2014/main" id="{FDF08FCD-959D-42BD-B8AA-13EC68437CFF}"/>
              </a:ext>
            </a:extLst>
          </p:cNvPr>
          <p:cNvSpPr>
            <a:spLocks xmlns:a="http://schemas.openxmlformats.org/drawingml/2006/main" noGrp="1"/>
          </p:cNvSpPr>
          <p:nvPr/>
        </p:nvSpPr>
        <p:spPr>
          <a:xfrm xmlns:a="http://schemas.openxmlformats.org/drawingml/2006/main">
            <a:off x="3305175" y="5734050"/>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A4039"/>
                </a:solidFill>
                <a:latin typeface="Hanken Grotesk"/>
                <a:ea typeface="Hanken Grotesk"/>
                <a:cs typeface="Hanken Grotesk"/>
              </a:defRPr>
            </a:defPPr>
          </a:lstStyle>
          <a:p xmlns:a="http://schemas.openxmlformats.org/drawingml/2006/main">
            <a:pPr algn="l">
              <a:lnSpc>
                <a:spcPct val="110000"/>
              </a:lnSpc>
              <a:buNone/>
              <a:defRPr sz="1800" b="0">
                <a:solidFill>
                  <a:srgbClr val="4A4039"/>
                </a:solidFill>
                <a:latin typeface="Hanken Grotesk"/>
                <a:ea typeface="Hanken Grotesk"/>
                <a:cs typeface="Hanken Grotesk"/>
              </a:defRPr>
            </a:pPr>
            <a:r>
              <a:rPr sz="1800" b="0">
                <a:solidFill>
                  <a:srgbClr val="4A4039"/>
                </a:solidFill>
                <a:latin typeface="Hanken Grotesk"/>
                <a:ea typeface="Hanken Grotesk"/>
                <a:cs typeface="Hanken Grotesk"/>
              </a:rPr>
              <a:t>legitimate actions</a:t>
            </a:r>
          </a:p>
        </p:txBody>
      </p:sp>
      <p:sp>
        <p:nvSpPr>
          <p:cNvPr id="21" name="reviews">
            <a:extLst xmlns:a="http://schemas.openxmlformats.org/drawingml/2006/main">
              <a:ext uri="{FF2B5EF4-FFF2-40B4-BE49-F238E27FC236}">
                <a16:creationId xmlns:a16="http://schemas.microsoft.com/office/drawing/2014/main" id="{C1C2B46F-206E-47FE-8A8A-2568871DB6E0}"/>
              </a:ext>
            </a:extLst>
          </p:cNvPr>
          <p:cNvSpPr>
            <a:spLocks xmlns:a="http://schemas.openxmlformats.org/drawingml/2006/main" noGrp="1"/>
          </p:cNvSpPr>
          <p:nvPr/>
        </p:nvSpPr>
        <p:spPr>
          <a:xfrm xmlns:a="http://schemas.openxmlformats.org/drawingml/2006/main">
            <a:off x="8353425" y="5734050"/>
            <a:ext cx="3228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A4039"/>
                </a:solidFill>
                <a:latin typeface="Hanken Grotesk"/>
                <a:ea typeface="Hanken Grotesk"/>
                <a:cs typeface="Hanken Grotesk"/>
              </a:defRPr>
            </a:defPPr>
          </a:lstStyle>
          <a:p xmlns:a="http://schemas.openxmlformats.org/drawingml/2006/main">
            <a:pPr algn="l">
              <a:lnSpc>
                <a:spcPct val="110000"/>
              </a:lnSpc>
              <a:buNone/>
              <a:defRPr sz="1800" b="0">
                <a:solidFill>
                  <a:srgbClr val="4A4039"/>
                </a:solidFill>
                <a:latin typeface="Hanken Grotesk"/>
                <a:ea typeface="Hanken Grotesk"/>
                <a:cs typeface="Hanken Grotesk"/>
              </a:defRPr>
            </a:pPr>
            <a:r>
              <a:rPr sz="1800" b="0">
                <a:solidFill>
                  <a:srgbClr val="4A4039"/>
                </a:solidFill>
                <a:latin typeface="Hanken Grotesk"/>
                <a:ea typeface="Hanken Grotesk"/>
                <a:cs typeface="Hanken Grotesk"/>
              </a:rPr>
              <a:t>reviews</a:t>
            </a:r>
          </a:p>
        </p:txBody>
      </p:sp>
    </p:spTree>
    <p:extLst>
      <p:ext uri="{BB962C8B-B14F-4D97-AF65-F5344CB8AC3E}">
        <p14:creationId xmlns:p14="http://schemas.microsoft.com/office/powerpoint/2010/main" val="1708841240"/>
      </p:ext>
    </p:extLst>
  </p:cSld>
</p:sld>
</file>

<file path=ppt/slides/slide1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29" name="Some evidence needs another observer">
            <a:extLst xmlns:a="http://schemas.openxmlformats.org/drawingml/2006/main">
              <a:ext uri="{FF2B5EF4-FFF2-40B4-BE49-F238E27FC236}">
                <a16:creationId xmlns:a16="http://schemas.microsoft.com/office/drawing/2014/main" id="{2A785D08-13B9-4F4B-8D5F-635A77A99E73}"/>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Some evidence needs another observer</a:t>
            </a:r>
          </a:p>
        </p:txBody>
      </p:sp>
      <p:sp>
        <p:nvSpPr>
          <p:cNvPr id="2" name="28 deliberately introduced changes. Detection beyond this sc">
            <a:extLst xmlns:a="http://schemas.openxmlformats.org/drawingml/2006/main">
              <a:ext uri="{FF2B5EF4-FFF2-40B4-BE49-F238E27FC236}">
                <a16:creationId xmlns:a16="http://schemas.microsoft.com/office/drawing/2014/main" id="{FC42A7E2-DF0F-491D-B97B-9FB660E4C649}"/>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28 deliberately introduced changes. Detection beyond this scope is untested; model traffic does not prove execution or destination state.</a:t>
            </a:r>
          </a:p>
        </p:txBody>
      </p:sp>
      <p:sp>
        <p:nvSpPr>
          <p:cNvPr id="3" name="Dai et al. · Hearsay">
            <a:extLst xmlns:a="http://schemas.openxmlformats.org/drawingml/2006/main">
              <a:ext uri="{FF2B5EF4-FFF2-40B4-BE49-F238E27FC236}">
                <a16:creationId xmlns:a16="http://schemas.microsoft.com/office/drawing/2014/main" id="{BF6201BE-3ABF-4AC9-B30B-31A2299E158B}"/>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511b93a9712d4f60"/>
              </a:rPr>
              <a:t>Dai et al. · Hearsay</a:t>
            </a:r>
          </a:p>
        </p:txBody>
      </p:sp>
      <p:sp>
        <p:nvSpPr>
          <p:cNvPr id="4" name="11">
            <a:extLst xmlns:a="http://schemas.openxmlformats.org/drawingml/2006/main">
              <a:ext uri="{FF2B5EF4-FFF2-40B4-BE49-F238E27FC236}">
                <a16:creationId xmlns:a16="http://schemas.microsoft.com/office/drawing/2014/main" id="{DD33BC7D-FCAF-4977-A2B5-587598C0AD18}"/>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11</a:t>
            </a:r>
          </a:p>
        </p:txBody>
      </p:sp>
      <p:sp>
        <p:nvSpPr>
          <p:cNvPr id="5" name="For security claims, test missed detections, false alarms an">
            <a:extLst xmlns:a="http://schemas.openxmlformats.org/drawingml/2006/main">
              <a:ext uri="{FF2B5EF4-FFF2-40B4-BE49-F238E27FC236}">
                <a16:creationId xmlns:a16="http://schemas.microsoft.com/office/drawing/2014/main" id="{9289427D-6674-476F-AD5C-5FF7215C5805}"/>
              </a:ext>
            </a:extLst>
          </p:cNvPr>
          <p:cNvSpPr>
            <a:spLocks xmlns:a="http://schemas.openxmlformats.org/drawingml/2006/main" noGrp="1"/>
          </p:cNvSpPr>
          <p:nvPr/>
        </p:nvSpPr>
        <p:spPr>
          <a:xfrm xmlns:a="http://schemas.openxmlformats.org/drawingml/2006/main">
            <a:off x="609600" y="165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A4039"/>
                </a:solidFill>
                <a:latin typeface="Hanken Grotesk"/>
                <a:ea typeface="Hanken Grotesk"/>
                <a:cs typeface="Hanken Grotesk"/>
              </a:defRPr>
            </a:defPPr>
          </a:lstStyle>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For security claims, test missed detections, false alarms and blind spots.</a:t>
            </a:r>
          </a:p>
        </p:txBody>
      </p:sp>
      <p:sp>
        <p:nvSpPr>
          <p:cNvPr id="6" name="Model">
            <a:extLst xmlns:a="http://schemas.openxmlformats.org/drawingml/2006/main">
              <a:ext uri="{FF2B5EF4-FFF2-40B4-BE49-F238E27FC236}">
                <a16:creationId xmlns:a16="http://schemas.microsoft.com/office/drawing/2014/main" id="{0017A39E-1F10-41A2-A509-858273D11F2D}"/>
              </a:ext>
            </a:extLst>
          </p:cNvPr>
          <p:cNvSpPr>
            <a:spLocks xmlns:a="http://schemas.openxmlformats.org/drawingml/2006/main" noGrp="1"/>
          </p:cNvSpPr>
          <p:nvPr/>
        </p:nvSpPr>
        <p:spPr>
          <a:xfrm xmlns:a="http://schemas.openxmlformats.org/drawingml/2006/main">
            <a:off x="609600" y="2362200"/>
            <a:ext cx="200025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Model</a:t>
            </a:r>
          </a:p>
        </p:txBody>
      </p:sp>
      <p:sp>
        <p:nvSpPr>
          <p:cNvPr id="7" name="Harness">
            <a:extLst xmlns:a="http://schemas.openxmlformats.org/drawingml/2006/main">
              <a:ext uri="{FF2B5EF4-FFF2-40B4-BE49-F238E27FC236}">
                <a16:creationId xmlns:a16="http://schemas.microsoft.com/office/drawing/2014/main" id="{3A96C12B-7EFB-43FD-A0E1-54622717591B}"/>
              </a:ext>
            </a:extLst>
          </p:cNvPr>
          <p:cNvSpPr>
            <a:spLocks xmlns:a="http://schemas.openxmlformats.org/drawingml/2006/main" noGrp="1"/>
          </p:cNvSpPr>
          <p:nvPr/>
        </p:nvSpPr>
        <p:spPr>
          <a:xfrm xmlns:a="http://schemas.openxmlformats.org/drawingml/2006/main">
            <a:off x="3390900" y="2362200"/>
            <a:ext cx="200025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Harness</a:t>
            </a:r>
          </a:p>
        </p:txBody>
      </p:sp>
      <p:sp>
        <p:nvSpPr>
          <p:cNvPr id="8" name="Tool">
            <a:extLst xmlns:a="http://schemas.openxmlformats.org/drawingml/2006/main">
              <a:ext uri="{FF2B5EF4-FFF2-40B4-BE49-F238E27FC236}">
                <a16:creationId xmlns:a16="http://schemas.microsoft.com/office/drawing/2014/main" id="{A842F371-3937-4C91-AA60-6F8E301B572C}"/>
              </a:ext>
            </a:extLst>
          </p:cNvPr>
          <p:cNvSpPr>
            <a:spLocks xmlns:a="http://schemas.openxmlformats.org/drawingml/2006/main" noGrp="1"/>
          </p:cNvSpPr>
          <p:nvPr/>
        </p:nvSpPr>
        <p:spPr>
          <a:xfrm xmlns:a="http://schemas.openxmlformats.org/drawingml/2006/main">
            <a:off x="6172200" y="2362200"/>
            <a:ext cx="200025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Tool</a:t>
            </a:r>
          </a:p>
        </p:txBody>
      </p:sp>
      <p:sp>
        <p:nvSpPr>
          <p:cNvPr id="9" name="Destination">
            <a:extLst xmlns:a="http://schemas.openxmlformats.org/drawingml/2006/main">
              <a:ext uri="{FF2B5EF4-FFF2-40B4-BE49-F238E27FC236}">
                <a16:creationId xmlns:a16="http://schemas.microsoft.com/office/drawing/2014/main" id="{82DF7166-8048-4295-A696-FB812BE9CCE9}"/>
              </a:ext>
            </a:extLst>
          </p:cNvPr>
          <p:cNvSpPr>
            <a:spLocks xmlns:a="http://schemas.openxmlformats.org/drawingml/2006/main" noGrp="1"/>
          </p:cNvSpPr>
          <p:nvPr/>
        </p:nvSpPr>
        <p:spPr>
          <a:xfrm xmlns:a="http://schemas.openxmlformats.org/drawingml/2006/main">
            <a:off x="8953500" y="2362200"/>
            <a:ext cx="200025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Destination</a:t>
            </a:r>
          </a:p>
        </p:txBody>
      </p:sp>
      <p:cxnSp>
        <p:nvCxnSpPr>
          <p:cNvPr id="10" name="Observation arrow">
            <a:extLst xmlns:a="http://schemas.openxmlformats.org/drawingml/2006/main">
              <a:ext uri="{FF2B5EF4-FFF2-40B4-BE49-F238E27FC236}">
                <a16:creationId xmlns:a16="http://schemas.microsoft.com/office/drawing/2014/main" id="{14619B22-BB27-4338-8C81-AD10322591DA}"/>
              </a:ext>
            </a:extLst>
          </p:cNvPr>
          <p:cNvCxnSpPr/>
          <p:nvPr/>
        </p:nvCxnSpPr>
        <p:spPr>
          <a:xfrm xmlns:a="http://schemas.openxmlformats.org/drawingml/2006/main">
            <a:off x="2705100" y="2743200"/>
            <a:ext cx="590550" cy="0"/>
          </a:xfrm>
          <a:prstGeom xmlns:a="http://schemas.openxmlformats.org/drawingml/2006/main" prst="straightConnector1">
            <a:avLst/>
          </a:prstGeom>
          <a:ln xmlns:a="http://schemas.openxmlformats.org/drawingml/2006/main" w="16193">
            <a:solidFill>
              <a:srgbClr val="4A4039"/>
            </a:solidFill>
            <a:tailEnd type="triangle" w="sm" len="sm"/>
          </a:ln>
        </p:spPr>
      </p:cxnSp>
      <p:cxnSp>
        <p:nvCxnSpPr>
          <p:cNvPr id="11" name="Observation arrow">
            <a:extLst xmlns:a="http://schemas.openxmlformats.org/drawingml/2006/main">
              <a:ext uri="{FF2B5EF4-FFF2-40B4-BE49-F238E27FC236}">
                <a16:creationId xmlns:a16="http://schemas.microsoft.com/office/drawing/2014/main" id="{1B9D0B04-47F6-4C23-8484-697C018FCE10}"/>
              </a:ext>
            </a:extLst>
          </p:cNvPr>
          <p:cNvCxnSpPr/>
          <p:nvPr/>
        </p:nvCxnSpPr>
        <p:spPr>
          <a:xfrm xmlns:a="http://schemas.openxmlformats.org/drawingml/2006/main">
            <a:off x="5486400" y="2743200"/>
            <a:ext cx="590550" cy="0"/>
          </a:xfrm>
          <a:prstGeom xmlns:a="http://schemas.openxmlformats.org/drawingml/2006/main" prst="straightConnector1">
            <a:avLst/>
          </a:prstGeom>
          <a:ln xmlns:a="http://schemas.openxmlformats.org/drawingml/2006/main" w="16193">
            <a:solidFill>
              <a:srgbClr val="4A4039"/>
            </a:solidFill>
            <a:tailEnd type="triangle" w="sm" len="sm"/>
          </a:ln>
        </p:spPr>
      </p:cxnSp>
      <p:cxnSp>
        <p:nvCxnSpPr>
          <p:cNvPr id="12" name="Observation arrow">
            <a:extLst xmlns:a="http://schemas.openxmlformats.org/drawingml/2006/main">
              <a:ext uri="{FF2B5EF4-FFF2-40B4-BE49-F238E27FC236}">
                <a16:creationId xmlns:a16="http://schemas.microsoft.com/office/drawing/2014/main" id="{9AA09666-D6BE-4A84-892B-8BBCAF7684D1}"/>
              </a:ext>
            </a:extLst>
          </p:cNvPr>
          <p:cNvCxnSpPr/>
          <p:nvPr/>
        </p:nvCxnSpPr>
        <p:spPr>
          <a:xfrm xmlns:a="http://schemas.openxmlformats.org/drawingml/2006/main">
            <a:off x="8267700" y="2743200"/>
            <a:ext cx="590550" cy="0"/>
          </a:xfrm>
          <a:prstGeom xmlns:a="http://schemas.openxmlformats.org/drawingml/2006/main" prst="straightConnector1">
            <a:avLst/>
          </a:prstGeom>
          <a:ln xmlns:a="http://schemas.openxmlformats.org/drawingml/2006/main" w="16193">
            <a:solidFill>
              <a:srgbClr val="4A4039"/>
            </a:solidFill>
            <a:tailEnd type="triangle" w="sm" len="sm"/>
          </a:ln>
        </p:spPr>
      </p:cxnSp>
      <p:cxnSp>
        <p:nvCxnSpPr>
          <p:cNvPr id="13" name="Observation route">
            <a:extLst xmlns:a="http://schemas.openxmlformats.org/drawingml/2006/main">
              <a:ext uri="{FF2B5EF4-FFF2-40B4-BE49-F238E27FC236}">
                <a16:creationId xmlns:a16="http://schemas.microsoft.com/office/drawing/2014/main" id="{9CB225FD-4617-4E4B-B1E5-69BE2596C0B1}"/>
              </a:ext>
            </a:extLst>
          </p:cNvPr>
          <p:cNvCxnSpPr/>
          <p:nvPr/>
        </p:nvCxnSpPr>
        <p:spPr>
          <a:xfrm xmlns:a="http://schemas.openxmlformats.org/drawingml/2006/main">
            <a:off x="2990850" y="2743200"/>
            <a:ext cx="0" cy="895350"/>
          </a:xfrm>
          <a:prstGeom xmlns:a="http://schemas.openxmlformats.org/drawingml/2006/main" prst="straightConnector1">
            <a:avLst/>
          </a:prstGeom>
          <a:ln xmlns:a="http://schemas.openxmlformats.org/drawingml/2006/main" w="16193">
            <a:solidFill>
              <a:srgbClr val="C75E00"/>
            </a:solidFill>
          </a:ln>
        </p:spPr>
      </p:cxnSp>
      <p:cxnSp>
        <p:nvCxnSpPr>
          <p:cNvPr id="14" name="Observation route">
            <a:extLst xmlns:a="http://schemas.openxmlformats.org/drawingml/2006/main">
              <a:ext uri="{FF2B5EF4-FFF2-40B4-BE49-F238E27FC236}">
                <a16:creationId xmlns:a16="http://schemas.microsoft.com/office/drawing/2014/main" id="{41404F52-59CD-4ACA-8021-F740BCE55DD7}"/>
              </a:ext>
            </a:extLst>
          </p:cNvPr>
          <p:cNvCxnSpPr/>
          <p:nvPr/>
        </p:nvCxnSpPr>
        <p:spPr>
          <a:xfrm xmlns:a="http://schemas.openxmlformats.org/drawingml/2006/main">
            <a:off x="2200275" y="3638550"/>
            <a:ext cx="790575" cy="0"/>
          </a:xfrm>
          <a:prstGeom xmlns:a="http://schemas.openxmlformats.org/drawingml/2006/main" prst="straightConnector1">
            <a:avLst/>
          </a:prstGeom>
          <a:ln xmlns:a="http://schemas.openxmlformats.org/drawingml/2006/main" w="16193">
            <a:solidFill>
              <a:srgbClr val="C75E00"/>
            </a:solidFill>
          </a:ln>
        </p:spPr>
      </p:cxnSp>
      <p:cxnSp>
        <p:nvCxnSpPr>
          <p:cNvPr id="15" name="Observation arrow">
            <a:extLst xmlns:a="http://schemas.openxmlformats.org/drawingml/2006/main">
              <a:ext uri="{FF2B5EF4-FFF2-40B4-BE49-F238E27FC236}">
                <a16:creationId xmlns:a16="http://schemas.microsoft.com/office/drawing/2014/main" id="{909B0C25-5C3E-4B15-90F6-FC879D7BB9C9}"/>
              </a:ext>
            </a:extLst>
          </p:cNvPr>
          <p:cNvCxnSpPr/>
          <p:nvPr/>
        </p:nvCxnSpPr>
        <p:spPr>
          <a:xfrm xmlns:a="http://schemas.openxmlformats.org/drawingml/2006/main">
            <a:off x="2200275" y="3638550"/>
            <a:ext cx="0" cy="476250"/>
          </a:xfrm>
          <a:prstGeom xmlns:a="http://schemas.openxmlformats.org/drawingml/2006/main" prst="straightConnector1">
            <a:avLst/>
          </a:prstGeom>
          <a:ln xmlns:a="http://schemas.openxmlformats.org/drawingml/2006/main" w="16193">
            <a:solidFill>
              <a:srgbClr val="C75E00"/>
            </a:solidFill>
            <a:tailEnd type="triangle" w="sm" len="sm"/>
          </a:ln>
        </p:spPr>
      </p:cxnSp>
      <p:cxnSp>
        <p:nvCxnSpPr>
          <p:cNvPr id="16" name="Observation route">
            <a:extLst xmlns:a="http://schemas.openxmlformats.org/drawingml/2006/main">
              <a:ext uri="{FF2B5EF4-FFF2-40B4-BE49-F238E27FC236}">
                <a16:creationId xmlns:a16="http://schemas.microsoft.com/office/drawing/2014/main" id="{EEF9CA06-FBCC-4F96-A090-401A830343D0}"/>
              </a:ext>
            </a:extLst>
          </p:cNvPr>
          <p:cNvCxnSpPr/>
          <p:nvPr/>
        </p:nvCxnSpPr>
        <p:spPr>
          <a:xfrm xmlns:a="http://schemas.openxmlformats.org/drawingml/2006/main">
            <a:off x="4391025" y="3219450"/>
            <a:ext cx="0" cy="457200"/>
          </a:xfrm>
          <a:prstGeom xmlns:a="http://schemas.openxmlformats.org/drawingml/2006/main" prst="straightConnector1">
            <a:avLst/>
          </a:prstGeom>
          <a:ln xmlns:a="http://schemas.openxmlformats.org/drawingml/2006/main" w="16193">
            <a:solidFill>
              <a:srgbClr val="4A4039"/>
            </a:solidFill>
          </a:ln>
        </p:spPr>
      </p:cxnSp>
      <p:cxnSp>
        <p:nvCxnSpPr>
          <p:cNvPr id="17" name="Observation route">
            <a:extLst xmlns:a="http://schemas.openxmlformats.org/drawingml/2006/main">
              <a:ext uri="{FF2B5EF4-FFF2-40B4-BE49-F238E27FC236}">
                <a16:creationId xmlns:a16="http://schemas.microsoft.com/office/drawing/2014/main" id="{17FF48F1-0437-4B9F-9C19-59F1B54F5B9D}"/>
              </a:ext>
            </a:extLst>
          </p:cNvPr>
          <p:cNvCxnSpPr/>
          <p:nvPr/>
        </p:nvCxnSpPr>
        <p:spPr>
          <a:xfrm xmlns:a="http://schemas.openxmlformats.org/drawingml/2006/main">
            <a:off x="4391025" y="3676650"/>
            <a:ext cx="1609725" cy="0"/>
          </a:xfrm>
          <a:prstGeom xmlns:a="http://schemas.openxmlformats.org/drawingml/2006/main" prst="straightConnector1">
            <a:avLst/>
          </a:prstGeom>
          <a:ln xmlns:a="http://schemas.openxmlformats.org/drawingml/2006/main" w="16193">
            <a:solidFill>
              <a:srgbClr val="4A4039"/>
            </a:solidFill>
          </a:ln>
        </p:spPr>
      </p:cxnSp>
      <p:cxnSp>
        <p:nvCxnSpPr>
          <p:cNvPr id="18" name="Observation arrow">
            <a:extLst xmlns:a="http://schemas.openxmlformats.org/drawingml/2006/main">
              <a:ext uri="{FF2B5EF4-FFF2-40B4-BE49-F238E27FC236}">
                <a16:creationId xmlns:a16="http://schemas.microsoft.com/office/drawing/2014/main" id="{7CD40298-244A-4436-87A4-A67209DEF484}"/>
              </a:ext>
            </a:extLst>
          </p:cNvPr>
          <p:cNvCxnSpPr/>
          <p:nvPr/>
        </p:nvCxnSpPr>
        <p:spPr>
          <a:xfrm xmlns:a="http://schemas.openxmlformats.org/drawingml/2006/main">
            <a:off x="6000750" y="3676650"/>
            <a:ext cx="0" cy="438150"/>
          </a:xfrm>
          <a:prstGeom xmlns:a="http://schemas.openxmlformats.org/drawingml/2006/main" prst="straightConnector1">
            <a:avLst/>
          </a:prstGeom>
          <a:ln xmlns:a="http://schemas.openxmlformats.org/drawingml/2006/main" w="16193">
            <a:solidFill>
              <a:srgbClr val="4A4039"/>
            </a:solidFill>
            <a:tailEnd type="triangle" w="sm" len="sm"/>
          </a:ln>
        </p:spPr>
      </p:cxnSp>
      <p:cxnSp>
        <p:nvCxnSpPr>
          <p:cNvPr id="19" name="Observation route">
            <a:extLst xmlns:a="http://schemas.openxmlformats.org/drawingml/2006/main">
              <a:ext uri="{FF2B5EF4-FFF2-40B4-BE49-F238E27FC236}">
                <a16:creationId xmlns:a16="http://schemas.microsoft.com/office/drawing/2014/main" id="{84E23D7E-033F-4151-8819-2D03E74BD58D}"/>
              </a:ext>
            </a:extLst>
          </p:cNvPr>
          <p:cNvCxnSpPr/>
          <p:nvPr/>
        </p:nvCxnSpPr>
        <p:spPr>
          <a:xfrm xmlns:a="http://schemas.openxmlformats.org/drawingml/2006/main">
            <a:off x="9953625" y="3219450"/>
            <a:ext cx="0" cy="457200"/>
          </a:xfrm>
          <a:prstGeom xmlns:a="http://schemas.openxmlformats.org/drawingml/2006/main" prst="straightConnector1">
            <a:avLst/>
          </a:prstGeom>
          <a:ln xmlns:a="http://schemas.openxmlformats.org/drawingml/2006/main" w="16193">
            <a:solidFill>
              <a:srgbClr val="4A4039"/>
            </a:solidFill>
          </a:ln>
        </p:spPr>
      </p:cxnSp>
      <p:cxnSp>
        <p:nvCxnSpPr>
          <p:cNvPr id="20" name="Observation route">
            <a:extLst xmlns:a="http://schemas.openxmlformats.org/drawingml/2006/main">
              <a:ext uri="{FF2B5EF4-FFF2-40B4-BE49-F238E27FC236}">
                <a16:creationId xmlns:a16="http://schemas.microsoft.com/office/drawing/2014/main" id="{E6A83299-FDAC-45E8-B777-6C65DABFD22D}"/>
              </a:ext>
            </a:extLst>
          </p:cNvPr>
          <p:cNvCxnSpPr/>
          <p:nvPr/>
        </p:nvCxnSpPr>
        <p:spPr>
          <a:xfrm xmlns:a="http://schemas.openxmlformats.org/drawingml/2006/main">
            <a:off x="9801225" y="3676650"/>
            <a:ext cx="152400" cy="0"/>
          </a:xfrm>
          <a:prstGeom xmlns:a="http://schemas.openxmlformats.org/drawingml/2006/main" prst="straightConnector1">
            <a:avLst/>
          </a:prstGeom>
          <a:ln xmlns:a="http://schemas.openxmlformats.org/drawingml/2006/main" w="16193">
            <a:solidFill>
              <a:srgbClr val="4A4039"/>
            </a:solidFill>
          </a:ln>
        </p:spPr>
      </p:cxnSp>
      <p:cxnSp>
        <p:nvCxnSpPr>
          <p:cNvPr id="21" name="Observation arrow">
            <a:extLst xmlns:a="http://schemas.openxmlformats.org/drawingml/2006/main">
              <a:ext uri="{FF2B5EF4-FFF2-40B4-BE49-F238E27FC236}">
                <a16:creationId xmlns:a16="http://schemas.microsoft.com/office/drawing/2014/main" id="{8838CBED-84E8-4EA6-BD77-465C26946195}"/>
              </a:ext>
            </a:extLst>
          </p:cNvPr>
          <p:cNvCxnSpPr/>
          <p:nvPr/>
        </p:nvCxnSpPr>
        <p:spPr>
          <a:xfrm xmlns:a="http://schemas.openxmlformats.org/drawingml/2006/main">
            <a:off x="9801225" y="3676650"/>
            <a:ext cx="0" cy="438150"/>
          </a:xfrm>
          <a:prstGeom xmlns:a="http://schemas.openxmlformats.org/drawingml/2006/main" prst="straightConnector1">
            <a:avLst/>
          </a:prstGeom>
          <a:ln xmlns:a="http://schemas.openxmlformats.org/drawingml/2006/main" w="16193">
            <a:solidFill>
              <a:srgbClr val="4A4039"/>
            </a:solidFill>
            <a:tailEnd type="triangle" w="sm" len="sm"/>
          </a:ln>
        </p:spPr>
      </p:cxnSp>
      <p:sp>
        <p:nvSpPr>
          <p:cNvPr id="22" name="Independent record of model traffic">
            <a:extLst xmlns:a="http://schemas.openxmlformats.org/drawingml/2006/main">
              <a:ext uri="{FF2B5EF4-FFF2-40B4-BE49-F238E27FC236}">
                <a16:creationId xmlns:a16="http://schemas.microsoft.com/office/drawing/2014/main" id="{05EAD3B7-946A-4EED-8053-03B789C3B033}"/>
              </a:ext>
            </a:extLst>
          </p:cNvPr>
          <p:cNvSpPr>
            <a:spLocks xmlns:a="http://schemas.openxmlformats.org/drawingml/2006/main" noGrp="1"/>
          </p:cNvSpPr>
          <p:nvPr/>
        </p:nvSpPr>
        <p:spPr>
          <a:xfrm xmlns:a="http://schemas.openxmlformats.org/drawingml/2006/main">
            <a:off x="609600" y="4248150"/>
            <a:ext cx="318135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C75E00"/>
            </a:solidFill>
          </a:ln>
        </p:spPr>
        <p:txBody>
          <a:bodyPr xmlns:a="http://schemas.openxmlformats.org/drawingml/2006/main" wrap="none" lIns="76200" tIns="76200" rIns="76200" bIns="76200" anchor="ctr">
            <a:noAutofit/>
          </a:bodyPr>
          <a:lstStyle xmlns:a="http://schemas.openxmlformats.org/drawingml/2006/main">
            <a:defPPr algn="ctr">
              <a:defRPr sz="2025" b="0">
                <a:solidFill>
                  <a:srgbClr val="241B13"/>
                </a:solidFill>
                <a:latin typeface="Hanken Grotesk"/>
                <a:ea typeface="Hanken Grotesk"/>
                <a:cs typeface="Hanken Grotesk"/>
              </a:defRPr>
            </a:defPPr>
          </a:lstStyle>
          <a:p xmlns:a="http://schemas.openxmlformats.org/drawingml/2006/main">
            <a:pPr algn="ctr">
              <a:lnSpc>
                <a:spcPct val="110000"/>
              </a:lnSpc>
              <a:buNone/>
              <a:defRPr sz="2025" b="0">
                <a:solidFill>
                  <a:srgbClr val="241B13"/>
                </a:solidFill>
                <a:latin typeface="Hanken Grotesk"/>
                <a:ea typeface="Hanken Grotesk"/>
                <a:cs typeface="Hanken Grotesk"/>
              </a:defRPr>
            </a:pPr>
            <a:r>
              <a:rPr sz="2025" b="0">
                <a:solidFill>
                  <a:srgbClr val="241B13"/>
                </a:solidFill>
                <a:latin typeface="Hanken Grotesk"/>
                <a:ea typeface="Hanken Grotesk"/>
                <a:cs typeface="Hanken Grotesk"/>
              </a:rPr>
              <a:t>Independent record</a:t>
            </a:r>
          </a:p>
          <a:p xmlns:a="http://schemas.openxmlformats.org/drawingml/2006/main">
            <a:pPr algn="ctr">
              <a:lnSpc>
                <a:spcPct val="110000"/>
              </a:lnSpc>
              <a:buNone/>
              <a:defRPr sz="2025" b="0">
                <a:solidFill>
                  <a:srgbClr val="241B13"/>
                </a:solidFill>
                <a:latin typeface="Hanken Grotesk"/>
                <a:ea typeface="Hanken Grotesk"/>
                <a:cs typeface="Hanken Grotesk"/>
              </a:defRPr>
            </a:pPr>
            <a:r>
              <a:rPr sz="2025" b="0">
                <a:solidFill>
                  <a:srgbClr val="241B13"/>
                </a:solidFill>
                <a:latin typeface="Hanken Grotesk"/>
                <a:ea typeface="Hanken Grotesk"/>
                <a:cs typeface="Hanken Grotesk"/>
              </a:rPr>
              <a:t>of model traffic</a:t>
            </a:r>
          </a:p>
        </p:txBody>
      </p:sp>
      <p:sp>
        <p:nvSpPr>
          <p:cNvPr id="23" name="Self-written harness record">
            <a:extLst xmlns:a="http://schemas.openxmlformats.org/drawingml/2006/main">
              <a:ext uri="{FF2B5EF4-FFF2-40B4-BE49-F238E27FC236}">
                <a16:creationId xmlns:a16="http://schemas.microsoft.com/office/drawing/2014/main" id="{517B7D78-A547-420D-9045-95B5FE520115}"/>
              </a:ext>
            </a:extLst>
          </p:cNvPr>
          <p:cNvSpPr>
            <a:spLocks xmlns:a="http://schemas.openxmlformats.org/drawingml/2006/main" noGrp="1"/>
          </p:cNvSpPr>
          <p:nvPr/>
        </p:nvSpPr>
        <p:spPr>
          <a:xfrm xmlns:a="http://schemas.openxmlformats.org/drawingml/2006/main">
            <a:off x="4410075" y="4248150"/>
            <a:ext cx="318135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025" b="0">
                <a:solidFill>
                  <a:srgbClr val="241B13"/>
                </a:solidFill>
                <a:latin typeface="Hanken Grotesk"/>
                <a:ea typeface="Hanken Grotesk"/>
                <a:cs typeface="Hanken Grotesk"/>
              </a:defRPr>
            </a:defPPr>
          </a:lstStyle>
          <a:p xmlns:a="http://schemas.openxmlformats.org/drawingml/2006/main">
            <a:pPr algn="ctr">
              <a:lnSpc>
                <a:spcPct val="110000"/>
              </a:lnSpc>
              <a:buNone/>
              <a:defRPr sz="2025" b="0">
                <a:solidFill>
                  <a:srgbClr val="241B13"/>
                </a:solidFill>
                <a:latin typeface="Hanken Grotesk"/>
                <a:ea typeface="Hanken Grotesk"/>
                <a:cs typeface="Hanken Grotesk"/>
              </a:defRPr>
            </a:pPr>
            <a:r>
              <a:rPr sz="2025" b="0">
                <a:solidFill>
                  <a:srgbClr val="241B13"/>
                </a:solidFill>
                <a:latin typeface="Hanken Grotesk"/>
                <a:ea typeface="Hanken Grotesk"/>
                <a:cs typeface="Hanken Grotesk"/>
              </a:rPr>
              <a:t>Self-written</a:t>
            </a:r>
          </a:p>
          <a:p xmlns:a="http://schemas.openxmlformats.org/drawingml/2006/main">
            <a:pPr algn="ctr">
              <a:lnSpc>
                <a:spcPct val="110000"/>
              </a:lnSpc>
              <a:buNone/>
              <a:defRPr sz="2025" b="0">
                <a:solidFill>
                  <a:srgbClr val="241B13"/>
                </a:solidFill>
                <a:latin typeface="Hanken Grotesk"/>
                <a:ea typeface="Hanken Grotesk"/>
                <a:cs typeface="Hanken Grotesk"/>
              </a:defRPr>
            </a:pPr>
            <a:r>
              <a:rPr sz="2025" b="0">
                <a:solidFill>
                  <a:srgbClr val="241B13"/>
                </a:solidFill>
                <a:latin typeface="Hanken Grotesk"/>
                <a:ea typeface="Hanken Grotesk"/>
                <a:cs typeface="Hanken Grotesk"/>
              </a:rPr>
              <a:t>harness record</a:t>
            </a:r>
          </a:p>
        </p:txBody>
      </p:sp>
      <p:sp>
        <p:nvSpPr>
          <p:cNvPr id="24" name="Record of the resulting state">
            <a:extLst xmlns:a="http://schemas.openxmlformats.org/drawingml/2006/main">
              <a:ext uri="{FF2B5EF4-FFF2-40B4-BE49-F238E27FC236}">
                <a16:creationId xmlns:a16="http://schemas.microsoft.com/office/drawing/2014/main" id="{5DE11E60-9E65-4F08-B88C-FB6458118393}"/>
              </a:ext>
            </a:extLst>
          </p:cNvPr>
          <p:cNvSpPr>
            <a:spLocks xmlns:a="http://schemas.openxmlformats.org/drawingml/2006/main" noGrp="1"/>
          </p:cNvSpPr>
          <p:nvPr/>
        </p:nvSpPr>
        <p:spPr>
          <a:xfrm xmlns:a="http://schemas.openxmlformats.org/drawingml/2006/main">
            <a:off x="8210550" y="4248150"/>
            <a:ext cx="3181350" cy="85725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025" b="0">
                <a:solidFill>
                  <a:srgbClr val="241B13"/>
                </a:solidFill>
                <a:latin typeface="Hanken Grotesk"/>
                <a:ea typeface="Hanken Grotesk"/>
                <a:cs typeface="Hanken Grotesk"/>
              </a:defRPr>
            </a:defPPr>
          </a:lstStyle>
          <a:p xmlns:a="http://schemas.openxmlformats.org/drawingml/2006/main">
            <a:pPr algn="ctr">
              <a:lnSpc>
                <a:spcPct val="110000"/>
              </a:lnSpc>
              <a:buNone/>
              <a:defRPr sz="2025" b="0">
                <a:solidFill>
                  <a:srgbClr val="241B13"/>
                </a:solidFill>
                <a:latin typeface="Hanken Grotesk"/>
                <a:ea typeface="Hanken Grotesk"/>
                <a:cs typeface="Hanken Grotesk"/>
              </a:defRPr>
            </a:pPr>
            <a:r>
              <a:rPr sz="2025" b="0">
                <a:solidFill>
                  <a:srgbClr val="241B13"/>
                </a:solidFill>
                <a:latin typeface="Hanken Grotesk"/>
                <a:ea typeface="Hanken Grotesk"/>
                <a:cs typeface="Hanken Grotesk"/>
              </a:rPr>
              <a:t>Record of the</a:t>
            </a:r>
          </a:p>
          <a:p xmlns:a="http://schemas.openxmlformats.org/drawingml/2006/main">
            <a:pPr algn="ctr">
              <a:lnSpc>
                <a:spcPct val="110000"/>
              </a:lnSpc>
              <a:buNone/>
              <a:defRPr sz="2025" b="0">
                <a:solidFill>
                  <a:srgbClr val="241B13"/>
                </a:solidFill>
                <a:latin typeface="Hanken Grotesk"/>
                <a:ea typeface="Hanken Grotesk"/>
                <a:cs typeface="Hanken Grotesk"/>
              </a:defRPr>
            </a:pPr>
            <a:r>
              <a:rPr sz="2025" b="0">
                <a:solidFill>
                  <a:srgbClr val="241B13"/>
                </a:solidFill>
                <a:latin typeface="Hanken Grotesk"/>
                <a:ea typeface="Hanken Grotesk"/>
                <a:cs typeface="Hanken Grotesk"/>
              </a:rPr>
              <a:t>resulting state</a:t>
            </a:r>
          </a:p>
        </p:txBody>
      </p:sp>
      <p:sp>
        <p:nvSpPr>
          <p:cNvPr id="25" name="Own record passed the hash check">
            <a:extLst xmlns:a="http://schemas.openxmlformats.org/drawingml/2006/main">
              <a:ext uri="{FF2B5EF4-FFF2-40B4-BE49-F238E27FC236}">
                <a16:creationId xmlns:a16="http://schemas.microsoft.com/office/drawing/2014/main" id="{B782489C-C4ED-485C-9FC8-0F78511EB80E}"/>
              </a:ext>
            </a:extLst>
          </p:cNvPr>
          <p:cNvSpPr>
            <a:spLocks xmlns:a="http://schemas.openxmlformats.org/drawingml/2006/main" noGrp="1"/>
          </p:cNvSpPr>
          <p:nvPr/>
        </p:nvSpPr>
        <p:spPr>
          <a:xfrm xmlns:a="http://schemas.openxmlformats.org/drawingml/2006/main">
            <a:off x="609600" y="5381625"/>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4A4039"/>
                </a:solidFill>
                <a:latin typeface="Hanken Grotesk"/>
                <a:ea typeface="Hanken Grotesk"/>
                <a:cs typeface="Hanken Grotesk"/>
              </a:defRPr>
            </a:defPPr>
          </a:lstStyle>
          <a:p xmlns:a="http://schemas.openxmlformats.org/drawingml/2006/main">
            <a:pPr algn="l">
              <a:lnSpc>
                <a:spcPct val="110000"/>
              </a:lnSpc>
              <a:buNone/>
              <a:defRPr sz="1725" b="0">
                <a:solidFill>
                  <a:srgbClr val="4A4039"/>
                </a:solidFill>
                <a:latin typeface="Hanken Grotesk"/>
                <a:ea typeface="Hanken Grotesk"/>
                <a:cs typeface="Hanken Grotesk"/>
              </a:defRPr>
            </a:pPr>
            <a:r>
              <a:rPr sz="1725" b="0">
                <a:solidFill>
                  <a:srgbClr val="4A4039"/>
                </a:solidFill>
                <a:latin typeface="Hanken Grotesk"/>
                <a:ea typeface="Hanken Grotesk"/>
                <a:cs typeface="Hanken Grotesk"/>
              </a:rPr>
              <a:t>Own record passed the hash check</a:t>
            </a:r>
          </a:p>
        </p:txBody>
      </p:sp>
      <p:sp>
        <p:nvSpPr>
          <p:cNvPr id="26" name="28/28">
            <a:extLst xmlns:a="http://schemas.openxmlformats.org/drawingml/2006/main">
              <a:ext uri="{FF2B5EF4-FFF2-40B4-BE49-F238E27FC236}">
                <a16:creationId xmlns:a16="http://schemas.microsoft.com/office/drawing/2014/main" id="{8849B978-4814-4D7E-A5EB-22037142FD92}"/>
              </a:ext>
            </a:extLst>
          </p:cNvPr>
          <p:cNvSpPr>
            <a:spLocks xmlns:a="http://schemas.openxmlformats.org/drawingml/2006/main" noGrp="1"/>
          </p:cNvSpPr>
          <p:nvPr/>
        </p:nvSpPr>
        <p:spPr>
          <a:xfrm xmlns:a="http://schemas.openxmlformats.org/drawingml/2006/main">
            <a:off x="609600" y="575310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0">
                <a:solidFill>
                  <a:srgbClr val="241B13"/>
                </a:solidFill>
                <a:latin typeface="Hanken Grotesk"/>
                <a:ea typeface="Hanken Grotesk"/>
                <a:cs typeface="Hanken Grotesk"/>
              </a:defRPr>
            </a:defPPr>
          </a:lstStyle>
          <a:p xmlns:a="http://schemas.openxmlformats.org/drawingml/2006/main">
            <a:pPr algn="l">
              <a:lnSpc>
                <a:spcPct val="110000"/>
              </a:lnSpc>
              <a:buNone/>
              <a:defRPr sz="2925" b="0">
                <a:solidFill>
                  <a:srgbClr val="241B13"/>
                </a:solidFill>
                <a:latin typeface="Hanken Grotesk"/>
                <a:ea typeface="Hanken Grotesk"/>
                <a:cs typeface="Hanken Grotesk"/>
              </a:defRPr>
            </a:pPr>
            <a:r>
              <a:rPr sz="2925" b="0">
                <a:solidFill>
                  <a:srgbClr val="241B13"/>
                </a:solidFill>
                <a:latin typeface="Hanken Grotesk"/>
                <a:ea typeface="Hanken Grotesk"/>
                <a:cs typeface="Hanken Grotesk"/>
              </a:rPr>
              <a:t>28/28</a:t>
            </a:r>
          </a:p>
        </p:txBody>
      </p:sp>
      <p:sp>
        <p:nvSpPr>
          <p:cNvPr id="27" name="Independent record comparison detected">
            <a:extLst xmlns:a="http://schemas.openxmlformats.org/drawingml/2006/main">
              <a:ext uri="{FF2B5EF4-FFF2-40B4-BE49-F238E27FC236}">
                <a16:creationId xmlns:a16="http://schemas.microsoft.com/office/drawing/2014/main" id="{B3DA3A72-ED0D-4EFA-A76E-8E64DA9661BA}"/>
              </a:ext>
            </a:extLst>
          </p:cNvPr>
          <p:cNvSpPr>
            <a:spLocks xmlns:a="http://schemas.openxmlformats.org/drawingml/2006/main" noGrp="1"/>
          </p:cNvSpPr>
          <p:nvPr/>
        </p:nvSpPr>
        <p:spPr>
          <a:xfrm xmlns:a="http://schemas.openxmlformats.org/drawingml/2006/main">
            <a:off x="6210300" y="5381625"/>
            <a:ext cx="5372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4A4039"/>
                </a:solidFill>
                <a:latin typeface="Hanken Grotesk"/>
                <a:ea typeface="Hanken Grotesk"/>
                <a:cs typeface="Hanken Grotesk"/>
              </a:defRPr>
            </a:defPPr>
          </a:lstStyle>
          <a:p xmlns:a="http://schemas.openxmlformats.org/drawingml/2006/main">
            <a:pPr algn="l">
              <a:lnSpc>
                <a:spcPct val="110000"/>
              </a:lnSpc>
              <a:buNone/>
              <a:defRPr sz="1725" b="0">
                <a:solidFill>
                  <a:srgbClr val="4A4039"/>
                </a:solidFill>
                <a:latin typeface="Hanken Grotesk"/>
                <a:ea typeface="Hanken Grotesk"/>
                <a:cs typeface="Hanken Grotesk"/>
              </a:defRPr>
            </a:pPr>
            <a:r>
              <a:rPr sz="1725" b="0">
                <a:solidFill>
                  <a:srgbClr val="4A4039"/>
                </a:solidFill>
                <a:latin typeface="Hanken Grotesk"/>
                <a:ea typeface="Hanken Grotesk"/>
                <a:cs typeface="Hanken Grotesk"/>
              </a:rPr>
              <a:t>Independent record comparison detected</a:t>
            </a:r>
          </a:p>
        </p:txBody>
      </p:sp>
      <p:sp>
        <p:nvSpPr>
          <p:cNvPr id="28" name="28/28">
            <a:extLst xmlns:a="http://schemas.openxmlformats.org/drawingml/2006/main">
              <a:ext uri="{FF2B5EF4-FFF2-40B4-BE49-F238E27FC236}">
                <a16:creationId xmlns:a16="http://schemas.microsoft.com/office/drawing/2014/main" id="{3D8ED0E8-B3BA-4622-9C5D-36DF92A4568B}"/>
              </a:ext>
            </a:extLst>
          </p:cNvPr>
          <p:cNvSpPr>
            <a:spLocks xmlns:a="http://schemas.openxmlformats.org/drawingml/2006/main" noGrp="1"/>
          </p:cNvSpPr>
          <p:nvPr/>
        </p:nvSpPr>
        <p:spPr>
          <a:xfrm xmlns:a="http://schemas.openxmlformats.org/drawingml/2006/main">
            <a:off x="6210300" y="5753100"/>
            <a:ext cx="53721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0">
                <a:solidFill>
                  <a:srgbClr val="C75E00"/>
                </a:solidFill>
                <a:latin typeface="Hanken Grotesk"/>
                <a:ea typeface="Hanken Grotesk"/>
                <a:cs typeface="Hanken Grotesk"/>
              </a:defRPr>
            </a:defPPr>
          </a:lstStyle>
          <a:p xmlns:a="http://schemas.openxmlformats.org/drawingml/2006/main">
            <a:pPr algn="l">
              <a:lnSpc>
                <a:spcPct val="110000"/>
              </a:lnSpc>
              <a:buNone/>
              <a:defRPr sz="2925" b="0">
                <a:solidFill>
                  <a:srgbClr val="C75E00"/>
                </a:solidFill>
                <a:latin typeface="Hanken Grotesk"/>
                <a:ea typeface="Hanken Grotesk"/>
                <a:cs typeface="Hanken Grotesk"/>
              </a:defRPr>
            </a:pPr>
            <a:r>
              <a:rPr sz="2925" b="0">
                <a:solidFill>
                  <a:srgbClr val="C75E00"/>
                </a:solidFill>
                <a:latin typeface="Hanken Grotesk"/>
                <a:ea typeface="Hanken Grotesk"/>
                <a:cs typeface="Hanken Grotesk"/>
              </a:rPr>
              <a:t>28/28</a:t>
            </a:r>
          </a:p>
        </p:txBody>
      </p:sp>
    </p:spTree>
    <p:extLst>
      <p:ext uri="{BB962C8B-B14F-4D97-AF65-F5344CB8AC3E}">
        <p14:creationId xmlns:p14="http://schemas.microsoft.com/office/powerpoint/2010/main" val="1869606962"/>
      </p:ext>
    </p:extLst>
  </p:cSld>
</p:sld>
</file>

<file path=ppt/slides/slide1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1DD158A-465E-46A6-9F58-1A27CB64D36D}"/>
              </a:ext>
            </a:extLst>
          </p:cNvPr>
          <p:cNvCxnSpPr>
            <a:stCxn xmlns:a="http://schemas.openxmlformats.org/drawingml/2006/main" id="8" idx="2"/>
            <a:endCxn xmlns:a="http://schemas.openxmlformats.org/drawingml/2006/main" id="10" idx="0"/>
          </p:cNvCxnSpPr>
          <p:nvPr/>
        </p:nvCxnSpPr>
        <p:spPr>
          <a:xfrm xmlns:a="http://schemas.openxmlformats.org/drawingml/2006/main">
            <a:off x="3481388" y="4429125"/>
            <a:ext cx="0" cy="43815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53E5CA1B-5F72-417F-A848-002720F501BC}"/>
              </a:ext>
            </a:extLst>
          </p:cNvPr>
          <p:cNvCxnSpPr>
            <a:stCxn xmlns:a="http://schemas.openxmlformats.org/drawingml/2006/main" id="7" idx="2"/>
            <a:endCxn xmlns:a="http://schemas.openxmlformats.org/drawingml/2006/main" id="8" idx="0"/>
          </p:cNvCxnSpPr>
          <p:nvPr/>
        </p:nvCxnSpPr>
        <p:spPr>
          <a:xfrm xmlns:a="http://schemas.openxmlformats.org/drawingml/2006/main">
            <a:off x="3481388" y="3276600"/>
            <a:ext cx="0" cy="438150"/>
          </a:xfrm>
          <a:prstGeom xmlns:a="http://schemas.openxmlformats.org/drawingml/2006/main" prst="straightConnector1">
            <a:avLst/>
          </a:prstGeom>
          <a:ln xmlns:a="http://schemas.openxmlformats.org/drawingml/2006/main" w="16193">
            <a:solidFill>
              <a:srgbClr val="4A4039"/>
            </a:solidFill>
            <a:prstDash val="solid"/>
            <a:tailEnd type="triangle" w="sm" len="sm"/>
          </a:ln>
        </p:spPr>
      </p:cxnSp>
      <p:sp>
        <p:nvSpPr>
          <p:cNvPr id="15" name="A retrieval upgrade:&#10;the experiment I would run">
            <a:extLst xmlns:a="http://schemas.openxmlformats.org/drawingml/2006/main">
              <a:ext uri="{FF2B5EF4-FFF2-40B4-BE49-F238E27FC236}">
                <a16:creationId xmlns:a16="http://schemas.microsoft.com/office/drawing/2014/main" id="{DF7966A1-5CA4-4382-8F5D-D53FB21069ED}"/>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A retrieval upgrade:</a:t>
            </a:r>
          </a:p>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the experiment I would run</a:t>
            </a:r>
          </a:p>
        </p:txBody>
      </p:sp>
      <p:sp>
        <p:nvSpPr>
          <p:cNvPr id="2" name="I use this record format; its attention benefit is still unm">
            <a:extLst xmlns:a="http://schemas.openxmlformats.org/drawingml/2006/main">
              <a:ext uri="{FF2B5EF4-FFF2-40B4-BE49-F238E27FC236}">
                <a16:creationId xmlns:a16="http://schemas.microsoft.com/office/drawing/2014/main" id="{9C470340-D8C9-4031-9BBC-CA370E4226AF}"/>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Set restriction or rollback triggers before deployment. The monitoring loop and independent-review tests are proposed.</a:t>
            </a:r>
          </a:p>
        </p:txBody>
      </p:sp>
      <p:sp>
        <p:nvSpPr>
          <p:cNvPr id="3" name="Jarmak · Engineering Reliable Coding Agents, chs. 16–17">
            <a:extLst xmlns:a="http://schemas.openxmlformats.org/drawingml/2006/main">
              <a:ext uri="{FF2B5EF4-FFF2-40B4-BE49-F238E27FC236}">
                <a16:creationId xmlns:a16="http://schemas.microsoft.com/office/drawing/2014/main" id="{AF3B0E19-3FF2-453D-9EBB-45472490327B}"/>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7b7add17f6d54454"/>
              </a:rPr>
              <a:t>Jarmak, chs. 16–17</a:t>
            </a:r>
            <a:r>
              <a:rPr sz="1088" b="0">
                <a:solidFill>
                  <a:srgbClr val="766D62"/>
                </a:solidFill>
                <a:latin typeface="Hanken Grotesk"/>
                <a:ea typeface="Hanken Grotesk"/>
                <a:cs typeface="Hanken Grotesk"/>
                <a:hlinkClick xmlns:r="http://schemas.openxmlformats.org/officeDocument/2006/relationships" r:id="R7b7add17f6d54454"/>
              </a:rPr>
              <a:t> · Google SRE: </a:t>
            </a:r>
            <a:r>
              <a:rPr sz="1088" b="0">
                <a:solidFill>
                  <a:srgbClr val="766D62"/>
                </a:solidFill>
                <a:latin typeface="Hanken Grotesk"/>
                <a:ea typeface="Hanken Grotesk"/>
                <a:cs typeface="Hanken Grotesk"/>
                <a:hlinkClick xmlns:r="http://schemas.openxmlformats.org/officeDocument/2006/relationships" r:id="audienceSource4"/>
              </a:rPr>
              <a:t>monitoring</a:t>
            </a:r>
            <a:r>
              <a:rPr sz="1088" b="0">
                <a:solidFill>
                  <a:srgbClr val="766D62"/>
                </a:solidFill>
                <a:latin typeface="Hanken Grotesk"/>
                <a:ea typeface="Hanken Grotesk"/>
                <a:cs typeface="Hanken Grotesk"/>
                <a:hlinkClick xmlns:r="http://schemas.openxmlformats.org/officeDocument/2006/relationships" r:id="R7b7add17f6d54454"/>
              </a:rPr>
              <a:t> and </a:t>
            </a:r>
            <a:r>
              <a:rPr sz="1088" b="0">
                <a:solidFill>
                  <a:srgbClr val="766D62"/>
                </a:solidFill>
                <a:latin typeface="Hanken Grotesk"/>
                <a:ea typeface="Hanken Grotesk"/>
                <a:cs typeface="Hanken Grotesk"/>
                <a:hlinkClick xmlns:r="http://schemas.openxmlformats.org/officeDocument/2006/relationships" r:id="audienceSource5"/>
              </a:rPr>
              <a:t>alerting</a:t>
            </a:r>
          </a:p>
        </p:txBody>
      </p:sp>
      <p:sp>
        <p:nvSpPr>
          <p:cNvPr id="4" name="12">
            <a:extLst xmlns:a="http://schemas.openxmlformats.org/drawingml/2006/main">
              <a:ext uri="{FF2B5EF4-FFF2-40B4-BE49-F238E27FC236}">
                <a16:creationId xmlns:a16="http://schemas.microsoft.com/office/drawing/2014/main" id="{0BC51DA0-046E-4AD0-AA73-FD1C2174353B}"/>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12</a:t>
            </a:r>
          </a:p>
        </p:txBody>
      </p:sp>
      <p:sp>
        <p:nvSpPr>
          <p:cNvPr id="5" name="PROPOSED EVALUATION WORKFLOW">
            <a:extLst xmlns:a="http://schemas.openxmlformats.org/drawingml/2006/main">
              <a:ext uri="{FF2B5EF4-FFF2-40B4-BE49-F238E27FC236}">
                <a16:creationId xmlns:a16="http://schemas.microsoft.com/office/drawing/2014/main" id="{2376F1D5-EC30-4296-B61B-FF31618D24F2}"/>
              </a:ext>
            </a:extLst>
          </p:cNvPr>
          <p:cNvSpPr>
            <a:spLocks xmlns:a="http://schemas.openxmlformats.org/drawingml/2006/main" noGrp="1"/>
          </p:cNvSpPr>
          <p:nvPr/>
        </p:nvSpPr>
        <p:spPr>
          <a:xfrm xmlns:a="http://schemas.openxmlformats.org/drawingml/2006/main">
            <a:off x="609600" y="200025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PROPOSED EVALUATION WORKFLOW</a:t>
            </a:r>
          </a:p>
        </p:txBody>
      </p:sp>
      <p:sp>
        <p:nvSpPr>
          <p:cNvPr id="6" name="THE DECISION RECORD I USE">
            <a:extLst xmlns:a="http://schemas.openxmlformats.org/drawingml/2006/main">
              <a:ext uri="{FF2B5EF4-FFF2-40B4-BE49-F238E27FC236}">
                <a16:creationId xmlns:a16="http://schemas.microsoft.com/office/drawing/2014/main" id="{0B6D49B2-580A-4787-8821-478B78702107}"/>
              </a:ext>
            </a:extLst>
          </p:cNvPr>
          <p:cNvSpPr>
            <a:spLocks xmlns:a="http://schemas.openxmlformats.org/drawingml/2006/main" noGrp="1"/>
          </p:cNvSpPr>
          <p:nvPr/>
        </p:nvSpPr>
        <p:spPr>
          <a:xfrm xmlns:a="http://schemas.openxmlformats.org/drawingml/2006/main">
            <a:off x="7239000" y="2000250"/>
            <a:ext cx="434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AFTER DEPLOYMENT</a:t>
            </a:r>
          </a:p>
        </p:txBody>
      </p:sp>
      <p:sp>
        <p:nvSpPr>
          <p:cNvPr id="7" name="Matched target-work comparison">
            <a:extLst xmlns:a="http://schemas.openxmlformats.org/drawingml/2006/main">
              <a:ext uri="{FF2B5EF4-FFF2-40B4-BE49-F238E27FC236}">
                <a16:creationId xmlns:a16="http://schemas.microsoft.com/office/drawing/2014/main" id="{E427B0E7-210C-4DCD-8304-DE146EA8DA2F}"/>
              </a:ext>
            </a:extLst>
          </p:cNvPr>
          <p:cNvSpPr>
            <a:spLocks xmlns:a="http://schemas.openxmlformats.org/drawingml/2006/main" noGrp="1"/>
          </p:cNvSpPr>
          <p:nvPr/>
        </p:nvSpPr>
        <p:spPr>
          <a:xfrm xmlns:a="http://schemas.openxmlformats.org/drawingml/2006/main">
            <a:off x="609600" y="2562225"/>
            <a:ext cx="5743575" cy="7143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Matched target-work comparison</a:t>
            </a:r>
          </a:p>
        </p:txBody>
      </p:sp>
      <p:sp>
        <p:nvSpPr>
          <p:cNvPr id="8" name="Evaluator + reviewer challenges">
            <a:extLst xmlns:a="http://schemas.openxmlformats.org/drawingml/2006/main">
              <a:ext uri="{FF2B5EF4-FFF2-40B4-BE49-F238E27FC236}">
                <a16:creationId xmlns:a16="http://schemas.microsoft.com/office/drawing/2014/main" id="{65ACD47D-4C26-49A2-9151-7ED7430CB602}"/>
              </a:ext>
            </a:extLst>
          </p:cNvPr>
          <p:cNvSpPr>
            <a:spLocks xmlns:a="http://schemas.openxmlformats.org/drawingml/2006/main" noGrp="1"/>
          </p:cNvSpPr>
          <p:nvPr/>
        </p:nvSpPr>
        <p:spPr>
          <a:xfrm xmlns:a="http://schemas.openxmlformats.org/drawingml/2006/main">
            <a:off x="609600" y="3714750"/>
            <a:ext cx="5743575" cy="7143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Independent challenge</a:t>
            </a:r>
          </a:p>
        </p:txBody>
      </p:sp>
      <p:sp>
        <p:nvSpPr>
          <p:cNvPr id="10" name="Run alongside + compare outcomes">
            <a:extLst xmlns:a="http://schemas.openxmlformats.org/drawingml/2006/main">
              <a:ext uri="{FF2B5EF4-FFF2-40B4-BE49-F238E27FC236}">
                <a16:creationId xmlns:a16="http://schemas.microsoft.com/office/drawing/2014/main" id="{B2C40E01-0AA8-4C05-AE72-042C17E3EE6F}"/>
              </a:ext>
            </a:extLst>
          </p:cNvPr>
          <p:cNvSpPr>
            <a:spLocks xmlns:a="http://schemas.openxmlformats.org/drawingml/2006/main" noGrp="1"/>
          </p:cNvSpPr>
          <p:nvPr/>
        </p:nvSpPr>
        <p:spPr>
          <a:xfrm xmlns:a="http://schemas.openxmlformats.org/drawingml/2006/main">
            <a:off x="609600" y="4867275"/>
            <a:ext cx="5743575" cy="714375"/>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1950" b="0">
                <a:solidFill>
                  <a:srgbClr val="241B13"/>
                </a:solidFill>
                <a:latin typeface="Hanken Grotesk"/>
                <a:ea typeface="Hanken Grotesk"/>
                <a:cs typeface="Hanken Grotesk"/>
              </a:defRPr>
            </a:defPPr>
          </a:lstStyle>
          <a:p xmlns:a="http://schemas.openxmlformats.org/drawingml/2006/main">
            <a:pPr algn="ctr">
              <a:lnSpc>
                <a:spcPct val="110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Run alongside current work.</a:t>
            </a:r>
          </a:p>
          <a:p xmlns:a="http://schemas.openxmlformats.org/drawingml/2006/main">
            <a:pPr algn="ctr">
              <a:lnSpc>
                <a:spcPct val="110000"/>
              </a:lnSpc>
              <a:buNone/>
              <a:defRPr sz="1950" b="0">
                <a:solidFill>
                  <a:srgbClr val="241B13"/>
                </a:solidFill>
                <a:latin typeface="Hanken Grotesk"/>
                <a:ea typeface="Hanken Grotesk"/>
                <a:cs typeface="Hanken Grotesk"/>
              </a:defRPr>
            </a:pPr>
            <a:r>
              <a:rPr sz="1950" b="0">
                <a:solidFill>
                  <a:srgbClr val="241B13"/>
                </a:solidFill>
                <a:latin typeface="Hanken Grotesk"/>
                <a:ea typeface="Hanken Grotesk"/>
                <a:cs typeface="Hanken Grotesk"/>
              </a:rPr>
              <a:t>Test state changes in isolation.</a:t>
            </a:r>
          </a:p>
        </p:txBody>
      </p:sp>
      <p:sp>
        <p:nvSpPr>
          <p:cNvPr id="12" name="Measure review accuracy and review time.">
            <a:extLst xmlns:a="http://schemas.openxmlformats.org/drawingml/2006/main">
              <a:ext uri="{FF2B5EF4-FFF2-40B4-BE49-F238E27FC236}">
                <a16:creationId xmlns:a16="http://schemas.microsoft.com/office/drawing/2014/main" id="{894D1BAC-28D7-4D2E-A968-66C4A5C9F166}"/>
              </a:ext>
            </a:extLst>
          </p:cNvPr>
          <p:cNvSpPr>
            <a:spLocks xmlns:a="http://schemas.openxmlformats.org/drawingml/2006/main" noGrp="1"/>
          </p:cNvSpPr>
          <p:nvPr/>
        </p:nvSpPr>
        <p:spPr>
          <a:xfrm xmlns:a="http://schemas.openxmlformats.org/drawingml/2006/main">
            <a:off x="609600" y="5781675"/>
            <a:ext cx="607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4A4039"/>
                </a:solidFill>
                <a:latin typeface="Hanken Grotesk"/>
                <a:ea typeface="Hanken Grotesk"/>
                <a:cs typeface="Hanken Grotesk"/>
              </a:defRPr>
            </a:defPPr>
          </a:lstStyle>
          <a:p xmlns:a="http://schemas.openxmlformats.org/drawingml/2006/main">
            <a:pPr algn="l">
              <a:lnSpc>
                <a:spcPct val="110000"/>
              </a:lnSpc>
              <a:buNone/>
              <a:defRPr sz="1650" b="0">
                <a:solidFill>
                  <a:srgbClr val="4A4039"/>
                </a:solidFill>
                <a:latin typeface="Hanken Grotesk"/>
                <a:ea typeface="Hanken Grotesk"/>
                <a:cs typeface="Hanken Grotesk"/>
              </a:defRPr>
            </a:pPr>
            <a:r>
              <a:rPr sz="1650" b="0">
                <a:solidFill>
                  <a:srgbClr val="4A4039"/>
                </a:solidFill>
                <a:latin typeface="Hanken Grotesk"/>
                <a:ea typeface="Hanken Grotesk"/>
                <a:cs typeface="Hanken Grotesk"/>
              </a:rPr>
              <a:t>Can an independent challenger</a:t>
            </a:r>
          </a:p>
          <a:p xmlns:a="http://schemas.openxmlformats.org/drawingml/2006/main">
            <a:pPr algn="l">
              <a:lnSpc>
                <a:spcPct val="110000"/>
              </a:lnSpc>
              <a:buNone/>
              <a:defRPr sz="1650" b="0">
                <a:solidFill>
                  <a:srgbClr val="4A4039"/>
                </a:solidFill>
                <a:latin typeface="Hanken Grotesk"/>
                <a:ea typeface="Hanken Grotesk"/>
                <a:cs typeface="Hanken Grotesk"/>
              </a:defRPr>
            </a:pPr>
            <a:r>
              <a:rPr sz="1650" b="0">
                <a:solidFill>
                  <a:srgbClr val="4A4039"/>
                </a:solidFill>
                <a:latin typeface="Hanken Grotesk"/>
                <a:ea typeface="Hanken Grotesk"/>
                <a:cs typeface="Hanken Grotesk"/>
              </a:rPr>
              <a:t>find the decisive evidence?</a:t>
            </a:r>
          </a:p>
        </p:txBody>
      </p:sp>
      <p:graphicFrame>
        <p:nvGraphicFramePr>
          <p:cNvPr id="13" name="">
            <a:extLst xmlns:a="http://schemas.openxmlformats.org/drawingml/2006/main">
              <a:ext uri="{FF2B5EF4-FFF2-40B4-BE49-F238E27FC236}">
                <a16:creationId xmlns:a16="http://schemas.microsoft.com/office/drawing/2014/main" id="{238849B6-DABC-4F49-A651-D027477016D0}"/>
              </a:ext>
            </a:extLst>
          </p:cNvPr>
          <p:cNvGraphicFramePr/>
          <p:nvPr/>
        </p:nvGraphicFramePr>
        <p:xfrm>
          <a:off xmlns:a="http://schemas.openxmlformats.org/drawingml/2006/main" x="7239000" y="2562225"/>
          <a:ext xmlns:a="http://schemas.openxmlformats.org/drawingml/2006/main" cx="4343400" cy="3019425"/>
        </p:xfrm>
        <a:graphic xmlns:a="http://schemas.openxmlformats.org/drawingml/2006/main">
          <a:graphicData uri="http://schemas.openxmlformats.org/drawingml/2006/table">
            <a:tbl>
              <a:tblPr firstRow="0" bandRow="0"/>
              <a:tblGrid>
                <a:gridCol w="4343400"/>
              </a:tblGrid>
              <a:tr h="603885">
                <a:tc>
                  <a:txBody>
                    <a:bodyPr lIns="114300" tIns="114300" rIns="114300" bIns="114300"/>
                    <a:lstStyle/>
                    <a:p>
                      <a:pPr algn="l">
                        <a:buNone/>
                      </a:pPr>
                      <a:r>
                        <a:rPr sz="1725">
                          <a:solidFill>
                            <a:srgbClr val="241B13"/>
                          </a:solidFill>
                          <a:latin typeface="Hanken Grotesk"/>
                          <a:ea typeface="Hanken Grotesk"/>
                          <a:cs typeface="Hanken Grotesk"/>
                        </a:rPr>
                        <a:t>Completion, repair, latency, cost</a:t>
                      </a:r>
                    </a:p>
                  </a:txBody>
                  <a:tcPr marL="91440" marR="91440" marT="45720" marB="45720" anchor="ctr">
                    <a:solidFill>
                      <a:srgbClr val="F7F3EB"/>
                    </a:solidFill>
                  </a:tcPr>
                </a:tc>
              </a:tr>
              <a:tr h="603885">
                <a:tc>
                  <a:txBody>
                    <a:bodyPr lIns="114300" tIns="114300" rIns="114300" bIns="114300"/>
                    <a:lstStyle/>
                    <a:p>
                      <a:pPr algn="l">
                        <a:buNone/>
                      </a:pPr>
                      <a:r>
                        <a:rPr sz="1725" b="0">
                          <a:solidFill>
                            <a:srgbClr val="241B13"/>
                          </a:solidFill>
                          <a:latin typeface="Hanken Grotesk"/>
                          <a:ea typeface="Hanken Grotesk"/>
                          <a:cs typeface="Hanken Grotesk"/>
                        </a:rPr>
                        <a:t>Audit accepted work and failures</a:t>
                      </a:r>
                    </a:p>
                  </a:txBody>
                  <a:tcPr marL="91440" marR="91440" marT="45720" marB="45720" anchor="ctr">
                    <a:solidFill>
                      <a:srgbClr val="F7F3EB"/>
                    </a:solidFill>
                  </a:tcPr>
                </a:tc>
              </a:tr>
              <a:tr h="603885">
                <a:tc>
                  <a:txBody>
                    <a:bodyPr lIns="114300" tIns="114300" rIns="114300" bIns="114300"/>
                    <a:lstStyle/>
                    <a:p>
                      <a:pPr algn="l">
                        <a:buNone/>
                      </a:pPr>
                      <a:r>
                        <a:rPr sz="1725" b="0">
                          <a:solidFill>
                            <a:srgbClr val="241B13"/>
                          </a:solidFill>
                          <a:latin typeface="Hanken Grotesk"/>
                          <a:ea typeface="Hanken Grotesk"/>
                          <a:cs typeface="Hanken Grotesk"/>
                        </a:rPr>
                        <a:t>Check traces against real outcomes</a:t>
                      </a:r>
                    </a:p>
                  </a:txBody>
                  <a:tcPr marL="91440" marR="91440" marT="45720" marB="45720" anchor="ctr">
                    <a:solidFill>
                      <a:srgbClr val="F7F3EB"/>
                    </a:solidFill>
                  </a:tcPr>
                </a:tc>
              </a:tr>
              <a:tr h="603885">
                <a:tc>
                  <a:txBody>
                    <a:bodyPr lIns="114300" tIns="114300" rIns="114300" bIns="114300"/>
                    <a:lstStyle/>
                    <a:p>
                      <a:pPr algn="l">
                        <a:buNone/>
                      </a:pPr>
                      <a:r>
                        <a:rPr sz="1725" b="0">
                          <a:solidFill>
                            <a:srgbClr val="241B13"/>
                          </a:solidFill>
                          <a:latin typeface="Hanken Grotesk"/>
                          <a:ea typeface="Hanken Grotesk"/>
                          <a:cs typeface="Hanken Grotesk"/>
                        </a:rPr>
                        <a:t>Watch workload and version changes</a:t>
                      </a:r>
                    </a:p>
                  </a:txBody>
                  <a:tcPr marL="91440" marR="91440" marT="45720" marB="45720" anchor="ctr">
                    <a:solidFill>
                      <a:srgbClr val="F7F3EB"/>
                    </a:solidFill>
                  </a:tcPr>
                </a:tc>
              </a:tr>
              <a:tr h="603885">
                <a:tc>
                  <a:txBody>
                    <a:bodyPr lIns="114300" tIns="114300" rIns="114300" bIns="114300"/>
                    <a:lstStyle/>
                    <a:p>
                      <a:pPr algn="l">
                        <a:buNone/>
                      </a:pPr>
                      <a:r>
                        <a:rPr sz="1725" b="0">
                          <a:solidFill>
                            <a:srgbClr val="241B13"/>
                          </a:solidFill>
                          <a:latin typeface="Hanken Grotesk"/>
                          <a:ea typeface="Hanken Grotesk"/>
                          <a:cs typeface="Hanken Grotesk"/>
                        </a:rPr>
                        <a:t>Owner, intervention, regression tests</a:t>
                      </a:r>
                    </a:p>
                  </a:txBody>
                  <a:tcPr marL="91440" marR="91440" marT="45720" marB="45720" anchor="ctr">
                    <a:solidFill>
                      <a:srgbClr val="F7F3EB"/>
                    </a:solidFill>
                  </a:tcPr>
                </a:tc>
              </a:tr>
            </a:tbl>
          </a:graphicData>
        </a:graphic>
      </p:graphicFrame>
      <p:sp>
        <p:nvSpPr>
          <p:cNvPr id="14" name="Format implemented.&#10;Attention benefit unmeasured.">
            <a:extLst xmlns:a="http://schemas.openxmlformats.org/drawingml/2006/main">
              <a:ext uri="{FF2B5EF4-FFF2-40B4-BE49-F238E27FC236}">
                <a16:creationId xmlns:a16="http://schemas.microsoft.com/office/drawing/2014/main" id="{041E0967-8FF9-4903-B7D9-733554146C5E}"/>
              </a:ext>
            </a:extLst>
          </p:cNvPr>
          <p:cNvSpPr>
            <a:spLocks xmlns:a="http://schemas.openxmlformats.org/drawingml/2006/main" noGrp="1"/>
          </p:cNvSpPr>
          <p:nvPr/>
        </p:nvSpPr>
        <p:spPr>
          <a:xfrm xmlns:a="http://schemas.openxmlformats.org/drawingml/2006/main">
            <a:off x="7239000" y="581977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4A4039"/>
                </a:solidFill>
                <a:latin typeface="Hanken Grotesk"/>
                <a:ea typeface="Hanken Grotesk"/>
                <a:cs typeface="Hanken Grotesk"/>
              </a:defRPr>
            </a:defPPr>
          </a:lstStyle>
          <a:p xmlns:a="http://schemas.openxmlformats.org/drawingml/2006/main">
            <a:pPr algn="l">
              <a:lnSpc>
                <a:spcPct val="110000"/>
              </a:lnSpc>
              <a:buNone/>
              <a:defRPr sz="1575" b="0">
                <a:solidFill>
                  <a:srgbClr val="4A4039"/>
                </a:solidFill>
                <a:latin typeface="Hanken Grotesk"/>
                <a:ea typeface="Hanken Grotesk"/>
                <a:cs typeface="Hanken Grotesk"/>
              </a:defRPr>
            </a:pPr>
            <a:r>
              <a:rPr sz="1575" b="0">
                <a:solidFill>
                  <a:srgbClr val="4A4039"/>
                </a:solidFill>
                <a:latin typeface="Hanken Grotesk"/>
                <a:ea typeface="Hanken Grotesk"/>
                <a:cs typeface="Hanken Grotesk"/>
              </a:rPr>
              <a:t>Do scores predict real outcomes?</a:t>
            </a:r>
          </a:p>
        </p:txBody>
      </p:sp>
    </p:spTree>
    <p:extLst>
      <p:ext uri="{BB962C8B-B14F-4D97-AF65-F5344CB8AC3E}">
        <p14:creationId xmlns:p14="http://schemas.microsoft.com/office/powerpoint/2010/main" val="1862947530"/>
      </p:ext>
    </p:extLst>
  </p:cSld>
</p:sld>
</file>

<file path=ppt/slides/slide1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7" name="Make the next autonomy decision explicit">
            <a:extLst xmlns:a="http://schemas.openxmlformats.org/drawingml/2006/main">
              <a:ext uri="{FF2B5EF4-FFF2-40B4-BE49-F238E27FC236}">
                <a16:creationId xmlns:a16="http://schemas.microsoft.com/office/drawing/2014/main" id="{6D0BDB1A-BE65-40FC-89FE-D495D670B296}"/>
              </a:ext>
            </a:extLst>
          </p:cNvPr>
          <p:cNvSpPr>
            <a:spLocks xmlns:a="http://schemas.openxmlformats.org/drawingml/2006/main" noGrp="1"/>
          </p:cNvSpPr>
          <p:nvPr/>
        </p:nvSpPr>
        <p:spPr>
          <a:xfrm xmlns:a="http://schemas.openxmlformats.org/drawingml/2006/main">
            <a:off x="609600" y="5334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2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Make the next autonomy decision explicit</a:t>
            </a:r>
          </a:p>
        </p:txBody>
      </p:sp>
      <p:sp>
        <p:nvSpPr>
          <p:cNvPr id="2" name="An action-specific standard to test. Procedures support the ">
            <a:extLst xmlns:a="http://schemas.openxmlformats.org/drawingml/2006/main">
              <a:ext uri="{FF2B5EF4-FFF2-40B4-BE49-F238E27FC236}">
                <a16:creationId xmlns:a16="http://schemas.microsoft.com/office/drawing/2014/main" id="{53D96569-0553-41F9-A80B-77AE3AB91AB1}"/>
              </a:ext>
            </a:extLst>
          </p:cNvPr>
          <p:cNvSpPr>
            <a:spLocks xmlns:a="http://schemas.openxmlformats.org/drawingml/2006/main" noGrp="1"/>
          </p:cNvSpPr>
          <p:nvPr/>
        </p:nvSpPr>
        <p:spPr>
          <a:xfrm xmlns:a="http://schemas.openxmlformats.org/drawingml/2006/main">
            <a:off x="609600" y="63246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766D62"/>
                </a:solidFill>
                <a:latin typeface="Hanken Grotesk"/>
                <a:ea typeface="Hanken Grotesk"/>
                <a:cs typeface="Hanken Grotesk"/>
              </a:defRPr>
            </a:defPPr>
          </a:lstStyle>
          <a:p xmlns:a="http://schemas.openxmlformats.org/drawingml/2006/main">
            <a:pPr algn="l">
              <a:lnSpc>
                <a:spcPct val="110000"/>
              </a:lnSpc>
              <a:buNone/>
              <a:defRPr sz="1125" b="0">
                <a:solidFill>
                  <a:srgbClr val="766D62"/>
                </a:solidFill>
                <a:latin typeface="Hanken Grotesk"/>
                <a:ea typeface="Hanken Grotesk"/>
                <a:cs typeface="Hanken Grotesk"/>
              </a:defRPr>
            </a:pPr>
            <a:r>
              <a:rPr sz="1125" b="0">
                <a:solidFill>
                  <a:srgbClr val="766D62"/>
                </a:solidFill>
                <a:latin typeface="Hanken Grotesk"/>
                <a:ea typeface="Hanken Grotesk"/>
                <a:cs typeface="Hanken Grotesk"/>
              </a:rPr>
              <a:t>An action-specific standard to test. Procedures support the work; they do not establish reliability or supply missing evidence.</a:t>
            </a:r>
          </a:p>
        </p:txBody>
      </p:sp>
      <p:sp>
        <p:nvSpPr>
          <p:cNvPr id="3" name="Jarmak · Engineering Reliable Coding Agents, closing">
            <a:extLst xmlns:a="http://schemas.openxmlformats.org/drawingml/2006/main">
              <a:ext uri="{FF2B5EF4-FFF2-40B4-BE49-F238E27FC236}">
                <a16:creationId xmlns:a16="http://schemas.microsoft.com/office/drawing/2014/main" id="{4C57FD01-5BFE-4533-86BE-1365320EE543}"/>
              </a:ext>
            </a:extLst>
          </p:cNvPr>
          <p:cNvSpPr>
            <a:spLocks xmlns:a="http://schemas.openxmlformats.org/drawingml/2006/main" noGrp="1"/>
          </p:cNvSpPr>
          <p:nvPr/>
        </p:nvSpPr>
        <p:spPr>
          <a:xfrm xmlns:a="http://schemas.openxmlformats.org/drawingml/2006/main">
            <a:off x="609600" y="660082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88" b="0">
                <a:solidFill>
                  <a:srgbClr val="766D62"/>
                </a:solidFill>
                <a:latin typeface="Hanken Grotesk"/>
                <a:ea typeface="Hanken Grotesk"/>
                <a:cs typeface="Hanken Grotesk"/>
              </a:defRPr>
            </a:defPPr>
          </a:lstStyle>
          <a:p xmlns:a="http://schemas.openxmlformats.org/drawingml/2006/main">
            <a:pPr algn="l">
              <a:lnSpc>
                <a:spcPct val="110000"/>
              </a:lnSpc>
              <a:buNone/>
              <a:defRPr sz="1088" b="0">
                <a:solidFill>
                  <a:srgbClr val="766D62"/>
                </a:solidFill>
                <a:latin typeface="Hanken Grotesk"/>
                <a:ea typeface="Hanken Grotesk"/>
                <a:cs typeface="Hanken Grotesk"/>
              </a:defRPr>
            </a:pPr>
            <a:r>
              <a:rPr sz="1088" b="0">
                <a:solidFill>
                  <a:srgbClr val="766D62"/>
                </a:solidFill>
                <a:latin typeface="Hanken Grotesk"/>
                <a:ea typeface="Hanken Grotesk"/>
                <a:cs typeface="Hanken Grotesk"/>
                <a:hlinkClick xmlns:r="http://schemas.openxmlformats.org/officeDocument/2006/relationships" r:id="R2db9c775b3674d9b"/>
              </a:rPr>
              <a:t>Jarmak · Engineering Reliable Coding Agents, closing</a:t>
            </a:r>
          </a:p>
        </p:txBody>
      </p:sp>
      <p:sp>
        <p:nvSpPr>
          <p:cNvPr id="4" name="13">
            <a:extLst xmlns:a="http://schemas.openxmlformats.org/drawingml/2006/main">
              <a:ext uri="{FF2B5EF4-FFF2-40B4-BE49-F238E27FC236}">
                <a16:creationId xmlns:a16="http://schemas.microsoft.com/office/drawing/2014/main" id="{56C3A36B-4A3D-4FAD-B845-87532A25FBF3}"/>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13</a:t>
            </a:r>
          </a:p>
        </p:txBody>
      </p:sp>
      <p:sp>
        <p:nvSpPr>
          <p:cNvPr id="5" name="PROPOSED AUTONOMY DECISION">
            <a:extLst xmlns:a="http://schemas.openxmlformats.org/drawingml/2006/main">
              <a:ext uri="{FF2B5EF4-FFF2-40B4-BE49-F238E27FC236}">
                <a16:creationId xmlns:a16="http://schemas.microsoft.com/office/drawing/2014/main" id="{9858C872-51E5-484E-80EF-CEC2EC1DA3B5}"/>
              </a:ext>
            </a:extLst>
          </p:cNvPr>
          <p:cNvSpPr>
            <a:spLocks xmlns:a="http://schemas.openxmlformats.org/drawingml/2006/main" noGrp="1"/>
          </p:cNvSpPr>
          <p:nvPr/>
        </p:nvSpPr>
        <p:spPr>
          <a:xfrm xmlns:a="http://schemas.openxmlformats.org/drawingml/2006/main">
            <a:off x="609600" y="17430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PROPOSED AUTONOMY DECISION</a:t>
            </a:r>
          </a:p>
        </p:txBody>
      </p:sp>
      <p:sp>
        <p:nvSpPr>
          <p:cNvPr id="6" name="Additional action + operating scope + human check removed">
            <a:extLst xmlns:a="http://schemas.openxmlformats.org/drawingml/2006/main">
              <a:ext uri="{FF2B5EF4-FFF2-40B4-BE49-F238E27FC236}">
                <a16:creationId xmlns:a16="http://schemas.microsoft.com/office/drawing/2014/main" id="{94607F0A-CE00-4666-898D-DC4D53900D10}"/>
              </a:ext>
            </a:extLst>
          </p:cNvPr>
          <p:cNvSpPr>
            <a:spLocks xmlns:a="http://schemas.openxmlformats.org/drawingml/2006/main" noGrp="1"/>
          </p:cNvSpPr>
          <p:nvPr/>
        </p:nvSpPr>
        <p:spPr>
          <a:xfrm xmlns:a="http://schemas.openxmlformats.org/drawingml/2006/main">
            <a:off x="609600" y="21526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41B13"/>
                </a:solidFill>
                <a:latin typeface="Literata"/>
                <a:ea typeface="Literata"/>
                <a:cs typeface="Literata"/>
              </a:defRPr>
            </a:defPPr>
          </a:lstStyle>
          <a:p xmlns:a="http://schemas.openxmlformats.org/drawingml/2006/main">
            <a:pPr algn="l">
              <a:lnSpc>
                <a:spcPct val="110000"/>
              </a:lnSpc>
              <a:buNone/>
              <a:defRPr sz="2400" b="0">
                <a:solidFill>
                  <a:srgbClr val="241B13"/>
                </a:solidFill>
                <a:latin typeface="Literata"/>
                <a:ea typeface="Literata"/>
                <a:cs typeface="Literata"/>
              </a:defRPr>
            </a:pPr>
            <a:r>
              <a:rPr sz="2400" b="0">
                <a:solidFill>
                  <a:srgbClr val="241B13"/>
                </a:solidFill>
                <a:latin typeface="Literata"/>
                <a:ea typeface="Literata"/>
                <a:cs typeface="Literata"/>
              </a:rPr>
              <a:t>Additional action + operating scope + human check removed</a:t>
            </a:r>
          </a:p>
        </p:txBody>
      </p:sp>
      <p:sp>
        <p:nvSpPr>
          <p:cNvPr id="7" name="">
            <a:extLst xmlns:a="http://schemas.openxmlformats.org/drawingml/2006/main">
              <a:ext uri="{FF2B5EF4-FFF2-40B4-BE49-F238E27FC236}">
                <a16:creationId xmlns:a16="http://schemas.microsoft.com/office/drawing/2014/main" id="{50806A4D-4C12-4290-8F04-468F0E7A9621}"/>
              </a:ext>
            </a:extLst>
          </p:cNvPr>
          <p:cNvSpPr>
            <a:spLocks xmlns:a="http://schemas.openxmlformats.org/drawingml/2006/main" noGrp="1"/>
          </p:cNvSpPr>
          <p:nvPr/>
        </p:nvSpPr>
        <p:spPr>
          <a:xfrm xmlns:a="http://schemas.openxmlformats.org/drawingml/2006/main">
            <a:off x="609600" y="2819400"/>
            <a:ext cx="109728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8" name="EVIDENCE BAR">
            <a:extLst xmlns:a="http://schemas.openxmlformats.org/drawingml/2006/main">
              <a:ext uri="{FF2B5EF4-FFF2-40B4-BE49-F238E27FC236}">
                <a16:creationId xmlns:a16="http://schemas.microsoft.com/office/drawing/2014/main" id="{D292EB4E-8B9D-4BF9-82E3-A35A2F50406F}"/>
              </a:ext>
            </a:extLst>
          </p:cNvPr>
          <p:cNvSpPr>
            <a:spLocks xmlns:a="http://schemas.openxmlformats.org/drawingml/2006/main" noGrp="1"/>
          </p:cNvSpPr>
          <p:nvPr/>
        </p:nvSpPr>
        <p:spPr>
          <a:xfrm xmlns:a="http://schemas.openxmlformats.org/drawingml/2006/main">
            <a:off x="609600" y="3133725"/>
            <a:ext cx="5248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EVIDENCE BAR</a:t>
            </a:r>
          </a:p>
        </p:txBody>
      </p:sp>
      <p:sp>
        <p:nvSpPr>
          <p:cNvPr id="9" name="VALIDATED EVALUATOR + EXECUTION CONTROLS">
            <a:extLst xmlns:a="http://schemas.openxmlformats.org/drawingml/2006/main">
              <a:ext uri="{FF2B5EF4-FFF2-40B4-BE49-F238E27FC236}">
                <a16:creationId xmlns:a16="http://schemas.microsoft.com/office/drawing/2014/main" id="{8B5CB2EA-FB6D-4EC6-921E-7293D6EFFEAF}"/>
              </a:ext>
            </a:extLst>
          </p:cNvPr>
          <p:cNvSpPr>
            <a:spLocks xmlns:a="http://schemas.openxmlformats.org/drawingml/2006/main" noGrp="1"/>
          </p:cNvSpPr>
          <p:nvPr/>
        </p:nvSpPr>
        <p:spPr>
          <a:xfrm xmlns:a="http://schemas.openxmlformats.org/drawingml/2006/main">
            <a:off x="6381750" y="3133725"/>
            <a:ext cx="5200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C75E00"/>
                </a:solidFill>
                <a:latin typeface="Hanken Grotesk"/>
                <a:ea typeface="Hanken Grotesk"/>
                <a:cs typeface="Hanken Grotesk"/>
              </a:defRPr>
            </a:defPPr>
          </a:lstStyle>
          <a:p xmlns:a="http://schemas.openxmlformats.org/drawingml/2006/main">
            <a:pPr algn="l">
              <a:lnSpc>
                <a:spcPct val="110000"/>
              </a:lnSpc>
              <a:buNone/>
              <a:defRPr sz="1275" b="1">
                <a:solidFill>
                  <a:srgbClr val="C75E00"/>
                </a:solidFill>
                <a:latin typeface="Hanken Grotesk"/>
                <a:ea typeface="Hanken Grotesk"/>
                <a:cs typeface="Hanken Grotesk"/>
              </a:defRPr>
            </a:pPr>
            <a:r>
              <a:rPr sz="1275" b="1">
                <a:solidFill>
                  <a:srgbClr val="C75E00"/>
                </a:solidFill>
                <a:latin typeface="Hanken Grotesk"/>
                <a:ea typeface="Hanken Grotesk"/>
                <a:cs typeface="Hanken Grotesk"/>
              </a:rPr>
              <a:t>VALIDATED EVALUATOR + EXECUTION CONTROLS</a:t>
            </a:r>
          </a:p>
        </p:txBody>
      </p:sp>
      <p:sp>
        <p:nvSpPr>
          <p:cNvPr id="10" name="Representative repeated outcomes&#10;Tolerable failures and tota">
            <a:extLst xmlns:a="http://schemas.openxmlformats.org/drawingml/2006/main">
              <a:ext uri="{FF2B5EF4-FFF2-40B4-BE49-F238E27FC236}">
                <a16:creationId xmlns:a16="http://schemas.microsoft.com/office/drawing/2014/main" id="{9B74315E-A1CD-41FE-AC65-D67622B3454C}"/>
              </a:ext>
            </a:extLst>
          </p:cNvPr>
          <p:cNvSpPr>
            <a:spLocks xmlns:a="http://schemas.openxmlformats.org/drawingml/2006/main" noGrp="1"/>
          </p:cNvSpPr>
          <p:nvPr/>
        </p:nvSpPr>
        <p:spPr>
          <a:xfrm xmlns:a="http://schemas.openxmlformats.org/drawingml/2006/main">
            <a:off x="609600" y="3514725"/>
            <a:ext cx="5248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A4039"/>
                </a:solidFill>
                <a:latin typeface="Hanken Grotesk"/>
                <a:ea typeface="Hanken Grotesk"/>
                <a:cs typeface="Hanken Grotesk"/>
              </a:defRPr>
            </a:defPPr>
          </a:lstStyle>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Representative repeated outcomes</a:t>
            </a:r>
          </a:p>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Tolerable failures and total burden</a:t>
            </a:r>
          </a:p>
        </p:txBody>
      </p:sp>
      <p:sp>
        <p:nvSpPr>
          <p:cNvPr id="11" name="Accept good work, detect defects&#10;and enforce the operating b">
            <a:extLst xmlns:a="http://schemas.openxmlformats.org/drawingml/2006/main">
              <a:ext uri="{FF2B5EF4-FFF2-40B4-BE49-F238E27FC236}">
                <a16:creationId xmlns:a16="http://schemas.microsoft.com/office/drawing/2014/main" id="{AB4AD2B4-B0DE-4130-A327-F9442C6E8C6D}"/>
              </a:ext>
            </a:extLst>
          </p:cNvPr>
          <p:cNvSpPr>
            <a:spLocks xmlns:a="http://schemas.openxmlformats.org/drawingml/2006/main" noGrp="1"/>
          </p:cNvSpPr>
          <p:nvPr/>
        </p:nvSpPr>
        <p:spPr>
          <a:xfrm xmlns:a="http://schemas.openxmlformats.org/drawingml/2006/main">
            <a:off x="6381750" y="3514725"/>
            <a:ext cx="5200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A4039"/>
                </a:solidFill>
                <a:latin typeface="Hanken Grotesk"/>
                <a:ea typeface="Hanken Grotesk"/>
                <a:cs typeface="Hanken Grotesk"/>
              </a:defRPr>
            </a:defPPr>
          </a:lstStyle>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Accept good work, detect defects</a:t>
            </a:r>
          </a:p>
          <a:p xmlns:a="http://schemas.openxmlformats.org/drawingml/2006/main">
            <a:pPr algn="l">
              <a:lnSpc>
                <a:spcPct val="110000"/>
              </a:lnSpc>
              <a:buNone/>
              <a:defRPr sz="2025" b="0">
                <a:solidFill>
                  <a:srgbClr val="4A4039"/>
                </a:solidFill>
                <a:latin typeface="Hanken Grotesk"/>
                <a:ea typeface="Hanken Grotesk"/>
                <a:cs typeface="Hanken Grotesk"/>
              </a:defRPr>
            </a:pPr>
            <a:r>
              <a:rPr sz="2025" b="0">
                <a:solidFill>
                  <a:srgbClr val="4A4039"/>
                </a:solidFill>
                <a:latin typeface="Hanken Grotesk"/>
                <a:ea typeface="Hanken Grotesk"/>
                <a:cs typeface="Hanken Grotesk"/>
              </a:rPr>
              <a:t>and enforce the operating boundary</a:t>
            </a:r>
          </a:p>
        </p:txBody>
      </p:sp>
      <p:sp>
        <p:nvSpPr>
          <p:cNvPr id="12" name="Human owner: acceptable risk and conflicting business values">
            <a:extLst xmlns:a="http://schemas.openxmlformats.org/drawingml/2006/main">
              <a:ext uri="{FF2B5EF4-FFF2-40B4-BE49-F238E27FC236}">
                <a16:creationId xmlns:a16="http://schemas.microsoft.com/office/drawing/2014/main" id="{50826CBE-BF62-45EA-B99A-C8932D91059F}"/>
              </a:ext>
            </a:extLst>
          </p:cNvPr>
          <p:cNvSpPr>
            <a:spLocks xmlns:a="http://schemas.openxmlformats.org/drawingml/2006/main" noGrp="1"/>
          </p:cNvSpPr>
          <p:nvPr/>
        </p:nvSpPr>
        <p:spPr>
          <a:xfrm xmlns:a="http://schemas.openxmlformats.org/drawingml/2006/main">
            <a:off x="609600" y="44386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241B13"/>
                </a:solidFill>
                <a:latin typeface="Literata"/>
                <a:ea typeface="Literata"/>
                <a:cs typeface="Literata"/>
              </a:defRPr>
            </a:defPPr>
          </a:lstStyle>
          <a:p xmlns:a="http://schemas.openxmlformats.org/drawingml/2006/main">
            <a:pPr algn="l">
              <a:lnSpc>
                <a:spcPct val="110000"/>
              </a:lnSpc>
              <a:buNone/>
              <a:defRPr sz="2025" b="0">
                <a:solidFill>
                  <a:srgbClr val="241B13"/>
                </a:solidFill>
                <a:latin typeface="Literata"/>
                <a:ea typeface="Literata"/>
                <a:cs typeface="Literata"/>
              </a:defRPr>
            </a:pPr>
            <a:r>
              <a:rPr sz="2025" b="0">
                <a:solidFill>
                  <a:srgbClr val="241B13"/>
                </a:solidFill>
                <a:latin typeface="Literata"/>
                <a:ea typeface="Literata"/>
                <a:cs typeface="Literata"/>
              </a:rPr>
              <a:t>Human owner: acceptable risk and conflicting business values</a:t>
            </a:r>
          </a:p>
        </p:txBody>
      </p:sp>
      <p:sp>
        <p:nvSpPr>
          <p:cNvPr id="13" name="Expand within the tested boundary">
            <a:extLst xmlns:a="http://schemas.openxmlformats.org/drawingml/2006/main">
              <a:ext uri="{FF2B5EF4-FFF2-40B4-BE49-F238E27FC236}">
                <a16:creationId xmlns:a16="http://schemas.microsoft.com/office/drawing/2014/main" id="{793220B5-FC8D-4ACF-A643-0589C8938289}"/>
              </a:ext>
            </a:extLst>
          </p:cNvPr>
          <p:cNvSpPr>
            <a:spLocks xmlns:a="http://schemas.openxmlformats.org/drawingml/2006/main" noGrp="1"/>
          </p:cNvSpPr>
          <p:nvPr/>
        </p:nvSpPr>
        <p:spPr>
          <a:xfrm xmlns:a="http://schemas.openxmlformats.org/drawingml/2006/main">
            <a:off x="609600" y="5086350"/>
            <a:ext cx="327660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Expand within</a:t>
            </a:r>
          </a:p>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the tested boundary</a:t>
            </a:r>
          </a:p>
        </p:txBody>
      </p:sp>
      <p:sp>
        <p:nvSpPr>
          <p:cNvPr id="14" name="Retain review">
            <a:extLst xmlns:a="http://schemas.openxmlformats.org/drawingml/2006/main">
              <a:ext uri="{FF2B5EF4-FFF2-40B4-BE49-F238E27FC236}">
                <a16:creationId xmlns:a16="http://schemas.microsoft.com/office/drawing/2014/main" id="{82CA8C56-1D82-4071-9E5E-4AF84A9FC2A0}"/>
              </a:ext>
            </a:extLst>
          </p:cNvPr>
          <p:cNvSpPr>
            <a:spLocks xmlns:a="http://schemas.openxmlformats.org/drawingml/2006/main" noGrp="1"/>
          </p:cNvSpPr>
          <p:nvPr/>
        </p:nvSpPr>
        <p:spPr>
          <a:xfrm xmlns:a="http://schemas.openxmlformats.org/drawingml/2006/main">
            <a:off x="4457700" y="5086350"/>
            <a:ext cx="327660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DDD7CC"/>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241B13"/>
                </a:solidFill>
                <a:latin typeface="Hanken Grotesk"/>
                <a:ea typeface="Hanken Grotesk"/>
                <a:cs typeface="Hanken Grotesk"/>
              </a:defRPr>
            </a:defPPr>
          </a:lstStyle>
          <a:p xmlns:a="http://schemas.openxmlformats.org/drawingml/2006/main">
            <a:pPr algn="ctr">
              <a:lnSpc>
                <a:spcPct val="110000"/>
              </a:lnSpc>
              <a:buNone/>
              <a:defRPr sz="2100" b="0">
                <a:solidFill>
                  <a:srgbClr val="241B13"/>
                </a:solidFill>
                <a:latin typeface="Hanken Grotesk"/>
                <a:ea typeface="Hanken Grotesk"/>
                <a:cs typeface="Hanken Grotesk"/>
              </a:defRPr>
            </a:pPr>
            <a:r>
              <a:rPr sz="2100" b="0">
                <a:solidFill>
                  <a:srgbClr val="241B13"/>
                </a:solidFill>
                <a:latin typeface="Hanken Grotesk"/>
                <a:ea typeface="Hanken Grotesk"/>
                <a:cs typeface="Hanken Grotesk"/>
              </a:rPr>
              <a:t>Retain review</a:t>
            </a:r>
          </a:p>
        </p:txBody>
      </p:sp>
      <p:sp>
        <p:nvSpPr>
          <p:cNvPr id="15" name="Stop and escalate">
            <a:extLst xmlns:a="http://schemas.openxmlformats.org/drawingml/2006/main">
              <a:ext uri="{FF2B5EF4-FFF2-40B4-BE49-F238E27FC236}">
                <a16:creationId xmlns:a16="http://schemas.microsoft.com/office/drawing/2014/main" id="{02CE5921-A56E-4347-BBDC-2A63D9BDC1CD}"/>
              </a:ext>
            </a:extLst>
          </p:cNvPr>
          <p:cNvSpPr>
            <a:spLocks xmlns:a="http://schemas.openxmlformats.org/drawingml/2006/main" noGrp="1"/>
          </p:cNvSpPr>
          <p:nvPr/>
        </p:nvSpPr>
        <p:spPr>
          <a:xfrm xmlns:a="http://schemas.openxmlformats.org/drawingml/2006/main">
            <a:off x="8305800" y="5086350"/>
            <a:ext cx="3276600" cy="762000"/>
          </a:xfrm>
          <a:prstGeom xmlns:a="http://schemas.openxmlformats.org/drawingml/2006/main" prst="rect">
            <a:avLst/>
          </a:prstGeom>
          <a:solidFill xmlns:a="http://schemas.openxmlformats.org/drawingml/2006/main">
            <a:srgbClr val="FDFAF4"/>
          </a:solidFill>
          <a:ln xmlns:a="http://schemas.openxmlformats.org/drawingml/2006/main" w="14288">
            <a:solidFill>
              <a:srgbClr val="C75E00"/>
            </a:solidFill>
          </a:ln>
        </p:spPr>
        <p:txBody>
          <a:bodyPr xmlns:a="http://schemas.openxmlformats.org/drawingml/2006/main" wrap="none" lIns="76200" tIns="76200" rIns="76200" bIns="76200" anchor="ctr">
            <a:noAutofit/>
          </a:bodyPr>
          <a:lstStyle xmlns:a="http://schemas.openxmlformats.org/drawingml/2006/main">
            <a:defPPr algn="ctr">
              <a:defRPr sz="2100" b="0">
                <a:solidFill>
                  <a:srgbClr val="C75E00"/>
                </a:solidFill>
                <a:latin typeface="Hanken Grotesk"/>
                <a:ea typeface="Hanken Grotesk"/>
                <a:cs typeface="Hanken Grotesk"/>
              </a:defRPr>
            </a:defPPr>
          </a:lstStyle>
          <a:p xmlns:a="http://schemas.openxmlformats.org/drawingml/2006/main">
            <a:pPr algn="ctr">
              <a:lnSpc>
                <a:spcPct val="110000"/>
              </a:lnSpc>
              <a:buNone/>
              <a:defRPr sz="2100" b="0">
                <a:solidFill>
                  <a:srgbClr val="C75E00"/>
                </a:solidFill>
                <a:latin typeface="Hanken Grotesk"/>
                <a:ea typeface="Hanken Grotesk"/>
                <a:cs typeface="Hanken Grotesk"/>
              </a:defRPr>
            </a:pPr>
            <a:r>
              <a:rPr sz="2100" b="0">
                <a:solidFill>
                  <a:srgbClr val="C75E00"/>
                </a:solidFill>
                <a:latin typeface="Hanken Grotesk"/>
                <a:ea typeface="Hanken Grotesk"/>
                <a:cs typeface="Hanken Grotesk"/>
              </a:rPr>
              <a:t>Stop and escalate</a:t>
            </a:r>
          </a:p>
        </p:txBody>
      </p:sp>
      <p:sp>
        <p:nvSpPr>
          <p:cNvPr id="16" name="Stop for missing evidence, a failed gate or changed scope.">
            <a:extLst xmlns:a="http://schemas.openxmlformats.org/drawingml/2006/main">
              <a:ext uri="{FF2B5EF4-FFF2-40B4-BE49-F238E27FC236}">
                <a16:creationId xmlns:a16="http://schemas.microsoft.com/office/drawing/2014/main" id="{E239FADB-C7C6-422E-A53A-2D0FF3F73255}"/>
              </a:ext>
            </a:extLst>
          </p:cNvPr>
          <p:cNvSpPr>
            <a:spLocks xmlns:a="http://schemas.openxmlformats.org/drawingml/2006/main" noGrp="1"/>
          </p:cNvSpPr>
          <p:nvPr/>
        </p:nvSpPr>
        <p:spPr>
          <a:xfrm xmlns:a="http://schemas.openxmlformats.org/drawingml/2006/main">
            <a:off x="609600" y="5981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4A4039"/>
                </a:solidFill>
                <a:latin typeface="Hanken Grotesk"/>
                <a:ea typeface="Hanken Grotesk"/>
                <a:cs typeface="Hanken Grotesk"/>
              </a:defRPr>
            </a:defPPr>
          </a:lstStyle>
          <a:p xmlns:a="http://schemas.openxmlformats.org/drawingml/2006/main">
            <a:pPr algn="l">
              <a:lnSpc>
                <a:spcPct val="110000"/>
              </a:lnSpc>
              <a:buNone/>
              <a:defRPr sz="1725" b="0">
                <a:solidFill>
                  <a:srgbClr val="4A4039"/>
                </a:solidFill>
                <a:latin typeface="Hanken Grotesk"/>
                <a:ea typeface="Hanken Grotesk"/>
                <a:cs typeface="Hanken Grotesk"/>
              </a:defRPr>
            </a:pPr>
            <a:r>
              <a:rPr sz="1725" b="0">
                <a:solidFill>
                  <a:srgbClr val="4A4039"/>
                </a:solidFill>
                <a:latin typeface="Hanken Grotesk"/>
                <a:ea typeface="Hanken Grotesk"/>
                <a:cs typeface="Hanken Grotesk"/>
              </a:rPr>
              <a:t>Stop for missing evidence, a failed gate or changed scope.</a:t>
            </a:r>
          </a:p>
        </p:txBody>
      </p:sp>
    </p:spTree>
    <p:extLst>
      <p:ext uri="{BB962C8B-B14F-4D97-AF65-F5344CB8AC3E}">
        <p14:creationId xmlns:p14="http://schemas.microsoft.com/office/powerpoint/2010/main" val="10193665"/>
      </p:ext>
    </p:extLst>
  </p:cSld>
</p:sld>
</file>

<file path=ppt/slides/slide1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7" name="Evaluation procedures and references">
            <a:extLst xmlns:a="http://schemas.openxmlformats.org/drawingml/2006/main">
              <a:ext uri="{FF2B5EF4-FFF2-40B4-BE49-F238E27FC236}">
                <a16:creationId xmlns:a16="http://schemas.microsoft.com/office/drawing/2014/main" id="{0BC611DB-B38F-4D37-9BCD-E17F1573A040}"/>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241B13"/>
                </a:solidFill>
                <a:latin typeface="Literata"/>
                <a:ea typeface="Literata"/>
                <a:cs typeface="Literata"/>
              </a:defRPr>
            </a:defPPr>
          </a:lstStyle>
          <a:p xmlns:a="http://schemas.openxmlformats.org/drawingml/2006/main">
            <a:pPr algn="l">
              <a:lnSpc>
                <a:spcPct val="110000"/>
              </a:lnSpc>
              <a:buNone/>
              <a:defRPr sz="3600" b="0">
                <a:solidFill>
                  <a:srgbClr val="241B13"/>
                </a:solidFill>
                <a:latin typeface="Literata"/>
                <a:ea typeface="Literata"/>
                <a:cs typeface="Literata"/>
              </a:defRPr>
            </a:pPr>
            <a:r>
              <a:rPr sz="3600" b="0">
                <a:solidFill>
                  <a:srgbClr val="241B13"/>
                </a:solidFill>
                <a:latin typeface="Literata"/>
                <a:ea typeface="Literata"/>
                <a:cs typeface="Literata"/>
              </a:rPr>
              <a:t>Evaluation procedures and references</a:t>
            </a:r>
          </a:p>
        </p:txBody>
      </p:sp>
      <p:sp>
        <p:nvSpPr>
          <p:cNvPr id="2" name="">
            <a:extLst xmlns:a="http://schemas.openxmlformats.org/drawingml/2006/main">
              <a:ext uri="{FF2B5EF4-FFF2-40B4-BE49-F238E27FC236}">
                <a16:creationId xmlns:a16="http://schemas.microsoft.com/office/drawing/2014/main" id="{BF87F0C0-F66C-47BA-8EE2-E9F35A937C08}"/>
              </a:ext>
            </a:extLst>
          </p:cNvPr>
          <p:cNvSpPr>
            <a:spLocks xmlns:a="http://schemas.openxmlformats.org/drawingml/2006/main" noGrp="1"/>
          </p:cNvSpPr>
          <p:nvPr/>
        </p:nvSpPr>
        <p:spPr>
          <a:xfrm xmlns:a="http://schemas.openxmlformats.org/drawingml/2006/main">
            <a:off x="609600" y="637222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766D62"/>
                </a:solidFill>
                <a:latin typeface="Hanken Grotesk"/>
                <a:ea typeface="Hanken Grotesk"/>
                <a:cs typeface="Hanken Grotesk"/>
              </a:defRPr>
            </a:defPPr>
          </a:lstStyle>
          <a:p xmlns:a="http://schemas.openxmlformats.org/drawingml/2006/main">
            <a:r>
              <a:t/>
            </a:r>
          </a:p>
        </p:txBody>
      </p:sp>
      <p:sp>
        <p:nvSpPr>
          <p:cNvPr id="3" name="14">
            <a:extLst xmlns:a="http://schemas.openxmlformats.org/drawingml/2006/main">
              <a:ext uri="{FF2B5EF4-FFF2-40B4-BE49-F238E27FC236}">
                <a16:creationId xmlns:a16="http://schemas.microsoft.com/office/drawing/2014/main" id="{391139DC-8E49-41D9-9E38-3A8A8057986A}"/>
              </a:ext>
            </a:extLst>
          </p:cNvPr>
          <p:cNvSpPr>
            <a:spLocks xmlns:a="http://schemas.openxmlformats.org/drawingml/2006/main" noGrp="1"/>
          </p:cNvSpPr>
          <p:nvPr/>
        </p:nvSpPr>
        <p:spPr>
          <a:xfrm xmlns:a="http://schemas.openxmlformats.org/drawingml/2006/main">
            <a:off x="11191875"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766D62"/>
                </a:solidFill>
                <a:latin typeface="Hanken Grotesk"/>
                <a:ea typeface="Hanken Grotesk"/>
                <a:cs typeface="Hanken Grotesk"/>
              </a:defRPr>
            </a:defPPr>
          </a:lstStyle>
          <a:p xmlns:a="http://schemas.openxmlformats.org/drawingml/2006/main">
            <a:pPr algn="r">
              <a:lnSpc>
                <a:spcPct val="110000"/>
              </a:lnSpc>
              <a:buNone/>
              <a:defRPr sz="1200" b="0">
                <a:solidFill>
                  <a:srgbClr val="766D62"/>
                </a:solidFill>
                <a:latin typeface="Hanken Grotesk"/>
                <a:ea typeface="Hanken Grotesk"/>
                <a:cs typeface="Hanken Grotesk"/>
              </a:defRPr>
            </a:pPr>
            <a:r>
              <a:rPr sz="1200" b="0">
                <a:solidFill>
                  <a:srgbClr val="766D62"/>
                </a:solidFill>
                <a:latin typeface="Hanken Grotesk"/>
                <a:ea typeface="Hanken Grotesk"/>
                <a:cs typeface="Hanken Grotesk"/>
              </a:rPr>
              <a:t>14</a:t>
            </a:r>
          </a:p>
        </p:txBody>
      </p:sp>
      <p:sp>
        <p:nvSpPr>
          <p:cNvPr id="4" name="Coding Agent Workflows">
            <a:extLst xmlns:a="http://schemas.openxmlformats.org/drawingml/2006/main">
              <a:ext uri="{FF2B5EF4-FFF2-40B4-BE49-F238E27FC236}">
                <a16:creationId xmlns:a16="http://schemas.microsoft.com/office/drawing/2014/main" id="{79DB27AE-89AA-4CEC-855C-38300449ED97}"/>
              </a:ext>
            </a:extLst>
          </p:cNvPr>
          <p:cNvSpPr>
            <a:spLocks xmlns:a="http://schemas.openxmlformats.org/drawingml/2006/main" noGrp="1"/>
          </p:cNvSpPr>
          <p:nvPr/>
        </p:nvSpPr>
        <p:spPr>
          <a:xfrm xmlns:a="http://schemas.openxmlformats.org/drawingml/2006/main">
            <a:off x="609600" y="1724025"/>
            <a:ext cx="3790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41B13"/>
                </a:solidFill>
                <a:latin typeface="Literata"/>
                <a:ea typeface="Literata"/>
                <a:cs typeface="Literata"/>
              </a:defRPr>
            </a:defPPr>
          </a:lstStyle>
          <a:p xmlns:a="http://schemas.openxmlformats.org/drawingml/2006/main">
            <a:pPr algn="l">
              <a:lnSpc>
                <a:spcPct val="110000"/>
              </a:lnSpc>
              <a:buNone/>
              <a:defRPr sz="2175" b="0">
                <a:solidFill>
                  <a:srgbClr val="241B13"/>
                </a:solidFill>
                <a:latin typeface="Literata"/>
                <a:ea typeface="Literata"/>
                <a:cs typeface="Literata"/>
              </a:defRPr>
            </a:pPr>
            <a:r>
              <a:rPr sz="2175" b="0">
                <a:solidFill>
                  <a:srgbClr val="241B13"/>
                </a:solidFill>
                <a:latin typeface="Literata"/>
                <a:ea typeface="Literata"/>
                <a:cs typeface="Literata"/>
              </a:rPr>
              <a:t>Coding Agent Workflows</a:t>
            </a:r>
          </a:p>
        </p:txBody>
      </p:sp>
      <p:pic>
        <p:nvPicPr>
          <p:cNvPr id="5" name="">
            <a:extLst xmlns:a="http://schemas.openxmlformats.org/drawingml/2006/main">
              <a:ext uri="{FF2B5EF4-FFF2-40B4-BE49-F238E27FC236}">
                <a16:creationId xmlns:a16="http://schemas.microsoft.com/office/drawing/2014/main" id="{9CD694D7-73D5-4E02-AF9E-C54F39F7B1FC}"/>
              </a:ext>
            </a:extLst>
          </p:cNvPr>
          <p:cNvPicPr>
            <a:picLocks xmlns:a="http://schemas.openxmlformats.org/drawingml/2006/main" noChangeAspect="1"/>
          </p:cNvPicPr>
          <p:nvPr/>
        </p:nvPicPr>
        <p:blipFill>
          <a:blip xmlns:r="http://schemas.openxmlformats.org/officeDocument/2006/relationships" xmlns:a="http://schemas.openxmlformats.org/drawingml/2006/main" r:embed="R11fb5c320b734c92"/>
          <a:stretch xmlns:a="http://schemas.openxmlformats.org/drawingml/2006/main"/>
        </p:blipFill>
        <p:spPr>
          <a:xfrm xmlns:a="http://schemas.openxmlformats.org/drawingml/2006/main">
            <a:off x="609600" y="2305050"/>
            <a:ext cx="3124200" cy="3124200"/>
          </a:xfrm>
          <a:prstGeom xmlns:a="http://schemas.openxmlformats.org/drawingml/2006/main" prst="rect">
            <a:avLst/>
          </a:prstGeom>
        </p:spPr>
      </p:pic>
      <p:sp>
        <p:nvSpPr>
          <p:cNvPr id="6" name="github.com/sjarmak/&#10;coding-agent-workflows">
            <a:extLst xmlns:a="http://schemas.openxmlformats.org/drawingml/2006/main">
              <a:ext uri="{FF2B5EF4-FFF2-40B4-BE49-F238E27FC236}">
                <a16:creationId xmlns:a16="http://schemas.microsoft.com/office/drawing/2014/main" id="{9BB2B276-687D-4BFC-8C54-5BD17F1D23E7}"/>
              </a:ext>
            </a:extLst>
          </p:cNvPr>
          <p:cNvSpPr>
            <a:spLocks xmlns:a="http://schemas.openxmlformats.org/drawingml/2006/main" noGrp="1"/>
          </p:cNvSpPr>
          <p:nvPr/>
        </p:nvSpPr>
        <p:spPr>
          <a:xfrm xmlns:a="http://schemas.openxmlformats.org/drawingml/2006/main">
            <a:off x="609600" y="5657850"/>
            <a:ext cx="3914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C75E00"/>
                </a:solidFill>
                <a:latin typeface="Hanken Grotesk"/>
                <a:ea typeface="Hanken Grotesk"/>
                <a:cs typeface="Hanken Grotesk"/>
              </a:defRPr>
            </a:defPPr>
          </a:lstStyle>
          <a:p xmlns:a="http://schemas.openxmlformats.org/drawingml/2006/main">
            <a:pPr algn="l">
              <a:lnSpc>
                <a:spcPct val="110000"/>
              </a:lnSpc>
              <a:buNone/>
              <a:defRPr sz="1875" b="0">
                <a:solidFill>
                  <a:srgbClr val="C75E00"/>
                </a:solidFill>
                <a:latin typeface="Hanken Grotesk"/>
                <a:ea typeface="Hanken Grotesk"/>
                <a:cs typeface="Hanken Grotesk"/>
              </a:defRPr>
            </a:pPr>
            <a:r>
              <a:rPr sz="1875" b="0">
                <a:solidFill>
                  <a:srgbClr val="C75E00"/>
                </a:solidFill>
                <a:latin typeface="Hanken Grotesk"/>
                <a:ea typeface="Hanken Grotesk"/>
                <a:cs typeface="Hanken Grotesk"/>
                <a:hlinkClick xmlns:r="http://schemas.openxmlformats.org/officeDocument/2006/relationships" r:id="R21f7e72e533b42dd"/>
              </a:rPr>
              <a:t>github.com/sjarmak/</a:t>
            </a:r>
          </a:p>
          <a:p xmlns:a="http://schemas.openxmlformats.org/drawingml/2006/main">
            <a:pPr algn="l">
              <a:lnSpc>
                <a:spcPct val="110000"/>
              </a:lnSpc>
              <a:buNone/>
              <a:defRPr sz="1875" b="0">
                <a:solidFill>
                  <a:srgbClr val="C75E00"/>
                </a:solidFill>
                <a:latin typeface="Hanken Grotesk"/>
                <a:ea typeface="Hanken Grotesk"/>
                <a:cs typeface="Hanken Grotesk"/>
              </a:defRPr>
            </a:pPr>
            <a:r>
              <a:rPr sz="1875" b="0">
                <a:solidFill>
                  <a:srgbClr val="C75E00"/>
                </a:solidFill>
                <a:latin typeface="Hanken Grotesk"/>
                <a:ea typeface="Hanken Grotesk"/>
                <a:cs typeface="Hanken Grotesk"/>
                <a:hlinkClick xmlns:r="http://schemas.openxmlformats.org/officeDocument/2006/relationships" r:id="Rc282214f4a724492"/>
              </a:rPr>
              <a:t>coding-agent-workflows</a:t>
            </a:r>
          </a:p>
        </p:txBody>
      </p:sp>
      <p:sp>
        <p:nvSpPr>
          <p:cNvPr id="7" name="THREE PROCEDURES">
            <a:extLst xmlns:a="http://schemas.openxmlformats.org/drawingml/2006/main">
              <a:ext uri="{FF2B5EF4-FFF2-40B4-BE49-F238E27FC236}">
                <a16:creationId xmlns:a16="http://schemas.microsoft.com/office/drawing/2014/main" id="{BFFD160B-9F59-48D7-9A53-E11EBF2D8D89}"/>
              </a:ext>
            </a:extLst>
          </p:cNvPr>
          <p:cNvSpPr>
            <a:spLocks xmlns:a="http://schemas.openxmlformats.org/drawingml/2006/main" noGrp="1"/>
          </p:cNvSpPr>
          <p:nvPr/>
        </p:nvSpPr>
        <p:spPr>
          <a:xfrm xmlns:a="http://schemas.openxmlformats.org/drawingml/2006/main">
            <a:off x="4953000" y="1752600"/>
            <a:ext cx="662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THREE PROCEDURES</a:t>
            </a:r>
          </a:p>
        </p:txBody>
      </p:sp>
      <p:sp>
        <p:nvSpPr>
          <p:cNvPr id="8" name="Evaluation design">
            <a:extLst xmlns:a="http://schemas.openxmlformats.org/drawingml/2006/main">
              <a:ext uri="{FF2B5EF4-FFF2-40B4-BE49-F238E27FC236}">
                <a16:creationId xmlns:a16="http://schemas.microsoft.com/office/drawing/2014/main" id="{95D19E4E-B52D-4FC1-A9AD-87DA0A3B1BE7}"/>
              </a:ext>
            </a:extLst>
          </p:cNvPr>
          <p:cNvSpPr>
            <a:spLocks xmlns:a="http://schemas.openxmlformats.org/drawingml/2006/main" noGrp="1"/>
          </p:cNvSpPr>
          <p:nvPr/>
        </p:nvSpPr>
        <p:spPr>
          <a:xfrm xmlns:a="http://schemas.openxmlformats.org/drawingml/2006/main">
            <a:off x="4953000" y="2181225"/>
            <a:ext cx="6629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C75E00"/>
                </a:solidFill>
                <a:latin typeface="Hanken Grotesk"/>
                <a:ea typeface="Hanken Grotesk"/>
                <a:cs typeface="Hanken Grotesk"/>
              </a:defRPr>
            </a:defPPr>
          </a:lstStyle>
          <a:p xmlns:a="http://schemas.openxmlformats.org/drawingml/2006/main">
            <a:pPr algn="l">
              <a:lnSpc>
                <a:spcPct val="110000"/>
              </a:lnSpc>
              <a:buNone/>
              <a:defRPr sz="2250" b="0">
                <a:solidFill>
                  <a:srgbClr val="C75E00"/>
                </a:solidFill>
                <a:latin typeface="Hanken Grotesk"/>
                <a:ea typeface="Hanken Grotesk"/>
                <a:cs typeface="Hanken Grotesk"/>
              </a:defRPr>
            </a:pPr>
            <a:r>
              <a:rPr sz="2250" b="0">
                <a:solidFill>
                  <a:srgbClr val="C75E00"/>
                </a:solidFill>
                <a:latin typeface="Hanken Grotesk"/>
                <a:ea typeface="Hanken Grotesk"/>
                <a:cs typeface="Hanken Grotesk"/>
                <a:hlinkClick xmlns:r="http://schemas.openxmlformats.org/officeDocument/2006/relationships" r:id="Ra427ea2b31d746f3"/>
              </a:rPr>
              <a:t>Evaluation design</a:t>
            </a:r>
          </a:p>
        </p:txBody>
      </p:sp>
      <p:sp>
        <p:nvSpPr>
          <p:cNvPr id="9" name="Harness traceability">
            <a:extLst xmlns:a="http://schemas.openxmlformats.org/drawingml/2006/main">
              <a:ext uri="{FF2B5EF4-FFF2-40B4-BE49-F238E27FC236}">
                <a16:creationId xmlns:a16="http://schemas.microsoft.com/office/drawing/2014/main" id="{58F9C00E-67DC-43C7-8BE1-4B881C739675}"/>
              </a:ext>
            </a:extLst>
          </p:cNvPr>
          <p:cNvSpPr>
            <a:spLocks xmlns:a="http://schemas.openxmlformats.org/drawingml/2006/main" noGrp="1"/>
          </p:cNvSpPr>
          <p:nvPr/>
        </p:nvSpPr>
        <p:spPr>
          <a:xfrm xmlns:a="http://schemas.openxmlformats.org/drawingml/2006/main">
            <a:off x="4953000" y="2724150"/>
            <a:ext cx="6629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C75E00"/>
                </a:solidFill>
                <a:latin typeface="Hanken Grotesk"/>
                <a:ea typeface="Hanken Grotesk"/>
                <a:cs typeface="Hanken Grotesk"/>
              </a:defRPr>
            </a:defPPr>
          </a:lstStyle>
          <a:p xmlns:a="http://schemas.openxmlformats.org/drawingml/2006/main">
            <a:pPr algn="l">
              <a:lnSpc>
                <a:spcPct val="110000"/>
              </a:lnSpc>
              <a:buNone/>
              <a:defRPr sz="2250" b="0">
                <a:solidFill>
                  <a:srgbClr val="C75E00"/>
                </a:solidFill>
                <a:latin typeface="Hanken Grotesk"/>
                <a:ea typeface="Hanken Grotesk"/>
                <a:cs typeface="Hanken Grotesk"/>
              </a:defRPr>
            </a:pPr>
            <a:r>
              <a:rPr sz="2250" b="0">
                <a:solidFill>
                  <a:srgbClr val="C75E00"/>
                </a:solidFill>
                <a:latin typeface="Hanken Grotesk"/>
                <a:ea typeface="Hanken Grotesk"/>
                <a:cs typeface="Hanken Grotesk"/>
                <a:hlinkClick xmlns:r="http://schemas.openxmlformats.org/officeDocument/2006/relationships" r:id="R4f815d8e9bb9415d"/>
              </a:rPr>
              <a:t>Harness traceability</a:t>
            </a:r>
          </a:p>
        </p:txBody>
      </p:sp>
      <p:sp>
        <p:nvSpPr>
          <p:cNvPr id="10" name="Reliability procedures">
            <a:extLst xmlns:a="http://schemas.openxmlformats.org/drawingml/2006/main">
              <a:ext uri="{FF2B5EF4-FFF2-40B4-BE49-F238E27FC236}">
                <a16:creationId xmlns:a16="http://schemas.microsoft.com/office/drawing/2014/main" id="{C1E91668-E576-4B71-A284-873F77F1851D}"/>
              </a:ext>
            </a:extLst>
          </p:cNvPr>
          <p:cNvSpPr>
            <a:spLocks xmlns:a="http://schemas.openxmlformats.org/drawingml/2006/main" noGrp="1"/>
          </p:cNvSpPr>
          <p:nvPr/>
        </p:nvSpPr>
        <p:spPr>
          <a:xfrm xmlns:a="http://schemas.openxmlformats.org/drawingml/2006/main">
            <a:off x="4953000" y="3267075"/>
            <a:ext cx="6629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C75E00"/>
                </a:solidFill>
                <a:latin typeface="Hanken Grotesk"/>
                <a:ea typeface="Hanken Grotesk"/>
                <a:cs typeface="Hanken Grotesk"/>
              </a:defRPr>
            </a:defPPr>
          </a:lstStyle>
          <a:p xmlns:a="http://schemas.openxmlformats.org/drawingml/2006/main">
            <a:pPr algn="l">
              <a:lnSpc>
                <a:spcPct val="110000"/>
              </a:lnSpc>
              <a:buNone/>
              <a:defRPr sz="2250" b="0">
                <a:solidFill>
                  <a:srgbClr val="C75E00"/>
                </a:solidFill>
                <a:latin typeface="Hanken Grotesk"/>
                <a:ea typeface="Hanken Grotesk"/>
                <a:cs typeface="Hanken Grotesk"/>
              </a:defRPr>
            </a:pPr>
            <a:r>
              <a:rPr sz="2250" b="0">
                <a:solidFill>
                  <a:srgbClr val="C75E00"/>
                </a:solidFill>
                <a:latin typeface="Hanken Grotesk"/>
                <a:ea typeface="Hanken Grotesk"/>
                <a:cs typeface="Hanken Grotesk"/>
                <a:hlinkClick xmlns:r="http://schemas.openxmlformats.org/officeDocument/2006/relationships" r:id="R66c2c6f3533f4ac8"/>
              </a:rPr>
              <a:t>Reliability procedures</a:t>
            </a:r>
          </a:p>
        </p:txBody>
      </p:sp>
      <p:sp>
        <p:nvSpPr>
          <p:cNvPr id="11" name="">
            <a:extLst xmlns:a="http://schemas.openxmlformats.org/drawingml/2006/main">
              <a:ext uri="{FF2B5EF4-FFF2-40B4-BE49-F238E27FC236}">
                <a16:creationId xmlns:a16="http://schemas.microsoft.com/office/drawing/2014/main" id="{40B242E7-01AE-40DD-998C-FFEACDFFEBFA}"/>
              </a:ext>
            </a:extLst>
          </p:cNvPr>
          <p:cNvSpPr>
            <a:spLocks xmlns:a="http://schemas.openxmlformats.org/drawingml/2006/main" noGrp="1"/>
          </p:cNvSpPr>
          <p:nvPr/>
        </p:nvSpPr>
        <p:spPr>
          <a:xfrm xmlns:a="http://schemas.openxmlformats.org/drawingml/2006/main">
            <a:off x="4953000" y="3924300"/>
            <a:ext cx="6629400" cy="0"/>
          </a:xfrm>
          <a:prstGeom xmlns:a="http://schemas.openxmlformats.org/drawingml/2006/main" prst="line">
            <a:avLst/>
          </a:prstGeom>
          <a:noFill xmlns:a="http://schemas.openxmlformats.org/drawingml/2006/main"/>
          <a:ln xmlns:a="http://schemas.openxmlformats.org/drawingml/2006/main" w="12383">
            <a:solidFill>
              <a:srgbClr val="DDD7CC"/>
            </a:solidFill>
            <a:prstDash val="solid"/>
          </a:ln>
        </p:spPr>
      </p:sp>
      <p:sp>
        <p:nvSpPr>
          <p:cNvPr id="12" name="BOOK AND PAPER">
            <a:extLst xmlns:a="http://schemas.openxmlformats.org/drawingml/2006/main">
              <a:ext uri="{FF2B5EF4-FFF2-40B4-BE49-F238E27FC236}">
                <a16:creationId xmlns:a16="http://schemas.microsoft.com/office/drawing/2014/main" id="{4E8FFD2C-C8EF-4D9A-A919-218AB302F1F4}"/>
              </a:ext>
            </a:extLst>
          </p:cNvPr>
          <p:cNvSpPr>
            <a:spLocks xmlns:a="http://schemas.openxmlformats.org/drawingml/2006/main" noGrp="1"/>
          </p:cNvSpPr>
          <p:nvPr/>
        </p:nvSpPr>
        <p:spPr>
          <a:xfrm xmlns:a="http://schemas.openxmlformats.org/drawingml/2006/main">
            <a:off x="4953000" y="4191000"/>
            <a:ext cx="662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C75E00"/>
                </a:solidFill>
                <a:latin typeface="Hanken Grotesk"/>
                <a:ea typeface="Hanken Grotesk"/>
                <a:cs typeface="Hanken Grotesk"/>
              </a:defRPr>
            </a:defPPr>
          </a:lstStyle>
          <a:p xmlns:a="http://schemas.openxmlformats.org/drawingml/2006/main">
            <a:pPr algn="l">
              <a:lnSpc>
                <a:spcPct val="110000"/>
              </a:lnSpc>
              <a:buNone/>
              <a:defRPr sz="1350" b="1">
                <a:solidFill>
                  <a:srgbClr val="C75E00"/>
                </a:solidFill>
                <a:latin typeface="Hanken Grotesk"/>
                <a:ea typeface="Hanken Grotesk"/>
                <a:cs typeface="Hanken Grotesk"/>
              </a:defRPr>
            </a:pPr>
            <a:r>
              <a:rPr sz="1350" b="1">
                <a:solidFill>
                  <a:srgbClr val="C75E00"/>
                </a:solidFill>
                <a:latin typeface="Hanken Grotesk"/>
                <a:ea typeface="Hanken Grotesk"/>
                <a:cs typeface="Hanken Grotesk"/>
              </a:rPr>
              <a:t>BOOK AND PAPER</a:t>
            </a:r>
          </a:p>
        </p:txBody>
      </p:sp>
      <p:sp>
        <p:nvSpPr>
          <p:cNvPr id="13" name="Engineering Reliable Coding Agents">
            <a:extLst xmlns:a="http://schemas.openxmlformats.org/drawingml/2006/main">
              <a:ext uri="{FF2B5EF4-FFF2-40B4-BE49-F238E27FC236}">
                <a16:creationId xmlns:a16="http://schemas.microsoft.com/office/drawing/2014/main" id="{75B66660-3B25-46CB-9B07-575F2575987D}"/>
              </a:ext>
            </a:extLst>
          </p:cNvPr>
          <p:cNvSpPr>
            <a:spLocks xmlns:a="http://schemas.openxmlformats.org/drawingml/2006/main" noGrp="1"/>
          </p:cNvSpPr>
          <p:nvPr/>
        </p:nvSpPr>
        <p:spPr>
          <a:xfrm xmlns:a="http://schemas.openxmlformats.org/drawingml/2006/main">
            <a:off x="4953000" y="4572000"/>
            <a:ext cx="662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41B13"/>
                </a:solidFill>
                <a:latin typeface="Literata"/>
                <a:ea typeface="Literata"/>
                <a:cs typeface="Literata"/>
              </a:defRPr>
            </a:defPPr>
          </a:lstStyle>
          <a:p xmlns:a="http://schemas.openxmlformats.org/drawingml/2006/main">
            <a:pPr algn="l">
              <a:lnSpc>
                <a:spcPct val="110000"/>
              </a:lnSpc>
              <a:buNone/>
              <a:defRPr sz="2175" b="0">
                <a:solidFill>
                  <a:srgbClr val="241B13"/>
                </a:solidFill>
                <a:latin typeface="Literata"/>
                <a:ea typeface="Literata"/>
                <a:cs typeface="Literata"/>
              </a:defRPr>
            </a:pPr>
            <a:r>
              <a:rPr sz="2175" b="0">
                <a:solidFill>
                  <a:srgbClr val="241B13"/>
                </a:solidFill>
                <a:latin typeface="Literata"/>
                <a:ea typeface="Literata"/>
                <a:cs typeface="Literata"/>
              </a:rPr>
              <a:t>Engineering Reliable Coding Agents</a:t>
            </a:r>
          </a:p>
        </p:txBody>
      </p:sp>
      <p:sp>
        <p:nvSpPr>
          <p:cNvPr id="14" name="Evaluating and Operating the System&#10;Around the Model">
            <a:extLst xmlns:a="http://schemas.openxmlformats.org/drawingml/2006/main">
              <a:ext uri="{FF2B5EF4-FFF2-40B4-BE49-F238E27FC236}">
                <a16:creationId xmlns:a16="http://schemas.microsoft.com/office/drawing/2014/main" id="{8BBABB7B-00E0-4444-A9DD-7F1C7A17258A}"/>
              </a:ext>
            </a:extLst>
          </p:cNvPr>
          <p:cNvSpPr>
            <a:spLocks xmlns:a="http://schemas.openxmlformats.org/drawingml/2006/main" noGrp="1"/>
          </p:cNvSpPr>
          <p:nvPr/>
        </p:nvSpPr>
        <p:spPr>
          <a:xfrm xmlns:a="http://schemas.openxmlformats.org/drawingml/2006/main">
            <a:off x="4953000" y="5067300"/>
            <a:ext cx="6629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4A4039"/>
                </a:solidFill>
                <a:latin typeface="Hanken Grotesk"/>
                <a:ea typeface="Hanken Grotesk"/>
                <a:cs typeface="Hanken Grotesk"/>
              </a:defRPr>
            </a:defPPr>
          </a:lstStyle>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Evaluating and Operating the System</a:t>
            </a:r>
          </a:p>
          <a:p xmlns:a="http://schemas.openxmlformats.org/drawingml/2006/main">
            <a:pPr algn="l">
              <a:lnSpc>
                <a:spcPct val="110000"/>
              </a:lnSpc>
              <a:buNone/>
              <a:defRPr sz="1875" b="0">
                <a:solidFill>
                  <a:srgbClr val="4A4039"/>
                </a:solidFill>
                <a:latin typeface="Hanken Grotesk"/>
                <a:ea typeface="Hanken Grotesk"/>
                <a:cs typeface="Hanken Grotesk"/>
              </a:defRPr>
            </a:pPr>
            <a:r>
              <a:rPr sz="1875" b="0">
                <a:solidFill>
                  <a:srgbClr val="4A4039"/>
                </a:solidFill>
                <a:latin typeface="Hanken Grotesk"/>
                <a:ea typeface="Hanken Grotesk"/>
                <a:cs typeface="Hanken Grotesk"/>
              </a:rPr>
              <a:t>Around the Model</a:t>
            </a:r>
          </a:p>
        </p:txBody>
      </p:sp>
      <p:sp>
        <p:nvSpPr>
          <p:cNvPr id="15" name="sjarmak.ai/books/engineering-reliable-coding-agents">
            <a:extLst xmlns:a="http://schemas.openxmlformats.org/drawingml/2006/main">
              <a:ext uri="{FF2B5EF4-FFF2-40B4-BE49-F238E27FC236}">
                <a16:creationId xmlns:a16="http://schemas.microsoft.com/office/drawing/2014/main" id="{4571B49A-2DED-489F-8847-227983ABFA94}"/>
              </a:ext>
            </a:extLst>
          </p:cNvPr>
          <p:cNvSpPr>
            <a:spLocks xmlns:a="http://schemas.openxmlformats.org/drawingml/2006/main" noGrp="1"/>
          </p:cNvSpPr>
          <p:nvPr/>
        </p:nvSpPr>
        <p:spPr>
          <a:xfrm xmlns:a="http://schemas.openxmlformats.org/drawingml/2006/main">
            <a:off x="4953000" y="5829300"/>
            <a:ext cx="662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C75E00"/>
                </a:solidFill>
                <a:latin typeface="Hanken Grotesk"/>
                <a:ea typeface="Hanken Grotesk"/>
                <a:cs typeface="Hanken Grotesk"/>
              </a:defRPr>
            </a:defPPr>
          </a:lstStyle>
          <a:p xmlns:a="http://schemas.openxmlformats.org/drawingml/2006/main">
            <a:pPr algn="l">
              <a:lnSpc>
                <a:spcPct val="110000"/>
              </a:lnSpc>
              <a:buNone/>
              <a:defRPr sz="1575" b="0">
                <a:solidFill>
                  <a:srgbClr val="C75E00"/>
                </a:solidFill>
                <a:latin typeface="Hanken Grotesk"/>
                <a:ea typeface="Hanken Grotesk"/>
                <a:cs typeface="Hanken Grotesk"/>
              </a:defRPr>
            </a:pPr>
            <a:r>
              <a:rPr sz="1575" b="0">
                <a:solidFill>
                  <a:srgbClr val="C75E00"/>
                </a:solidFill>
                <a:latin typeface="Hanken Grotesk"/>
                <a:ea typeface="Hanken Grotesk"/>
                <a:cs typeface="Hanken Grotesk"/>
                <a:hlinkClick xmlns:r="http://schemas.openxmlformats.org/officeDocument/2006/relationships" r:id="Ra89a2ed5d8d44a87"/>
              </a:rPr>
              <a:t>sjarmak.ai/books/engineering-reliable-coding-agents</a:t>
            </a:r>
          </a:p>
        </p:txBody>
      </p:sp>
      <p:sp>
        <p:nvSpPr>
          <p:cNvPr id="16" name="arxiv.org/abs/2608.13867">
            <a:extLst xmlns:a="http://schemas.openxmlformats.org/drawingml/2006/main">
              <a:ext uri="{FF2B5EF4-FFF2-40B4-BE49-F238E27FC236}">
                <a16:creationId xmlns:a16="http://schemas.microsoft.com/office/drawing/2014/main" id="{629B59A2-0945-4663-A9CB-A3709B3DE58C}"/>
              </a:ext>
            </a:extLst>
          </p:cNvPr>
          <p:cNvSpPr>
            <a:spLocks xmlns:a="http://schemas.openxmlformats.org/drawingml/2006/main" noGrp="1"/>
          </p:cNvSpPr>
          <p:nvPr/>
        </p:nvSpPr>
        <p:spPr>
          <a:xfrm xmlns:a="http://schemas.openxmlformats.org/drawingml/2006/main">
            <a:off x="4953000" y="62103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C75E00"/>
                </a:solidFill>
                <a:latin typeface="Hanken Grotesk"/>
                <a:ea typeface="Hanken Grotesk"/>
                <a:cs typeface="Hanken Grotesk"/>
              </a:defRPr>
            </a:defPPr>
          </a:lstStyle>
          <a:p xmlns:a="http://schemas.openxmlformats.org/drawingml/2006/main">
            <a:pPr algn="l">
              <a:lnSpc>
                <a:spcPct val="110000"/>
              </a:lnSpc>
              <a:buNone/>
              <a:defRPr sz="1650" b="0">
                <a:solidFill>
                  <a:srgbClr val="C75E00"/>
                </a:solidFill>
                <a:latin typeface="Hanken Grotesk"/>
                <a:ea typeface="Hanken Grotesk"/>
                <a:cs typeface="Hanken Grotesk"/>
              </a:defRPr>
            </a:pPr>
            <a:r>
              <a:rPr sz="1650" b="0">
                <a:solidFill>
                  <a:srgbClr val="C75E00"/>
                </a:solidFill>
                <a:latin typeface="Hanken Grotesk"/>
                <a:ea typeface="Hanken Grotesk"/>
                <a:cs typeface="Hanken Grotesk"/>
                <a:hlinkClick xmlns:r="http://schemas.openxmlformats.org/officeDocument/2006/relationships" r:id="R48123f1f09b64c26"/>
              </a:rPr>
              <a:t>arxiv.org/abs/2608.13867</a:t>
            </a:r>
          </a:p>
        </p:txBody>
      </p:sp>
    </p:spTree>
    <p:extLst>
      <p:ext uri="{BB962C8B-B14F-4D97-AF65-F5344CB8AC3E}">
        <p14:creationId xmlns:p14="http://schemas.microsoft.com/office/powerpoint/2010/main" val="749971589"/>
      </p:ext>
    </p:extLst>
  </p:cSld>
</p:sld>
</file>

<file path=ppt/theme/theme1.xml><?xml version="1.0" encoding="utf-8"?>
<a:theme xmlns:a="http://schemas.openxmlformats.org/drawingml/2006/main" name="ChatGPT">
  <a:themeElements>
    <a:clrScheme name="sjarmak.ai paper and orange">
      <a:dk1>
        <a:srgbClr val="241B13"/>
      </a:dk1>
      <a:lt1>
        <a:srgbClr val="F7F3EB"/>
      </a:lt1>
      <a:dk2>
        <a:srgbClr val="4A4039"/>
      </a:dk2>
      <a:lt2>
        <a:srgbClr val="FDFAF4"/>
      </a:lt2>
      <a:accent1>
        <a:srgbClr val="C75E00"/>
      </a:accent1>
      <a:accent2>
        <a:srgbClr val="4A4039"/>
      </a:accent2>
      <a:accent3>
        <a:srgbClr val="657B67"/>
      </a:accent3>
      <a:accent4>
        <a:srgbClr val="766D62"/>
      </a:accent4>
      <a:accent5>
        <a:srgbClr val="EBE6DC"/>
      </a:accent5>
      <a:accent6>
        <a:srgbClr val="DDD7CC"/>
      </a:accent6>
      <a:hlink>
        <a:srgbClr val="C75E00"/>
      </a:hlink>
      <a:folHlink>
        <a:srgbClr val="C75E00"/>
      </a:folHlink>
    </a:clrScheme>
    <a:fontScheme name="">
      <a:majorFont>
        <a:latin typeface="Hanken Grotesk"/>
        <a:ea typeface=""/>
        <a:cs typeface=""/>
      </a:majorFont>
      <a:minorFont>
        <a:latin typeface="Hanken Grotesk"/>
        <a:ea typeface=""/>
        <a:cs typeface=""/>
      </a:minorFont>
    </a:fontScheme>
    <a:fmtScheme name="sjarmak.ai paper and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2026-10-12T18:49:47.1480000Z</dcterms:created>
  <dcterms:modified xsi:type="dcterms:W3CDTF">2026-10-12T18:49:47.1480000Z</dcterms:modified>
</coreProperties>
</file>